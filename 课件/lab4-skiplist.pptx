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5" r:id="rId15"/>
    <p:sldId id="302" r:id="rId16"/>
    <p:sldId id="303" r:id="rId17"/>
    <p:sldId id="30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160"/>
        <p:guide pos="375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457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109728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4000500"/>
            <a:ext cx="109728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hyperlink" Target="http://www.cs.umd.edu/~pugh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://thudsa.3322.org/~deng/ds/demo/bst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跳表</a:t>
            </a:r>
            <a:r>
              <a:rPr lang="zh-CN" altLang="en-US"/>
              <a:t> 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skiplist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2371725" y="332740"/>
            <a:ext cx="5593080" cy="86995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动机与思路</a:t>
            </a:r>
            <a:endParaRPr lang="zh-CN" altLang="en-US" smtClean="0">
              <a:sym typeface="+mn-ea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可否高效地实现词典接口？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具体地，如何使得各接口的效率均为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(logn)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William Pugh, 1989</a:t>
            </a:r>
            <a:b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b="1" i="1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Skip Lists: A Probabilistic Alternative to Balanced Trees</a:t>
            </a:r>
            <a:br>
              <a:rPr kumimoji="0" lang="en-US" altLang="zh-CN" sz="1800" b="1" i="1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Proc. Workshop on Algorithms and Data Structures, 437-449</a:t>
            </a:r>
            <a:b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Skip lists are data structures that use</a:t>
            </a:r>
            <a:b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probabilistic 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balancing rather than</a:t>
            </a:r>
            <a:b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strictly 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enforced balancing</a:t>
            </a:r>
            <a:b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Algorithms for insertion and deletion in skip lists</a:t>
            </a:r>
            <a:b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are much 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simpler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and significantly 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faster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than</a:t>
            </a:r>
            <a:b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equivalent algorithms for balanced trees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4" descr="bill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950" y="765175"/>
            <a:ext cx="1181100" cy="1571625"/>
          </a:xfrm>
          <a:prstGeom prst="rect">
            <a:avLst/>
          </a:prstGeom>
          <a:noFill/>
          <a:ln w="57150" cap="flat" cmpd="thickThin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AutoShape 2"/>
          <p:cNvSpPr>
            <a:spLocks noGrp="1" noChangeArrowheads="1"/>
          </p:cNvSpPr>
          <p:nvPr>
            <p:ph type="title"/>
          </p:nvPr>
        </p:nvSpPr>
        <p:spPr>
          <a:xfrm>
            <a:off x="2371725" y="332740"/>
            <a:ext cx="4161155" cy="96266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结构：设计</a:t>
            </a:r>
            <a:endParaRPr lang="zh-CN" altLang="en-US" smtClean="0">
              <a:sym typeface="+mn-ea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2873375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分层次、相互耦合的多个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/>
              </a:rPr>
              <a:t>列表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..., 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层高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h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120CE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2873375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称作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顶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层（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top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底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层（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bottom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2873375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各节点至多拥有四个指针</a:t>
            </a:r>
            <a:br>
              <a:rPr kumimoji="0" lang="en-US" altLang="zh-CN" sz="2000" b="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横向为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层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level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）：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prev()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next()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设有头、尾哨兵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纵向成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塔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tower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）：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above()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below()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439" name="AutoShape 223"/>
          <p:cNvSpPr/>
          <p:nvPr/>
        </p:nvSpPr>
        <p:spPr>
          <a:xfrm>
            <a:off x="4175125" y="5372100"/>
            <a:ext cx="434975" cy="8651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40" name="AutoShape 224"/>
          <p:cNvSpPr/>
          <p:nvPr/>
        </p:nvSpPr>
        <p:spPr>
          <a:xfrm>
            <a:off x="4764088" y="5805488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41" name="AutoShape 225"/>
          <p:cNvSpPr/>
          <p:nvPr/>
        </p:nvSpPr>
        <p:spPr>
          <a:xfrm>
            <a:off x="5354638" y="5805488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42" name="AutoShape 226"/>
          <p:cNvSpPr/>
          <p:nvPr/>
        </p:nvSpPr>
        <p:spPr>
          <a:xfrm>
            <a:off x="6532563" y="5805488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43" name="AutoShape 227"/>
          <p:cNvSpPr/>
          <p:nvPr/>
        </p:nvSpPr>
        <p:spPr>
          <a:xfrm>
            <a:off x="7121525" y="5805488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44" name="AutoShape 228"/>
          <p:cNvSpPr/>
          <p:nvPr/>
        </p:nvSpPr>
        <p:spPr>
          <a:xfrm>
            <a:off x="8301038" y="5805488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45" name="AutoShape 229"/>
          <p:cNvSpPr/>
          <p:nvPr/>
        </p:nvSpPr>
        <p:spPr>
          <a:xfrm>
            <a:off x="7712075" y="4940300"/>
            <a:ext cx="434975" cy="12969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46" name="AutoShape 230"/>
          <p:cNvSpPr/>
          <p:nvPr/>
        </p:nvSpPr>
        <p:spPr>
          <a:xfrm>
            <a:off x="5943600" y="4508500"/>
            <a:ext cx="434975" cy="17287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47" name="AutoShape 231"/>
          <p:cNvSpPr/>
          <p:nvPr/>
        </p:nvSpPr>
        <p:spPr>
          <a:xfrm>
            <a:off x="3586163" y="5805488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48" name="AutoShape 232"/>
          <p:cNvSpPr/>
          <p:nvPr/>
        </p:nvSpPr>
        <p:spPr>
          <a:xfrm>
            <a:off x="8890000" y="5372100"/>
            <a:ext cx="434975" cy="8651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49" name="AutoShape 233"/>
          <p:cNvSpPr/>
          <p:nvPr/>
        </p:nvSpPr>
        <p:spPr>
          <a:xfrm>
            <a:off x="9480550" y="4076700"/>
            <a:ext cx="434975" cy="21605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50" name="AutoShape 234"/>
          <p:cNvSpPr/>
          <p:nvPr/>
        </p:nvSpPr>
        <p:spPr>
          <a:xfrm>
            <a:off x="2997200" y="4076700"/>
            <a:ext cx="434975" cy="21605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51" name="AutoShape 235"/>
          <p:cNvSpPr/>
          <p:nvPr/>
        </p:nvSpPr>
        <p:spPr>
          <a:xfrm>
            <a:off x="4249738" y="59118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52" name="AutoShape 236"/>
          <p:cNvCxnSpPr>
            <a:stCxn id="9451" idx="3"/>
            <a:endCxn id="9453" idx="1"/>
          </p:cNvCxnSpPr>
          <p:nvPr/>
        </p:nvCxnSpPr>
        <p:spPr>
          <a:xfrm>
            <a:off x="4548188" y="6019800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53" name="AutoShape 237"/>
          <p:cNvSpPr/>
          <p:nvPr/>
        </p:nvSpPr>
        <p:spPr>
          <a:xfrm>
            <a:off x="4838700" y="59118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54" name="AutoShape 238"/>
          <p:cNvCxnSpPr>
            <a:stCxn id="9453" idx="3"/>
            <a:endCxn id="9455" idx="1"/>
          </p:cNvCxnSpPr>
          <p:nvPr/>
        </p:nvCxnSpPr>
        <p:spPr>
          <a:xfrm>
            <a:off x="5137150" y="6019800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55" name="AutoShape 239"/>
          <p:cNvSpPr/>
          <p:nvPr/>
        </p:nvSpPr>
        <p:spPr>
          <a:xfrm>
            <a:off x="5427663" y="59118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56" name="AutoShape 240"/>
          <p:cNvCxnSpPr>
            <a:stCxn id="9455" idx="3"/>
            <a:endCxn id="9457" idx="1"/>
          </p:cNvCxnSpPr>
          <p:nvPr/>
        </p:nvCxnSpPr>
        <p:spPr>
          <a:xfrm>
            <a:off x="5726113" y="6019800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57" name="AutoShape 241"/>
          <p:cNvSpPr/>
          <p:nvPr/>
        </p:nvSpPr>
        <p:spPr>
          <a:xfrm>
            <a:off x="6016625" y="59118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58" name="AutoShape 242"/>
          <p:cNvCxnSpPr>
            <a:stCxn id="9457" idx="3"/>
            <a:endCxn id="9459" idx="1"/>
          </p:cNvCxnSpPr>
          <p:nvPr/>
        </p:nvCxnSpPr>
        <p:spPr>
          <a:xfrm>
            <a:off x="6315075" y="6019800"/>
            <a:ext cx="280988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59" name="AutoShape 243"/>
          <p:cNvSpPr/>
          <p:nvPr/>
        </p:nvSpPr>
        <p:spPr>
          <a:xfrm>
            <a:off x="6607175" y="59118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60" name="AutoShape 244"/>
          <p:cNvCxnSpPr>
            <a:stCxn id="9459" idx="3"/>
            <a:endCxn id="9461" idx="1"/>
          </p:cNvCxnSpPr>
          <p:nvPr/>
        </p:nvCxnSpPr>
        <p:spPr>
          <a:xfrm>
            <a:off x="6905625" y="6019800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61" name="AutoShape 245"/>
          <p:cNvSpPr/>
          <p:nvPr/>
        </p:nvSpPr>
        <p:spPr>
          <a:xfrm>
            <a:off x="7196138" y="59118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62" name="AutoShape 246"/>
          <p:cNvCxnSpPr>
            <a:stCxn id="9461" idx="3"/>
            <a:endCxn id="9463" idx="1"/>
          </p:cNvCxnSpPr>
          <p:nvPr/>
        </p:nvCxnSpPr>
        <p:spPr>
          <a:xfrm>
            <a:off x="7494588" y="6019800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63" name="AutoShape 247"/>
          <p:cNvSpPr/>
          <p:nvPr/>
        </p:nvSpPr>
        <p:spPr>
          <a:xfrm>
            <a:off x="7785100" y="59118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64" name="AutoShape 248"/>
          <p:cNvCxnSpPr>
            <a:stCxn id="9463" idx="3"/>
            <a:endCxn id="9465" idx="1"/>
          </p:cNvCxnSpPr>
          <p:nvPr/>
        </p:nvCxnSpPr>
        <p:spPr>
          <a:xfrm>
            <a:off x="8083550" y="6019800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65" name="AutoShape 249"/>
          <p:cNvSpPr/>
          <p:nvPr/>
        </p:nvSpPr>
        <p:spPr>
          <a:xfrm>
            <a:off x="8374063" y="59118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66" name="AutoShape 250"/>
          <p:cNvCxnSpPr>
            <a:stCxn id="9472" idx="3"/>
            <a:endCxn id="9467" idx="1"/>
          </p:cNvCxnSpPr>
          <p:nvPr/>
        </p:nvCxnSpPr>
        <p:spPr>
          <a:xfrm>
            <a:off x="9261475" y="6019800"/>
            <a:ext cx="280988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67" name="AutoShape 251"/>
          <p:cNvSpPr/>
          <p:nvPr/>
        </p:nvSpPr>
        <p:spPr>
          <a:xfrm>
            <a:off x="9553575" y="59118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68" name="AutoShape 252"/>
          <p:cNvSpPr/>
          <p:nvPr/>
        </p:nvSpPr>
        <p:spPr>
          <a:xfrm>
            <a:off x="3071813" y="59118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9469" name="AutoShape 253"/>
          <p:cNvCxnSpPr>
            <a:stCxn id="9468" idx="3"/>
            <a:endCxn id="9473" idx="1"/>
          </p:cNvCxnSpPr>
          <p:nvPr/>
        </p:nvCxnSpPr>
        <p:spPr>
          <a:xfrm>
            <a:off x="3370263" y="6019800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70" name="AutoShape 254"/>
          <p:cNvSpPr/>
          <p:nvPr/>
        </p:nvSpPr>
        <p:spPr>
          <a:xfrm>
            <a:off x="2279650" y="5876925"/>
            <a:ext cx="431800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S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9471" name="AutoShape 255"/>
          <p:cNvCxnSpPr>
            <a:stCxn id="9465" idx="3"/>
            <a:endCxn id="9472" idx="1"/>
          </p:cNvCxnSpPr>
          <p:nvPr/>
        </p:nvCxnSpPr>
        <p:spPr>
          <a:xfrm>
            <a:off x="8672513" y="6019800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72" name="AutoShape 256"/>
          <p:cNvSpPr/>
          <p:nvPr/>
        </p:nvSpPr>
        <p:spPr>
          <a:xfrm>
            <a:off x="8963025" y="59118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473" name="AutoShape 257"/>
          <p:cNvSpPr/>
          <p:nvPr/>
        </p:nvSpPr>
        <p:spPr>
          <a:xfrm>
            <a:off x="3660775" y="59118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74" name="AutoShape 258"/>
          <p:cNvCxnSpPr>
            <a:stCxn id="9473" idx="3"/>
            <a:endCxn id="9451" idx="1"/>
          </p:cNvCxnSpPr>
          <p:nvPr/>
        </p:nvCxnSpPr>
        <p:spPr>
          <a:xfrm>
            <a:off x="3959225" y="6019800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75" name="AutoShape 259"/>
          <p:cNvSpPr/>
          <p:nvPr/>
        </p:nvSpPr>
        <p:spPr>
          <a:xfrm>
            <a:off x="4249738" y="54800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76" name="AutoShape 260"/>
          <p:cNvCxnSpPr>
            <a:stCxn id="9475" idx="3"/>
            <a:endCxn id="9477" idx="1"/>
          </p:cNvCxnSpPr>
          <p:nvPr/>
        </p:nvCxnSpPr>
        <p:spPr>
          <a:xfrm>
            <a:off x="4548188" y="5588000"/>
            <a:ext cx="1457325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77" name="AutoShape 261"/>
          <p:cNvSpPr/>
          <p:nvPr/>
        </p:nvSpPr>
        <p:spPr>
          <a:xfrm>
            <a:off x="6016625" y="54800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78" name="AutoShape 262"/>
          <p:cNvCxnSpPr>
            <a:stCxn id="9477" idx="3"/>
            <a:endCxn id="9479" idx="1"/>
          </p:cNvCxnSpPr>
          <p:nvPr/>
        </p:nvCxnSpPr>
        <p:spPr>
          <a:xfrm>
            <a:off x="6315075" y="5588000"/>
            <a:ext cx="1458913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79" name="AutoShape 263"/>
          <p:cNvSpPr/>
          <p:nvPr/>
        </p:nvSpPr>
        <p:spPr>
          <a:xfrm>
            <a:off x="7785100" y="54800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80" name="AutoShape 264"/>
          <p:cNvCxnSpPr>
            <a:stCxn id="9486" idx="3"/>
            <a:endCxn id="9481" idx="1"/>
          </p:cNvCxnSpPr>
          <p:nvPr/>
        </p:nvCxnSpPr>
        <p:spPr>
          <a:xfrm>
            <a:off x="9261475" y="5588000"/>
            <a:ext cx="280988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81" name="AutoShape 265"/>
          <p:cNvSpPr/>
          <p:nvPr/>
        </p:nvSpPr>
        <p:spPr>
          <a:xfrm>
            <a:off x="9553575" y="54800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82" name="AutoShape 266"/>
          <p:cNvSpPr/>
          <p:nvPr/>
        </p:nvSpPr>
        <p:spPr>
          <a:xfrm>
            <a:off x="3071813" y="54800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9483" name="AutoShape 267"/>
          <p:cNvCxnSpPr>
            <a:stCxn id="9482" idx="3"/>
            <a:endCxn id="9475" idx="1"/>
          </p:cNvCxnSpPr>
          <p:nvPr/>
        </p:nvCxnSpPr>
        <p:spPr>
          <a:xfrm>
            <a:off x="3370263" y="5588000"/>
            <a:ext cx="868362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84" name="AutoShape 268"/>
          <p:cNvSpPr/>
          <p:nvPr/>
        </p:nvSpPr>
        <p:spPr>
          <a:xfrm>
            <a:off x="2279650" y="5445125"/>
            <a:ext cx="431800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S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9485" name="AutoShape 269"/>
          <p:cNvCxnSpPr>
            <a:stCxn id="9479" idx="3"/>
            <a:endCxn id="9486" idx="1"/>
          </p:cNvCxnSpPr>
          <p:nvPr/>
        </p:nvCxnSpPr>
        <p:spPr>
          <a:xfrm>
            <a:off x="8083550" y="5588000"/>
            <a:ext cx="868363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86" name="AutoShape 270"/>
          <p:cNvSpPr/>
          <p:nvPr/>
        </p:nvSpPr>
        <p:spPr>
          <a:xfrm>
            <a:off x="8963025" y="54800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487" name="AutoShape 271"/>
          <p:cNvSpPr/>
          <p:nvPr/>
        </p:nvSpPr>
        <p:spPr>
          <a:xfrm>
            <a:off x="6024563" y="50482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88" name="AutoShape 272"/>
          <p:cNvCxnSpPr>
            <a:stCxn id="9487" idx="3"/>
            <a:endCxn id="9489" idx="1"/>
          </p:cNvCxnSpPr>
          <p:nvPr/>
        </p:nvCxnSpPr>
        <p:spPr>
          <a:xfrm>
            <a:off x="6323013" y="5156200"/>
            <a:ext cx="1450975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89" name="AutoShape 273"/>
          <p:cNvSpPr/>
          <p:nvPr/>
        </p:nvSpPr>
        <p:spPr>
          <a:xfrm>
            <a:off x="7785100" y="50482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490" name="AutoShape 274"/>
          <p:cNvSpPr/>
          <p:nvPr/>
        </p:nvSpPr>
        <p:spPr>
          <a:xfrm>
            <a:off x="9553575" y="50482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91" name="AutoShape 275"/>
          <p:cNvSpPr/>
          <p:nvPr/>
        </p:nvSpPr>
        <p:spPr>
          <a:xfrm>
            <a:off x="3071813" y="50482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9492" name="AutoShape 276"/>
          <p:cNvCxnSpPr>
            <a:stCxn id="9491" idx="3"/>
            <a:endCxn id="9487" idx="1"/>
          </p:cNvCxnSpPr>
          <p:nvPr/>
        </p:nvCxnSpPr>
        <p:spPr>
          <a:xfrm>
            <a:off x="3370263" y="5156200"/>
            <a:ext cx="2643187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93" name="AutoShape 277"/>
          <p:cNvSpPr/>
          <p:nvPr/>
        </p:nvSpPr>
        <p:spPr>
          <a:xfrm>
            <a:off x="2279650" y="5013325"/>
            <a:ext cx="431800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S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9494" name="AutoShape 278"/>
          <p:cNvCxnSpPr>
            <a:stCxn id="9489" idx="3"/>
            <a:endCxn id="9490" idx="1"/>
          </p:cNvCxnSpPr>
          <p:nvPr/>
        </p:nvCxnSpPr>
        <p:spPr>
          <a:xfrm>
            <a:off x="8083550" y="5156200"/>
            <a:ext cx="1458913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95" name="AutoShape 279"/>
          <p:cNvSpPr/>
          <p:nvPr/>
        </p:nvSpPr>
        <p:spPr>
          <a:xfrm>
            <a:off x="6024563" y="46164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496" name="AutoShape 280"/>
          <p:cNvCxnSpPr>
            <a:stCxn id="9495" idx="3"/>
            <a:endCxn id="9497" idx="1"/>
          </p:cNvCxnSpPr>
          <p:nvPr/>
        </p:nvCxnSpPr>
        <p:spPr>
          <a:xfrm>
            <a:off x="6323013" y="4724400"/>
            <a:ext cx="321945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97" name="AutoShape 281"/>
          <p:cNvSpPr/>
          <p:nvPr/>
        </p:nvSpPr>
        <p:spPr>
          <a:xfrm>
            <a:off x="9553575" y="46164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498" name="AutoShape 282"/>
          <p:cNvSpPr/>
          <p:nvPr/>
        </p:nvSpPr>
        <p:spPr>
          <a:xfrm>
            <a:off x="3071813" y="46164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9499" name="AutoShape 283"/>
          <p:cNvCxnSpPr>
            <a:stCxn id="9498" idx="3"/>
            <a:endCxn id="9495" idx="1"/>
          </p:cNvCxnSpPr>
          <p:nvPr/>
        </p:nvCxnSpPr>
        <p:spPr>
          <a:xfrm>
            <a:off x="3370263" y="4724400"/>
            <a:ext cx="2643187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00" name="AutoShape 284"/>
          <p:cNvSpPr/>
          <p:nvPr/>
        </p:nvSpPr>
        <p:spPr>
          <a:xfrm>
            <a:off x="2279650" y="4581525"/>
            <a:ext cx="431800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S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501" name="AutoShape 285"/>
          <p:cNvSpPr/>
          <p:nvPr/>
        </p:nvSpPr>
        <p:spPr>
          <a:xfrm>
            <a:off x="9553575" y="4184650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502" name="AutoShape 286"/>
          <p:cNvSpPr/>
          <p:nvPr/>
        </p:nvSpPr>
        <p:spPr>
          <a:xfrm>
            <a:off x="3071813" y="4184650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9503" name="AutoShape 287"/>
          <p:cNvCxnSpPr>
            <a:stCxn id="9502" idx="3"/>
            <a:endCxn id="9501" idx="1"/>
          </p:cNvCxnSpPr>
          <p:nvPr/>
        </p:nvCxnSpPr>
        <p:spPr>
          <a:xfrm>
            <a:off x="3370263" y="4292600"/>
            <a:ext cx="61722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04" name="AutoShape 288"/>
          <p:cNvSpPr/>
          <p:nvPr/>
        </p:nvSpPr>
        <p:spPr>
          <a:xfrm>
            <a:off x="2279650" y="4149725"/>
            <a:ext cx="431800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S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9505" name="AutoShape 289"/>
          <p:cNvCxnSpPr>
            <a:stCxn id="9475" idx="2"/>
            <a:endCxn id="9451" idx="0"/>
          </p:cNvCxnSpPr>
          <p:nvPr/>
        </p:nvCxnSpPr>
        <p:spPr>
          <a:xfrm>
            <a:off x="4394200" y="57070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06" name="AutoShape 290"/>
          <p:cNvCxnSpPr>
            <a:stCxn id="9477" idx="2"/>
            <a:endCxn id="9457" idx="0"/>
          </p:cNvCxnSpPr>
          <p:nvPr/>
        </p:nvCxnSpPr>
        <p:spPr>
          <a:xfrm>
            <a:off x="6161088" y="57070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07" name="AutoShape 291"/>
          <p:cNvCxnSpPr>
            <a:stCxn id="9487" idx="2"/>
            <a:endCxn id="9477" idx="0"/>
          </p:cNvCxnSpPr>
          <p:nvPr/>
        </p:nvCxnSpPr>
        <p:spPr>
          <a:xfrm flipH="1">
            <a:off x="6161088" y="5275263"/>
            <a:ext cx="7937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08" name="AutoShape 292"/>
          <p:cNvCxnSpPr>
            <a:stCxn id="9495" idx="2"/>
            <a:endCxn id="9487" idx="0"/>
          </p:cNvCxnSpPr>
          <p:nvPr/>
        </p:nvCxnSpPr>
        <p:spPr>
          <a:xfrm>
            <a:off x="6169025" y="48434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09" name="AutoShape 293"/>
          <p:cNvCxnSpPr>
            <a:stCxn id="9479" idx="2"/>
            <a:endCxn id="9463" idx="0"/>
          </p:cNvCxnSpPr>
          <p:nvPr/>
        </p:nvCxnSpPr>
        <p:spPr>
          <a:xfrm>
            <a:off x="7929563" y="57070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0" name="AutoShape 294"/>
          <p:cNvCxnSpPr>
            <a:stCxn id="9489" idx="2"/>
            <a:endCxn id="9479" idx="0"/>
          </p:cNvCxnSpPr>
          <p:nvPr/>
        </p:nvCxnSpPr>
        <p:spPr>
          <a:xfrm>
            <a:off x="7929563" y="52752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1" name="AutoShape 295"/>
          <p:cNvCxnSpPr>
            <a:stCxn id="9486" idx="2"/>
            <a:endCxn id="9472" idx="0"/>
          </p:cNvCxnSpPr>
          <p:nvPr/>
        </p:nvCxnSpPr>
        <p:spPr>
          <a:xfrm>
            <a:off x="9107488" y="57070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2" name="AutoShape 296"/>
          <p:cNvCxnSpPr>
            <a:stCxn id="9502" idx="2"/>
            <a:endCxn id="9498" idx="0"/>
          </p:cNvCxnSpPr>
          <p:nvPr/>
        </p:nvCxnSpPr>
        <p:spPr>
          <a:xfrm>
            <a:off x="3216275" y="44116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3" name="AutoShape 297"/>
          <p:cNvCxnSpPr>
            <a:stCxn id="9498" idx="2"/>
            <a:endCxn id="9491" idx="0"/>
          </p:cNvCxnSpPr>
          <p:nvPr/>
        </p:nvCxnSpPr>
        <p:spPr>
          <a:xfrm>
            <a:off x="3216275" y="48434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4" name="AutoShape 298"/>
          <p:cNvCxnSpPr>
            <a:stCxn id="9491" idx="2"/>
            <a:endCxn id="9482" idx="0"/>
          </p:cNvCxnSpPr>
          <p:nvPr/>
        </p:nvCxnSpPr>
        <p:spPr>
          <a:xfrm>
            <a:off x="3216275" y="52752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5" name="AutoShape 299"/>
          <p:cNvCxnSpPr>
            <a:stCxn id="9482" idx="2"/>
            <a:endCxn id="9468" idx="0"/>
          </p:cNvCxnSpPr>
          <p:nvPr/>
        </p:nvCxnSpPr>
        <p:spPr>
          <a:xfrm>
            <a:off x="3216275" y="57070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6" name="AutoShape 300"/>
          <p:cNvCxnSpPr>
            <a:stCxn id="9501" idx="2"/>
            <a:endCxn id="9497" idx="0"/>
          </p:cNvCxnSpPr>
          <p:nvPr/>
        </p:nvCxnSpPr>
        <p:spPr>
          <a:xfrm>
            <a:off x="9698038" y="44116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7" name="AutoShape 301"/>
          <p:cNvCxnSpPr>
            <a:stCxn id="9497" idx="2"/>
            <a:endCxn id="9490" idx="0"/>
          </p:cNvCxnSpPr>
          <p:nvPr/>
        </p:nvCxnSpPr>
        <p:spPr>
          <a:xfrm>
            <a:off x="9698038" y="48434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8" name="AutoShape 302"/>
          <p:cNvCxnSpPr>
            <a:stCxn id="9490" idx="2"/>
            <a:endCxn id="9481" idx="0"/>
          </p:cNvCxnSpPr>
          <p:nvPr/>
        </p:nvCxnSpPr>
        <p:spPr>
          <a:xfrm>
            <a:off x="9698038" y="52752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19" name="AutoShape 303"/>
          <p:cNvCxnSpPr>
            <a:stCxn id="9481" idx="2"/>
            <a:endCxn id="9467" idx="0"/>
          </p:cNvCxnSpPr>
          <p:nvPr/>
        </p:nvCxnSpPr>
        <p:spPr>
          <a:xfrm>
            <a:off x="9698038" y="5707063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1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300" fill="hold"/>
                                        <p:tgtEl>
                                          <p:spTgt spid="9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9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2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300" fill="hold"/>
                                        <p:tgtEl>
                                          <p:spTgt spid="9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3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9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9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9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9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300" fill="hold"/>
                                        <p:tgtEl>
                                          <p:spTgt spid="9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5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9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9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6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9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9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9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300" fill="hold"/>
                                        <p:tgtEl>
                                          <p:spTgt spid="9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8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9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94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94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94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4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9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0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9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9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300" fill="hold"/>
                                        <p:tgtEl>
                                          <p:spTgt spid="9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1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9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9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3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9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4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9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94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94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94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94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5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6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9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300" fill="hold"/>
                                        <p:tgtEl>
                                          <p:spTgt spid="94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4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4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94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7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9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9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9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8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9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9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6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9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0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9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9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1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9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9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2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4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4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4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94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3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9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4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9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4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4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4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" dur="300" fill="hold"/>
                                        <p:tgtEl>
                                          <p:spTgt spid="94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5"/>
                  </p:tgtEl>
                </p:cond>
              </p:nextCondLst>
            </p:seq>
            <p:seq concurrent="1" nextAc="seek">
              <p:cTn id="234" restart="whenNotActive" fill="hold" evtFilter="cancelBubble" nodeType="interactiveSeq">
                <p:stCondLst>
                  <p:cond evt="onClick" delay="0">
                    <p:tgtEl>
                      <p:spTgt spid="9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5" fill="hold">
                      <p:stCondLst>
                        <p:cond delay="0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9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6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9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94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4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94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94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7"/>
                  </p:tgtEl>
                </p:cond>
              </p:nextCondLst>
            </p:seq>
            <p:seq concurrent="1" nextAc="seek">
              <p:cTn id="253" restart="whenNotActive" fill="hold" evtFilter="cancelBubble" nodeType="interactiveSeq">
                <p:stCondLst>
                  <p:cond evt="onClick" delay="0">
                    <p:tgtEl>
                      <p:spTgt spid="9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9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500"/>
                            </p:stCondLst>
                            <p:childTnLst>
                              <p:par>
                                <p:cTn id="2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8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9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9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1" dur="300" fill="hold"/>
                                        <p:tgtEl>
                                          <p:spTgt spid="9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79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500"/>
                            </p:stCondLst>
                            <p:childTnLst>
                              <p:par>
                                <p:cTn id="2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80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9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9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81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9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9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300" fill="hold"/>
                                        <p:tgtEl>
                                          <p:spTgt spid="9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82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9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9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9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500"/>
                            </p:stCondLst>
                            <p:childTnLst>
                              <p:par>
                                <p:cTn id="3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83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9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9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84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9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9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85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9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4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4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4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9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86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9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9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9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9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87"/>
                  </p:tgtEl>
                </p:cond>
              </p:nextCondLst>
            </p:seq>
            <p:seq concurrent="1" nextAc="seek">
              <p:cTn id="343" restart="whenNotActive" fill="hold" evtFilter="cancelBubble" nodeType="interactiveSeq">
                <p:stCondLst>
                  <p:cond evt="onClick" delay="0">
                    <p:tgtEl>
                      <p:spTgt spid="9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9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9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00"/>
                            </p:stCondLst>
                            <p:childTnLst>
                              <p:par>
                                <p:cTn id="3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2" dur="500"/>
                                        <p:tgtEl>
                                          <p:spTgt spid="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88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9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89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300" fill="hold"/>
                                        <p:tgtEl>
                                          <p:spTgt spid="9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0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9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9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9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1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9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9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500"/>
                            </p:stCondLst>
                            <p:childTnLst>
                              <p:par>
                                <p:cTn id="3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9" dur="500"/>
                                        <p:tgtEl>
                                          <p:spTgt spid="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2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9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94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3"/>
                  </p:tgtEl>
                </p:cond>
              </p:nextCondLst>
            </p:seq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9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9" dur="300" fill="hold"/>
                                        <p:tgtEl>
                                          <p:spTgt spid="9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0" dur="300" fill="hold"/>
                                        <p:tgtEl>
                                          <p:spTgt spid="9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500"/>
                            </p:stCondLst>
                            <p:childTnLst>
                              <p:par>
                                <p:cTn id="4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4" dur="500"/>
                                        <p:tgtEl>
                                          <p:spTgt spid="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4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9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9" dur="300" fill="hold"/>
                                        <p:tgtEl>
                                          <p:spTgt spid="9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9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9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3" dur="300" fill="hold"/>
                                        <p:tgtEl>
                                          <p:spTgt spid="94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5"/>
                  </p:tgtEl>
                </p:cond>
              </p:nextCondLst>
            </p:seq>
            <p:seq concurrent="1" nextAc="seek">
              <p:cTn id="414" restart="whenNotActive" fill="hold" evtFilter="cancelBubble" nodeType="interactiveSeq">
                <p:stCondLst>
                  <p:cond evt="onClick" delay="0">
                    <p:tgtEl>
                      <p:spTgt spid="9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5" fill="hold">
                      <p:stCondLst>
                        <p:cond delay="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9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9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500"/>
                            </p:stCondLst>
                            <p:childTnLst>
                              <p:par>
                                <p:cTn id="4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3" dur="500"/>
                                        <p:tgtEl>
                                          <p:spTgt spid="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6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4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4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94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9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7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9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94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94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4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4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8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9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300" fill="hold"/>
                                        <p:tgtEl>
                                          <p:spTgt spid="9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9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500"/>
                            </p:stCondLst>
                            <p:childTnLst>
                              <p:par>
                                <p:cTn id="4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1" dur="500"/>
                                        <p:tgtEl>
                                          <p:spTgt spid="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99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6" dur="300" fill="hold"/>
                                        <p:tgtEl>
                                          <p:spTgt spid="95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0"/>
                  </p:tgtEl>
                </p:cond>
              </p:nextCondLst>
            </p:seq>
            <p:seq concurrent="1" nextAc="seek">
              <p:cTn id="457" restart="whenNotActive" fill="hold" evtFilter="cancelBubble" nodeType="interactiveSeq">
                <p:stCondLst>
                  <p:cond evt="onClick" delay="0">
                    <p:tgtEl>
                      <p:spTgt spid="9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9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9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5" dur="300" fill="hold"/>
                                        <p:tgtEl>
                                          <p:spTgt spid="9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1"/>
                  </p:tgtEl>
                </p:cond>
              </p:nextCondLst>
            </p:seq>
            <p:seq concurrent="1" nextAc="seek">
              <p:cTn id="466" restart="whenNotActive" fill="hold" evtFilter="cancelBubble" nodeType="interactiveSeq">
                <p:stCondLst>
                  <p:cond evt="onClick" delay="0">
                    <p:tgtEl>
                      <p:spTgt spid="9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9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9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2" dur="300" fill="hold"/>
                                        <p:tgtEl>
                                          <p:spTgt spid="9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9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2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9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300" fill="hold"/>
                                        <p:tgtEl>
                                          <p:spTgt spid="9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9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1" fill="hold">
                            <p:stCondLst>
                              <p:cond delay="500"/>
                            </p:stCondLst>
                            <p:childTnLst>
                              <p:par>
                                <p:cTn id="4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4" dur="500"/>
                                        <p:tgtEl>
                                          <p:spTgt spid="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3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95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9" dur="300" fill="hold"/>
                                        <p:tgtEl>
                                          <p:spTgt spid="95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4"/>
                  </p:tgtEl>
                </p:cond>
              </p:nextCondLst>
            </p:seq>
            <p:seq concurrent="1" nextAc="seek">
              <p:cTn id="490" restart="whenNotActive" fill="hold" evtFilter="cancelBubble" nodeType="interactiveSeq">
                <p:stCondLst>
                  <p:cond evt="onClick" delay="0">
                    <p:tgtEl>
                      <p:spTgt spid="9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1" fill="hold">
                      <p:stCondLst>
                        <p:cond delay="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9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9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fill="hold">
                            <p:stCondLst>
                              <p:cond delay="500"/>
                            </p:stCondLst>
                            <p:childTnLst>
                              <p:par>
                                <p:cTn id="4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9" dur="500"/>
                                        <p:tgtEl>
                                          <p:spTgt spid="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5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>
                            <p:stCondLst>
                              <p:cond delay="500"/>
                            </p:stCondLst>
                            <p:childTnLst>
                              <p:par>
                                <p:cTn id="5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9" dur="500"/>
                                        <p:tgtEl>
                                          <p:spTgt spid="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6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9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6" fill="hold">
                            <p:stCondLst>
                              <p:cond delay="500"/>
                            </p:stCondLst>
                            <p:childTnLst>
                              <p:par>
                                <p:cTn id="5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9" dur="500"/>
                                        <p:tgtEl>
                                          <p:spTgt spid="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7"/>
                  </p:tgtEl>
                </p:cond>
              </p:nextCondLst>
            </p:seq>
            <p:seq concurrent="1" nextAc="seek">
              <p:cTn id="520" restart="whenNotActive" fill="hold" evtFilter="cancelBubble" nodeType="interactiveSeq">
                <p:stCondLst>
                  <p:cond evt="onClick" delay="0">
                    <p:tgtEl>
                      <p:spTgt spid="9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9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9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500"/>
                            </p:stCondLst>
                            <p:childTnLst>
                              <p:par>
                                <p:cTn id="5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9" dur="500"/>
                                        <p:tgtEl>
                                          <p:spTgt spid="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8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9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9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9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fill="hold">
                            <p:stCondLst>
                              <p:cond delay="500"/>
                            </p:stCondLst>
                            <p:childTnLst>
                              <p:par>
                                <p:cTn id="5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9" dur="500"/>
                                        <p:tgtEl>
                                          <p:spTgt spid="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09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6" fill="hold">
                            <p:stCondLst>
                              <p:cond delay="500"/>
                            </p:stCondLst>
                            <p:childTnLst>
                              <p:par>
                                <p:cTn id="5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9" dur="500"/>
                                        <p:tgtEl>
                                          <p:spTgt spid="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0"/>
                  </p:tgtEl>
                </p:cond>
              </p:nextCondLst>
            </p:seq>
            <p:seq concurrent="1" nextAc="seek">
              <p:cTn id="550" restart="whenNotActive" fill="hold" evtFilter="cancelBubble" nodeType="interactiveSeq">
                <p:stCondLst>
                  <p:cond evt="onClick" delay="0">
                    <p:tgtEl>
                      <p:spTgt spid="9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1" fill="hold">
                      <p:stCondLst>
                        <p:cond delay="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9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9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6" fill="hold">
                            <p:stCondLst>
                              <p:cond delay="500"/>
                            </p:stCondLst>
                            <p:childTnLst>
                              <p:par>
                                <p:cTn id="5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9" dur="500"/>
                                        <p:tgtEl>
                                          <p:spTgt spid="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1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9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9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9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6" dur="300" fill="hold"/>
                                        <p:tgtEl>
                                          <p:spTgt spid="9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0"/>
                  </p:tgtEl>
                </p:cond>
              </p:nextCondLst>
            </p:seq>
            <p:seq concurrent="1" nextAc="seek">
              <p:cTn id="567" restart="whenNotActive" fill="hold" evtFilter="cancelBubble" nodeType="interactiveSeq">
                <p:stCondLst>
                  <p:cond evt="onClick" delay="0">
                    <p:tgtEl>
                      <p:spTgt spid="9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1" dur="300" fill="hold"/>
                                        <p:tgtEl>
                                          <p:spTgt spid="9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9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9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9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9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>
                      <p:stCondLst>
                        <p:cond delay="0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9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8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9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94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94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4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39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9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2" dur="300" fill="hold"/>
                                        <p:tgtEl>
                                          <p:spTgt spid="9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593" dur="300" fill="hold"/>
                                        <p:tgtEl>
                                          <p:spTgt spid="9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4" dur="300" fill="hold"/>
                                        <p:tgtEl>
                                          <p:spTgt spid="9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7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9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9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9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9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9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9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1"/>
                  </p:tgtEl>
                </p:cond>
              </p:nextCondLst>
            </p:seq>
            <p:seq concurrent="1" nextAc="seek">
              <p:cTn id="609" restart="whenNotActive" fill="hold" evtFilter="cancelBubble" nodeType="interactiveSeq">
                <p:stCondLst>
                  <p:cond evt="onClick" delay="0">
                    <p:tgtEl>
                      <p:spTgt spid="9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3" dur="300" fill="hold"/>
                                        <p:tgtEl>
                                          <p:spTgt spid="9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14" dur="300" fill="hold"/>
                                        <p:tgtEl>
                                          <p:spTgt spid="9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5" dur="300" fill="hold"/>
                                        <p:tgtEl>
                                          <p:spTgt spid="9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2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9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9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3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9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9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9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9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4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9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4" dur="300" fill="hold"/>
                                        <p:tgtEl>
                                          <p:spTgt spid="9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35" dur="300" fill="hold"/>
                                        <p:tgtEl>
                                          <p:spTgt spid="9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6" dur="300" fill="hold"/>
                                        <p:tgtEl>
                                          <p:spTgt spid="9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5"/>
                  </p:tgtEl>
                </p:cond>
              </p:nextCondLst>
            </p:seq>
            <p:seq concurrent="1" nextAc="seek">
              <p:cTn id="637" restart="whenNotActive" fill="hold" evtFilter="cancelBubble" nodeType="interactiveSeq">
                <p:stCondLst>
                  <p:cond evt="onClick" delay="0">
                    <p:tgtEl>
                      <p:spTgt spid="9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8" fill="hold">
                      <p:stCondLst>
                        <p:cond delay="0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46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9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9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0" fill="hold">
                            <p:stCondLst>
                              <p:cond delay="500"/>
                            </p:stCondLst>
                            <p:childTnLst>
                              <p:par>
                                <p:cTn id="6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3" dur="500"/>
                                        <p:tgtEl>
                                          <p:spTgt spid="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2"/>
                  </p:tgtEl>
                </p:cond>
              </p:nextCondLst>
            </p:seq>
            <p:seq concurrent="1" nextAc="seek">
              <p:cTn id="654" restart="whenNotActive" fill="hold" evtFilter="cancelBubble" nodeType="interactiveSeq">
                <p:stCondLst>
                  <p:cond evt="onClick" delay="0">
                    <p:tgtEl>
                      <p:spTgt spid="9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5" fill="hold">
                      <p:stCondLst>
                        <p:cond delay="0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0" fill="hold">
                            <p:stCondLst>
                              <p:cond delay="500"/>
                            </p:stCondLst>
                            <p:childTnLst>
                              <p:par>
                                <p:cTn id="6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3" dur="500"/>
                                        <p:tgtEl>
                                          <p:spTgt spid="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"/>
                  </p:tgtEl>
                </p:cond>
              </p:nextCondLst>
            </p:seq>
            <p:seq concurrent="1" nextAc="seek">
              <p:cTn id="664" restart="whenNotActive" fill="hold" evtFilter="cancelBubble" nodeType="interactiveSeq">
                <p:stCondLst>
                  <p:cond evt="onClick" delay="0">
                    <p:tgtEl>
                      <p:spTgt spid="9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9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9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0" fill="hold">
                            <p:stCondLst>
                              <p:cond delay="500"/>
                            </p:stCondLst>
                            <p:childTnLst>
                              <p:par>
                                <p:cTn id="6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3" dur="500"/>
                                        <p:tgtEl>
                                          <p:spTgt spid="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4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9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9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9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500"/>
                            </p:stCondLst>
                            <p:childTnLst>
                              <p:par>
                                <p:cTn id="6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3" dur="500"/>
                                        <p:tgtEl>
                                          <p:spTgt spid="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5"/>
                  </p:tgtEl>
                </p:cond>
              </p:nextCondLst>
            </p:seq>
            <p:seq concurrent="1" nextAc="seek">
              <p:cTn id="684" restart="whenNotActive" fill="hold" evtFilter="cancelBubble" nodeType="interactiveSeq">
                <p:stCondLst>
                  <p:cond evt="onClick" delay="0">
                    <p:tgtEl>
                      <p:spTgt spid="9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5" fill="hold">
                      <p:stCondLst>
                        <p:cond delay="0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8" dur="300" fill="hold"/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9" dur="300" fill="hold"/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500"/>
                            </p:stCondLst>
                            <p:childTnLst>
                              <p:par>
                                <p:cTn id="6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3" dur="500"/>
                                        <p:tgtEl>
                                          <p:spTgt spid="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6"/>
                  </p:tgtEl>
                </p:cond>
              </p:nextCondLst>
            </p:seq>
            <p:seq concurrent="1" nextAc="seek">
              <p:cTn id="694" restart="whenNotActive" fill="hold" evtFilter="cancelBubble" nodeType="interactiveSeq">
                <p:stCondLst>
                  <p:cond evt="onClick" delay="0">
                    <p:tgtEl>
                      <p:spTgt spid="95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5" fill="hold">
                      <p:stCondLst>
                        <p:cond delay="0"/>
                      </p:stCondLst>
                      <p:childTnLst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8" dur="300" fill="hold"/>
                                        <p:tgtEl>
                                          <p:spTgt spid="95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95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0" fill="hold">
                            <p:stCondLst>
                              <p:cond delay="500"/>
                            </p:stCondLst>
                            <p:childTnLst>
                              <p:par>
                                <p:cTn id="7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3" dur="500"/>
                                        <p:tgtEl>
                                          <p:spTgt spid="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7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95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95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95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0" fill="hold">
                            <p:stCondLst>
                              <p:cond delay="500"/>
                            </p:stCondLst>
                            <p:childTnLst>
                              <p:par>
                                <p:cTn id="7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3" dur="500"/>
                                        <p:tgtEl>
                                          <p:spTgt spid="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8"/>
                  </p:tgtEl>
                </p:cond>
              </p:nextCondLst>
            </p:seq>
            <p:seq concurrent="1" nextAc="seek">
              <p:cTn id="714" restart="whenNotActive" fill="hold" evtFilter="cancelBubble" nodeType="interactiveSeq">
                <p:stCondLst>
                  <p:cond evt="onClick" delay="0">
                    <p:tgtEl>
                      <p:spTgt spid="95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5" fill="hold">
                      <p:stCondLst>
                        <p:cond delay="0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par>
                                <p:cTn id="7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8" dur="300" fill="hold"/>
                                        <p:tgtEl>
                                          <p:spTgt spid="9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9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0" fill="hold">
                            <p:stCondLst>
                              <p:cond delay="500"/>
                            </p:stCondLst>
                            <p:childTnLst>
                              <p:par>
                                <p:cTn id="7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3" dur="500"/>
                                        <p:tgtEl>
                                          <p:spTgt spid="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9"/>
                  </p:tgtEl>
                </p:cond>
              </p:nextCondLst>
            </p:seq>
          </p:childTnLst>
        </p:cTn>
      </p:par>
    </p:tnLst>
    <p:bldLst>
      <p:bldP spid="9451" grpId="0" bldLvl="0" animBg="1"/>
      <p:bldP spid="9453" grpId="0" bldLvl="0" animBg="1"/>
      <p:bldP spid="9455" grpId="0" bldLvl="0" animBg="1"/>
      <p:bldP spid="9457" grpId="0" bldLvl="0" animBg="1"/>
      <p:bldP spid="9459" grpId="0" bldLvl="0" animBg="1"/>
      <p:bldP spid="9461" grpId="0" bldLvl="0" animBg="1"/>
      <p:bldP spid="9463" grpId="0" bldLvl="0" animBg="1"/>
      <p:bldP spid="9465" grpId="0" bldLvl="0" animBg="1"/>
      <p:bldP spid="9467" grpId="0" bldLvl="0" animBg="1"/>
      <p:bldP spid="9468" grpId="0" bldLvl="0" animBg="1"/>
      <p:bldP spid="9470" grpId="0"/>
      <p:bldP spid="9472" grpId="0" bldLvl="0" animBg="1"/>
      <p:bldP spid="9473" grpId="0" bldLvl="0" animBg="1"/>
      <p:bldP spid="9475" grpId="0" bldLvl="0" animBg="1"/>
      <p:bldP spid="9477" grpId="0" bldLvl="0" animBg="1"/>
      <p:bldP spid="9479" grpId="0" bldLvl="0" animBg="1"/>
      <p:bldP spid="9481" grpId="0" bldLvl="0" animBg="1"/>
      <p:bldP spid="9482" grpId="0" bldLvl="0" animBg="1"/>
      <p:bldP spid="9484" grpId="0"/>
      <p:bldP spid="9486" grpId="0" bldLvl="0" animBg="1"/>
      <p:bldP spid="9487" grpId="0" bldLvl="0" animBg="1"/>
      <p:bldP spid="9489" grpId="0" bldLvl="0" animBg="1"/>
      <p:bldP spid="9490" grpId="0" bldLvl="0" animBg="1"/>
      <p:bldP spid="9491" grpId="0" bldLvl="0" animBg="1"/>
      <p:bldP spid="9493" grpId="0"/>
      <p:bldP spid="9495" grpId="0" bldLvl="0" animBg="1"/>
      <p:bldP spid="9497" grpId="0" bldLvl="0" animBg="1"/>
      <p:bldP spid="9498" grpId="0" bldLvl="0" animBg="1"/>
      <p:bldP spid="9500" grpId="0"/>
      <p:bldP spid="9501" grpId="0" bldLvl="0" animBg="1"/>
      <p:bldP spid="9502" grpId="0" bldLvl="0" animBg="1"/>
      <p:bldP spid="950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>
          <a:xfrm>
            <a:off x="2371725" y="332740"/>
            <a:ext cx="4712335" cy="97980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空间性能</a:t>
            </a:r>
            <a:endParaRPr lang="zh-CN" altLang="en-US" smtClean="0">
              <a:sym typeface="+mn-ea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思考：较之常规的单层列表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每次操作过程中，需访问的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节点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是否会实质地增多？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每个节点都可能重复多达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次，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空间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复杂度是否因此有实质增加？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首先来回答后者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生长概率逐</a:t>
            </a:r>
            <a:r>
              <a:rPr kumimoji="0" 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层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减半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条件：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中每个关键码在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k+1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中依然出现的概率，均为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1/2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charset="-122"/>
                <a:ea typeface="+mn-ea"/>
                <a:cs typeface="+mn-cs"/>
              </a:rPr>
              <a:t>——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暂且假设成立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，稍后说明如何保证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可见，各塔的高度符合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几何分布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Pr(h = k) = p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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(1-p)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k-1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p = 50%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于是，期望的塔高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E(h) = 1/p =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空间性能</a:t>
            </a:r>
            <a:endParaRPr lang="zh-CN" altLang="en-US" smtClean="0">
              <a:sym typeface="+mn-ea"/>
            </a:endParaRP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669882" y="1144870"/>
            <a:ext cx="10852237" cy="5041355"/>
          </a:xfrm>
        </p:spPr>
        <p:txBody>
          <a:bodyPr vert="horz" wrap="none" lIns="144000" tIns="72000" rIns="0" bIns="72000" numCol="1" anchor="t" anchorCtr="0" compatLnSpc="1">
            <a:norm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根据“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生长概率逐</a:t>
            </a:r>
            <a:r>
              <a:rPr kumimoji="0" 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层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减半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条件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中任一关键码在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中依然出现的概率均为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-k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第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层节点数的期望值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E(|S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|) = n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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n/2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于是，所有节点期望的总数（即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各层列表所需空间总和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）为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E(∑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|) =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E(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|) = n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&lt; 2n =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定理：	跳转表所需空间为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expected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类比：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半衰期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年的放射性物质中，各粒子的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平均寿命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不过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24" name="Line 4"/>
          <p:cNvSpPr/>
          <p:nvPr/>
        </p:nvSpPr>
        <p:spPr>
          <a:xfrm>
            <a:off x="2889250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25" name="Line 5"/>
          <p:cNvSpPr/>
          <p:nvPr/>
        </p:nvSpPr>
        <p:spPr>
          <a:xfrm>
            <a:off x="8075613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26" name="Line 6"/>
          <p:cNvSpPr/>
          <p:nvPr/>
        </p:nvSpPr>
        <p:spPr>
          <a:xfrm>
            <a:off x="6237288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27" name="Line 7"/>
          <p:cNvSpPr/>
          <p:nvPr/>
        </p:nvSpPr>
        <p:spPr>
          <a:xfrm>
            <a:off x="7426325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28" name="Line 8"/>
          <p:cNvSpPr/>
          <p:nvPr/>
        </p:nvSpPr>
        <p:spPr>
          <a:xfrm>
            <a:off x="3644900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29" name="Line 9"/>
          <p:cNvSpPr/>
          <p:nvPr/>
        </p:nvSpPr>
        <p:spPr>
          <a:xfrm>
            <a:off x="3968750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30" name="Line 10"/>
          <p:cNvSpPr/>
          <p:nvPr/>
        </p:nvSpPr>
        <p:spPr>
          <a:xfrm>
            <a:off x="5265738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31" name="Line 11"/>
          <p:cNvSpPr/>
          <p:nvPr/>
        </p:nvSpPr>
        <p:spPr>
          <a:xfrm>
            <a:off x="6994525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32" name="Line 12"/>
          <p:cNvSpPr/>
          <p:nvPr/>
        </p:nvSpPr>
        <p:spPr>
          <a:xfrm>
            <a:off x="7534275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33" name="Line 13"/>
          <p:cNvSpPr/>
          <p:nvPr/>
        </p:nvSpPr>
        <p:spPr>
          <a:xfrm>
            <a:off x="7210425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34" name="Line 14"/>
          <p:cNvSpPr/>
          <p:nvPr/>
        </p:nvSpPr>
        <p:spPr>
          <a:xfrm>
            <a:off x="5481638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35" name="Line 15"/>
          <p:cNvSpPr/>
          <p:nvPr/>
        </p:nvSpPr>
        <p:spPr>
          <a:xfrm>
            <a:off x="6346825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36" name="Line 16"/>
          <p:cNvSpPr/>
          <p:nvPr/>
        </p:nvSpPr>
        <p:spPr>
          <a:xfrm>
            <a:off x="4833938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37" name="Line 17"/>
          <p:cNvSpPr/>
          <p:nvPr/>
        </p:nvSpPr>
        <p:spPr>
          <a:xfrm>
            <a:off x="4076700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38" name="Line 18"/>
          <p:cNvSpPr/>
          <p:nvPr/>
        </p:nvSpPr>
        <p:spPr>
          <a:xfrm>
            <a:off x="6886575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39" name="Line 19"/>
          <p:cNvSpPr/>
          <p:nvPr/>
        </p:nvSpPr>
        <p:spPr>
          <a:xfrm>
            <a:off x="5913438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40" name="Line 20"/>
          <p:cNvSpPr/>
          <p:nvPr/>
        </p:nvSpPr>
        <p:spPr>
          <a:xfrm>
            <a:off x="8399463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41" name="Line 21"/>
          <p:cNvSpPr/>
          <p:nvPr/>
        </p:nvSpPr>
        <p:spPr>
          <a:xfrm>
            <a:off x="2997200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42" name="Line 22"/>
          <p:cNvSpPr/>
          <p:nvPr/>
        </p:nvSpPr>
        <p:spPr>
          <a:xfrm>
            <a:off x="7642225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43" name="Line 23"/>
          <p:cNvSpPr/>
          <p:nvPr/>
        </p:nvSpPr>
        <p:spPr>
          <a:xfrm>
            <a:off x="6021388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44" name="Line 24"/>
          <p:cNvSpPr/>
          <p:nvPr/>
        </p:nvSpPr>
        <p:spPr>
          <a:xfrm>
            <a:off x="5697538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45" name="Line 25"/>
          <p:cNvSpPr/>
          <p:nvPr/>
        </p:nvSpPr>
        <p:spPr>
          <a:xfrm>
            <a:off x="4618038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46" name="Line 26"/>
          <p:cNvSpPr/>
          <p:nvPr/>
        </p:nvSpPr>
        <p:spPr>
          <a:xfrm>
            <a:off x="6454775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47" name="Line 27"/>
          <p:cNvSpPr/>
          <p:nvPr/>
        </p:nvSpPr>
        <p:spPr>
          <a:xfrm>
            <a:off x="9047163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48" name="Line 28"/>
          <p:cNvSpPr/>
          <p:nvPr/>
        </p:nvSpPr>
        <p:spPr>
          <a:xfrm>
            <a:off x="3429000" y="3017838"/>
            <a:ext cx="0" cy="431800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49" name="Line 29"/>
          <p:cNvSpPr/>
          <p:nvPr/>
        </p:nvSpPr>
        <p:spPr>
          <a:xfrm>
            <a:off x="3213100" y="3017838"/>
            <a:ext cx="0" cy="431800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50" name="Line 30"/>
          <p:cNvSpPr/>
          <p:nvPr/>
        </p:nvSpPr>
        <p:spPr>
          <a:xfrm>
            <a:off x="5805488" y="3017838"/>
            <a:ext cx="0" cy="431800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51" name="Line 31"/>
          <p:cNvSpPr/>
          <p:nvPr/>
        </p:nvSpPr>
        <p:spPr>
          <a:xfrm>
            <a:off x="4400550" y="3017838"/>
            <a:ext cx="0" cy="431800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52" name="Line 32"/>
          <p:cNvSpPr/>
          <p:nvPr/>
        </p:nvSpPr>
        <p:spPr>
          <a:xfrm>
            <a:off x="7858125" y="2873375"/>
            <a:ext cx="0" cy="5762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53" name="Line 33"/>
          <p:cNvSpPr/>
          <p:nvPr/>
        </p:nvSpPr>
        <p:spPr>
          <a:xfrm>
            <a:off x="5049838" y="2873375"/>
            <a:ext cx="0" cy="5762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54" name="Line 34"/>
          <p:cNvSpPr/>
          <p:nvPr/>
        </p:nvSpPr>
        <p:spPr>
          <a:xfrm>
            <a:off x="6670675" y="2730500"/>
            <a:ext cx="0" cy="7191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0" name="Line 50"/>
          <p:cNvSpPr/>
          <p:nvPr/>
        </p:nvSpPr>
        <p:spPr>
          <a:xfrm>
            <a:off x="4725988" y="2584450"/>
            <a:ext cx="0" cy="863600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1" name="Line 51"/>
          <p:cNvSpPr/>
          <p:nvPr/>
        </p:nvSpPr>
        <p:spPr>
          <a:xfrm>
            <a:off x="9371013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2" name="Line 52"/>
          <p:cNvSpPr/>
          <p:nvPr/>
        </p:nvSpPr>
        <p:spPr>
          <a:xfrm>
            <a:off x="7966075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3" name="Line 53"/>
          <p:cNvSpPr/>
          <p:nvPr/>
        </p:nvSpPr>
        <p:spPr>
          <a:xfrm>
            <a:off x="6562725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4" name="Line 54"/>
          <p:cNvSpPr/>
          <p:nvPr/>
        </p:nvSpPr>
        <p:spPr>
          <a:xfrm>
            <a:off x="4508500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5" name="Line 55"/>
          <p:cNvSpPr/>
          <p:nvPr/>
        </p:nvSpPr>
        <p:spPr>
          <a:xfrm>
            <a:off x="8615363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6" name="Line 56"/>
          <p:cNvSpPr/>
          <p:nvPr/>
        </p:nvSpPr>
        <p:spPr>
          <a:xfrm>
            <a:off x="6778625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7" name="Line 57"/>
          <p:cNvSpPr/>
          <p:nvPr/>
        </p:nvSpPr>
        <p:spPr>
          <a:xfrm>
            <a:off x="3321050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8" name="Line 58"/>
          <p:cNvSpPr/>
          <p:nvPr/>
        </p:nvSpPr>
        <p:spPr>
          <a:xfrm>
            <a:off x="3752850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9" name="Line 59"/>
          <p:cNvSpPr/>
          <p:nvPr/>
        </p:nvSpPr>
        <p:spPr>
          <a:xfrm>
            <a:off x="8291513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80" name="Line 60"/>
          <p:cNvSpPr/>
          <p:nvPr/>
        </p:nvSpPr>
        <p:spPr>
          <a:xfrm>
            <a:off x="4292600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81" name="Line 61"/>
          <p:cNvSpPr/>
          <p:nvPr/>
        </p:nvSpPr>
        <p:spPr>
          <a:xfrm>
            <a:off x="9155113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82" name="Line 62"/>
          <p:cNvSpPr/>
          <p:nvPr/>
        </p:nvSpPr>
        <p:spPr>
          <a:xfrm>
            <a:off x="5157788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83" name="Line 63"/>
          <p:cNvSpPr/>
          <p:nvPr/>
        </p:nvSpPr>
        <p:spPr>
          <a:xfrm>
            <a:off x="3105150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84" name="Line 64"/>
          <p:cNvSpPr/>
          <p:nvPr/>
        </p:nvSpPr>
        <p:spPr>
          <a:xfrm>
            <a:off x="8831263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85" name="Line 65"/>
          <p:cNvSpPr/>
          <p:nvPr/>
        </p:nvSpPr>
        <p:spPr>
          <a:xfrm>
            <a:off x="8507413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86" name="Line 66"/>
          <p:cNvSpPr/>
          <p:nvPr/>
        </p:nvSpPr>
        <p:spPr>
          <a:xfrm>
            <a:off x="7750175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87" name="Line 67"/>
          <p:cNvSpPr/>
          <p:nvPr/>
        </p:nvSpPr>
        <p:spPr>
          <a:xfrm>
            <a:off x="5373688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88" name="Line 68"/>
          <p:cNvSpPr/>
          <p:nvPr/>
        </p:nvSpPr>
        <p:spPr>
          <a:xfrm>
            <a:off x="9586913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89" name="Line 69"/>
          <p:cNvSpPr/>
          <p:nvPr/>
        </p:nvSpPr>
        <p:spPr>
          <a:xfrm>
            <a:off x="4941888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90" name="Line 70"/>
          <p:cNvSpPr/>
          <p:nvPr/>
        </p:nvSpPr>
        <p:spPr>
          <a:xfrm>
            <a:off x="6129338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91" name="Line 71"/>
          <p:cNvSpPr/>
          <p:nvPr/>
        </p:nvSpPr>
        <p:spPr>
          <a:xfrm>
            <a:off x="3536950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92" name="Line 72"/>
          <p:cNvSpPr/>
          <p:nvPr/>
        </p:nvSpPr>
        <p:spPr>
          <a:xfrm>
            <a:off x="8723313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93" name="Line 73"/>
          <p:cNvSpPr/>
          <p:nvPr/>
        </p:nvSpPr>
        <p:spPr>
          <a:xfrm>
            <a:off x="7102475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94" name="Line 74"/>
          <p:cNvSpPr/>
          <p:nvPr/>
        </p:nvSpPr>
        <p:spPr>
          <a:xfrm>
            <a:off x="9263063" y="3162300"/>
            <a:ext cx="0" cy="2873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95" name="Line 75"/>
          <p:cNvSpPr/>
          <p:nvPr/>
        </p:nvSpPr>
        <p:spPr>
          <a:xfrm>
            <a:off x="9696450" y="3017838"/>
            <a:ext cx="0" cy="431800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96" name="Line 76"/>
          <p:cNvSpPr/>
          <p:nvPr/>
        </p:nvSpPr>
        <p:spPr>
          <a:xfrm>
            <a:off x="3860800" y="3017838"/>
            <a:ext cx="0" cy="431800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97" name="Line 77"/>
          <p:cNvSpPr/>
          <p:nvPr/>
        </p:nvSpPr>
        <p:spPr>
          <a:xfrm>
            <a:off x="7318375" y="3017838"/>
            <a:ext cx="0" cy="431800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98" name="Line 78"/>
          <p:cNvSpPr/>
          <p:nvPr/>
        </p:nvSpPr>
        <p:spPr>
          <a:xfrm>
            <a:off x="5589588" y="3017838"/>
            <a:ext cx="0" cy="431800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99" name="Line 79"/>
          <p:cNvSpPr/>
          <p:nvPr/>
        </p:nvSpPr>
        <p:spPr>
          <a:xfrm>
            <a:off x="4184650" y="2873375"/>
            <a:ext cx="0" cy="5762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200" name="Line 80"/>
          <p:cNvSpPr/>
          <p:nvPr/>
        </p:nvSpPr>
        <p:spPr>
          <a:xfrm>
            <a:off x="8939213" y="2873375"/>
            <a:ext cx="0" cy="5762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201" name="Line 81"/>
          <p:cNvSpPr/>
          <p:nvPr/>
        </p:nvSpPr>
        <p:spPr>
          <a:xfrm>
            <a:off x="8183563" y="2730500"/>
            <a:ext cx="0" cy="719138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202" name="Line 82"/>
          <p:cNvSpPr/>
          <p:nvPr/>
        </p:nvSpPr>
        <p:spPr>
          <a:xfrm>
            <a:off x="9478963" y="3305175"/>
            <a:ext cx="0" cy="144463"/>
          </a:xfrm>
          <a:prstGeom prst="line">
            <a:avLst/>
          </a:prstGeom>
          <a:ln w="762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3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9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2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3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9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2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33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300" fill="hold"/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9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2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33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900"/>
                                        <p:tgtEl>
                                          <p:spTgt spid="13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27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33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9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28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33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9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29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33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9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33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900"/>
                                        <p:tgtEl>
                                          <p:spTgt spid="13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1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33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9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2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33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9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3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33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9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4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33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900"/>
                                        <p:tgtEl>
                                          <p:spTgt spid="13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33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13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6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33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900"/>
                                        <p:tgtEl>
                                          <p:spTgt spid="13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7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133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900"/>
                                        <p:tgtEl>
                                          <p:spTgt spid="13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33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900"/>
                                        <p:tgtEl>
                                          <p:spTgt spid="13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39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33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900"/>
                                        <p:tgtEl>
                                          <p:spTgt spid="13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0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33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900"/>
                                        <p:tgtEl>
                                          <p:spTgt spid="13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1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33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900"/>
                                        <p:tgtEl>
                                          <p:spTgt spid="13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2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33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900"/>
                                        <p:tgtEl>
                                          <p:spTgt spid="13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33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300" fill="hold"/>
                                        <p:tgtEl>
                                          <p:spTgt spid="133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1331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900"/>
                                        <p:tgtEl>
                                          <p:spTgt spid="13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4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33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900"/>
                                        <p:tgtEl>
                                          <p:spTgt spid="13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5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133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133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331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900"/>
                                        <p:tgtEl>
                                          <p:spTgt spid="13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6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133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900"/>
                                        <p:tgtEl>
                                          <p:spTgt spid="13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7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33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33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331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500"/>
                            </p:stCondLst>
                            <p:childTnLst>
                              <p:par>
                                <p:cTn id="2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900"/>
                                        <p:tgtEl>
                                          <p:spTgt spid="13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8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33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1331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331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900"/>
                                        <p:tgtEl>
                                          <p:spTgt spid="13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49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1331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133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331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900"/>
                                        <p:tgtEl>
                                          <p:spTgt spid="13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50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133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1331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331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500"/>
                            </p:stCondLst>
                            <p:childTnLst>
                              <p:par>
                                <p:cTn id="2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1" dur="900"/>
                                        <p:tgtEl>
                                          <p:spTgt spid="13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51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133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1331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331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500"/>
                            </p:stCondLst>
                            <p:childTnLst>
                              <p:par>
                                <p:cTn id="2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900"/>
                                        <p:tgtEl>
                                          <p:spTgt spid="13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52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133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331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331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500"/>
                            </p:stCondLst>
                            <p:childTnLst>
                              <p:par>
                                <p:cTn id="2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900"/>
                                        <p:tgtEl>
                                          <p:spTgt spid="13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53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33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500"/>
                            </p:stCondLst>
                            <p:childTnLst>
                              <p:par>
                                <p:cTn id="3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1" dur="900"/>
                                        <p:tgtEl>
                                          <p:spTgt spid="13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54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133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300" fill="hold"/>
                                        <p:tgtEl>
                                          <p:spTgt spid="1331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331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500"/>
                            </p:stCondLst>
                            <p:childTnLst>
                              <p:par>
                                <p:cTn id="3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1" dur="900"/>
                                        <p:tgtEl>
                                          <p:spTgt spid="13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0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133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6" dur="300" fill="hold"/>
                                        <p:tgtEl>
                                          <p:spTgt spid="1331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331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00"/>
                            </p:stCondLst>
                            <p:childTnLst>
                              <p:par>
                                <p:cTn id="3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1" dur="900"/>
                                        <p:tgtEl>
                                          <p:spTgt spid="13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1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331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331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331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500"/>
                            </p:stCondLst>
                            <p:childTnLst>
                              <p:par>
                                <p:cTn id="3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1" dur="900"/>
                                        <p:tgtEl>
                                          <p:spTgt spid="13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2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33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1331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1331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00"/>
                            </p:stCondLst>
                            <p:childTnLst>
                              <p:par>
                                <p:cTn id="3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1" dur="900"/>
                                        <p:tgtEl>
                                          <p:spTgt spid="13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3"/>
                  </p:tgtEl>
                </p:cond>
              </p:nextCondLst>
            </p:seq>
            <p:seq concurrent="1" nextAc="seek">
              <p:cTn id="352" restart="whenNotActive" fill="hold" evtFilter="cancelBubble" nodeType="interactiveSeq">
                <p:stCondLst>
                  <p:cond evt="onClick" delay="0">
                    <p:tgtEl>
                      <p:spTgt spid="133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331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331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1" dur="900"/>
                                        <p:tgtEl>
                                          <p:spTgt spid="13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33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33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33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500"/>
                            </p:stCondLst>
                            <p:childTnLst>
                              <p:par>
                                <p:cTn id="3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1" dur="900"/>
                                        <p:tgtEl>
                                          <p:spTgt spid="13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5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133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133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33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500"/>
                            </p:stCondLst>
                            <p:childTnLst>
                              <p:par>
                                <p:cTn id="3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1" dur="900"/>
                                        <p:tgtEl>
                                          <p:spTgt spid="13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6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133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1331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1331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500"/>
                            </p:stCondLst>
                            <p:childTnLst>
                              <p:par>
                                <p:cTn id="3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1" dur="900"/>
                                        <p:tgtEl>
                                          <p:spTgt spid="13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7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33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331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331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1" dur="900"/>
                                        <p:tgtEl>
                                          <p:spTgt spid="13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8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33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1331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1331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500"/>
                            </p:stCondLst>
                            <p:childTnLst>
                              <p:par>
                                <p:cTn id="4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1" dur="900"/>
                                        <p:tgtEl>
                                          <p:spTgt spid="13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9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133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331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331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00"/>
                            </p:stCondLst>
                            <p:childTnLst>
                              <p:par>
                                <p:cTn id="4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1" dur="900"/>
                                        <p:tgtEl>
                                          <p:spTgt spid="13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80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33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331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331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500"/>
                            </p:stCondLst>
                            <p:childTnLst>
                              <p:par>
                                <p:cTn id="4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1" dur="900"/>
                                        <p:tgtEl>
                                          <p:spTgt spid="13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81"/>
                  </p:tgtEl>
                </p:cond>
              </p:nextCondLst>
            </p:seq>
            <p:seq concurrent="1" nextAc="seek">
              <p:cTn id="432" restart="whenNotActive" fill="hold" evtFilter="cancelBubble" nodeType="interactiveSeq">
                <p:stCondLst>
                  <p:cond evt="onClick" delay="0">
                    <p:tgtEl>
                      <p:spTgt spid="133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3" fill="hold">
                      <p:stCondLst>
                        <p:cond delay="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6" dur="300" fill="hold"/>
                                        <p:tgtEl>
                                          <p:spTgt spid="133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7" dur="300" fill="hold"/>
                                        <p:tgtEl>
                                          <p:spTgt spid="133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00"/>
                            </p:stCondLst>
                            <p:childTnLst>
                              <p:par>
                                <p:cTn id="4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1" dur="900"/>
                                        <p:tgtEl>
                                          <p:spTgt spid="13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82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133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300" fill="hold"/>
                                        <p:tgtEl>
                                          <p:spTgt spid="133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133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500"/>
                            </p:stCondLst>
                            <p:childTnLst>
                              <p:par>
                                <p:cTn id="4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1" dur="900"/>
                                        <p:tgtEl>
                                          <p:spTgt spid="133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83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133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1331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331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500"/>
                            </p:stCondLst>
                            <p:childTnLst>
                              <p:par>
                                <p:cTn id="4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1" dur="900"/>
                                        <p:tgtEl>
                                          <p:spTgt spid="133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84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33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133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33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500"/>
                            </p:stCondLst>
                            <p:childTnLst>
                              <p:par>
                                <p:cTn id="4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1" dur="900"/>
                                        <p:tgtEl>
                                          <p:spTgt spid="13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85"/>
                  </p:tgtEl>
                </p:cond>
              </p:nextCondLst>
            </p:seq>
            <p:seq concurrent="1" nextAc="seek">
              <p:cTn id="472" restart="whenNotActive" fill="hold" evtFilter="cancelBubble" nodeType="interactiveSeq">
                <p:stCondLst>
                  <p:cond evt="onClick" delay="0">
                    <p:tgtEl>
                      <p:spTgt spid="133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331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331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500"/>
                            </p:stCondLst>
                            <p:childTnLst>
                              <p:par>
                                <p:cTn id="4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1" dur="900"/>
                                        <p:tgtEl>
                                          <p:spTgt spid="13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86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33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331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331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500"/>
                            </p:stCondLst>
                            <p:childTnLst>
                              <p:par>
                                <p:cTn id="4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1" dur="900"/>
                                        <p:tgtEl>
                                          <p:spTgt spid="13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87"/>
                  </p:tgtEl>
                </p:cond>
              </p:nextCondLst>
            </p:seq>
            <p:seq concurrent="1" nextAc="seek">
              <p:cTn id="492" restart="whenNotActive" fill="hold" evtFilter="cancelBubble" nodeType="interactiveSeq">
                <p:stCondLst>
                  <p:cond evt="onClick" delay="0">
                    <p:tgtEl>
                      <p:spTgt spid="133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6" dur="300" fill="hold"/>
                                        <p:tgtEl>
                                          <p:spTgt spid="133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7" dur="300" fill="hold"/>
                                        <p:tgtEl>
                                          <p:spTgt spid="133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" fill="hold">
                            <p:stCondLst>
                              <p:cond delay="500"/>
                            </p:stCondLst>
                            <p:childTnLst>
                              <p:par>
                                <p:cTn id="4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1" dur="900"/>
                                        <p:tgtEl>
                                          <p:spTgt spid="13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88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133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1331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331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fill="hold">
                            <p:stCondLst>
                              <p:cond delay="500"/>
                            </p:stCondLst>
                            <p:childTnLst>
                              <p:par>
                                <p:cTn id="5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1" dur="900"/>
                                        <p:tgtEl>
                                          <p:spTgt spid="13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89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33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1331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331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8" fill="hold">
                            <p:stCondLst>
                              <p:cond delay="500"/>
                            </p:stCondLst>
                            <p:childTnLst>
                              <p:par>
                                <p:cTn id="5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1" dur="900"/>
                                        <p:tgtEl>
                                          <p:spTgt spid="13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90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133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6" dur="300" fill="hold"/>
                                        <p:tgtEl>
                                          <p:spTgt spid="133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133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8" fill="hold">
                            <p:stCondLst>
                              <p:cond delay="500"/>
                            </p:stCondLst>
                            <p:childTnLst>
                              <p:par>
                                <p:cTn id="5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1" dur="900"/>
                                        <p:tgtEl>
                                          <p:spTgt spid="13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91"/>
                  </p:tgtEl>
                </p:cond>
              </p:nextCondLst>
            </p:seq>
            <p:seq concurrent="1" nextAc="seek">
              <p:cTn id="532" restart="whenNotActive" fill="hold" evtFilter="cancelBubble" nodeType="interactiveSeq">
                <p:stCondLst>
                  <p:cond evt="onClick" delay="0">
                    <p:tgtEl>
                      <p:spTgt spid="133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133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133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8" fill="hold">
                            <p:stCondLst>
                              <p:cond delay="500"/>
                            </p:stCondLst>
                            <p:childTnLst>
                              <p:par>
                                <p:cTn id="5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1" dur="900"/>
                                        <p:tgtEl>
                                          <p:spTgt spid="13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92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331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33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33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8" fill="hold">
                            <p:stCondLst>
                              <p:cond delay="500"/>
                            </p:stCondLst>
                            <p:childTnLst>
                              <p:par>
                                <p:cTn id="5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1" dur="900"/>
                                        <p:tgtEl>
                                          <p:spTgt spid="13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93"/>
                  </p:tgtEl>
                </p:cond>
              </p:nextCondLst>
            </p:seq>
            <p:seq concurrent="1" nextAc="seek">
              <p:cTn id="552" restart="whenNotActive" fill="hold" evtFilter="cancelBubble" nodeType="interactiveSeq">
                <p:stCondLst>
                  <p:cond evt="onClick" delay="0">
                    <p:tgtEl>
                      <p:spTgt spid="133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6" dur="300" fill="hold"/>
                                        <p:tgtEl>
                                          <p:spTgt spid="1331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7" dur="300" fill="hold"/>
                                        <p:tgtEl>
                                          <p:spTgt spid="1331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8" fill="hold">
                            <p:stCondLst>
                              <p:cond delay="500"/>
                            </p:stCondLst>
                            <p:childTnLst>
                              <p:par>
                                <p:cTn id="5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1" dur="900"/>
                                        <p:tgtEl>
                                          <p:spTgt spid="13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94"/>
                  </p:tgtEl>
                </p:cond>
              </p:nextCondLst>
            </p:seq>
            <p:seq concurrent="1" nextAc="seek">
              <p:cTn id="562" restart="whenNotActive" fill="hold" evtFilter="cancelBubble" nodeType="interactiveSeq">
                <p:stCondLst>
                  <p:cond evt="onClick" delay="0">
                    <p:tgtEl>
                      <p:spTgt spid="1331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1331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1331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8" fill="hold">
                            <p:stCondLst>
                              <p:cond delay="500"/>
                            </p:stCondLst>
                            <p:childTnLst>
                              <p:par>
                                <p:cTn id="5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1" dur="900"/>
                                        <p:tgtEl>
                                          <p:spTgt spid="13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95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33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331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331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8" fill="hold">
                            <p:stCondLst>
                              <p:cond delay="500"/>
                            </p:stCondLst>
                            <p:childTnLst>
                              <p:par>
                                <p:cTn id="5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1" dur="900"/>
                                        <p:tgtEl>
                                          <p:spTgt spid="13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96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133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6" dur="300" fill="hold"/>
                                        <p:tgtEl>
                                          <p:spTgt spid="133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133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" fill="hold">
                            <p:stCondLst>
                              <p:cond delay="500"/>
                            </p:stCondLst>
                            <p:childTnLst>
                              <p:par>
                                <p:cTn id="5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1" dur="900"/>
                                        <p:tgtEl>
                                          <p:spTgt spid="13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97"/>
                  </p:tgtEl>
                </p:cond>
              </p:nextCondLst>
            </p:seq>
            <p:seq concurrent="1" nextAc="seek">
              <p:cTn id="592" restart="whenNotActive" fill="hold" evtFilter="cancelBubble" nodeType="interactiveSeq">
                <p:stCondLst>
                  <p:cond evt="onClick" delay="0">
                    <p:tgtEl>
                      <p:spTgt spid="1331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3" fill="hold">
                      <p:stCondLst>
                        <p:cond delay="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1331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1331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500"/>
                            </p:stCondLst>
                            <p:childTnLst>
                              <p:par>
                                <p:cTn id="5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1" dur="900"/>
                                        <p:tgtEl>
                                          <p:spTgt spid="13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98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33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331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331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" fill="hold">
                            <p:stCondLst>
                              <p:cond delay="500"/>
                            </p:stCondLst>
                            <p:childTnLst>
                              <p:par>
                                <p:cTn id="6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1" dur="900"/>
                                        <p:tgtEl>
                                          <p:spTgt spid="13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99"/>
                  </p:tgtEl>
                </p:cond>
              </p:nextCondLst>
            </p:seq>
            <p:seq concurrent="1" nextAc="seek">
              <p:cTn id="612" restart="whenNotActive" fill="hold" evtFilter="cancelBubble" nodeType="interactiveSeq">
                <p:stCondLst>
                  <p:cond evt="onClick" delay="0">
                    <p:tgtEl>
                      <p:spTgt spid="133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3" fill="hold">
                      <p:stCondLst>
                        <p:cond delay="0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6" dur="300" fill="hold"/>
                                        <p:tgtEl>
                                          <p:spTgt spid="1332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7" dur="300" fill="hold"/>
                                        <p:tgtEl>
                                          <p:spTgt spid="1332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8" fill="hold">
                            <p:stCondLst>
                              <p:cond delay="500"/>
                            </p:stCondLst>
                            <p:childTnLst>
                              <p:par>
                                <p:cTn id="6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1" dur="900"/>
                                        <p:tgtEl>
                                          <p:spTgt spid="13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200"/>
                  </p:tgtEl>
                </p:cond>
              </p:nextCondLst>
            </p:seq>
            <p:seq concurrent="1" nextAc="seek">
              <p:cTn id="622" restart="whenNotActive" fill="hold" evtFilter="cancelBubble" nodeType="interactiveSeq">
                <p:stCondLst>
                  <p:cond evt="onClick" delay="0">
                    <p:tgtEl>
                      <p:spTgt spid="133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3" fill="hold">
                      <p:stCondLst>
                        <p:cond delay="0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6" dur="300" fill="hold"/>
                                        <p:tgtEl>
                                          <p:spTgt spid="133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7" dur="300" fill="hold"/>
                                        <p:tgtEl>
                                          <p:spTgt spid="133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8" fill="hold">
                            <p:stCondLst>
                              <p:cond delay="500"/>
                            </p:stCondLst>
                            <p:childTnLst>
                              <p:par>
                                <p:cTn id="6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1" dur="900"/>
                                        <p:tgtEl>
                                          <p:spTgt spid="13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20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33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33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33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8" fill="hold">
                            <p:stCondLst>
                              <p:cond delay="500"/>
                            </p:stCondLst>
                            <p:childTnLst>
                              <p:par>
                                <p:cTn id="6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1" dur="900"/>
                                        <p:tgtEl>
                                          <p:spTgt spid="13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202"/>
                  </p:tgtEl>
                </p:cond>
              </p:nextCondLst>
            </p:seq>
          </p:childTnLst>
        </p:cTn>
      </p:par>
    </p:tnLst>
    <p:bldLst>
      <p:bldP spid="133124" grpId="0" bldLvl="0" animBg="1"/>
      <p:bldP spid="133125" grpId="0" bldLvl="0" animBg="1"/>
      <p:bldP spid="133126" grpId="0" bldLvl="0" animBg="1"/>
      <p:bldP spid="133127" grpId="0" bldLvl="0" animBg="1"/>
      <p:bldP spid="133128" grpId="0" bldLvl="0" animBg="1"/>
      <p:bldP spid="133129" grpId="0" bldLvl="0" animBg="1"/>
      <p:bldP spid="133130" grpId="0" bldLvl="0" animBg="1"/>
      <p:bldP spid="133131" grpId="0" bldLvl="0" animBg="1"/>
      <p:bldP spid="133132" grpId="0" bldLvl="0" animBg="1"/>
      <p:bldP spid="133133" grpId="0" bldLvl="0" animBg="1"/>
      <p:bldP spid="133134" grpId="0" bldLvl="0" animBg="1"/>
      <p:bldP spid="133135" grpId="0" bldLvl="0" animBg="1"/>
      <p:bldP spid="133136" grpId="0" bldLvl="0" animBg="1"/>
      <p:bldP spid="133137" grpId="0" bldLvl="0" animBg="1"/>
      <p:bldP spid="133138" grpId="0" bldLvl="0" animBg="1"/>
      <p:bldP spid="133139" grpId="0" bldLvl="0" animBg="1"/>
      <p:bldP spid="133140" grpId="0" bldLvl="0" animBg="1"/>
      <p:bldP spid="133141" grpId="0" bldLvl="0" animBg="1"/>
      <p:bldP spid="133142" grpId="0" bldLvl="0" animBg="1"/>
      <p:bldP spid="133143" grpId="0" bldLvl="0" animBg="1"/>
      <p:bldP spid="133144" grpId="0" bldLvl="0" animBg="1"/>
      <p:bldP spid="133145" grpId="0" bldLvl="0" animBg="1"/>
      <p:bldP spid="133146" grpId="0" bldLvl="0" animBg="1"/>
      <p:bldP spid="133147" grpId="0" bldLvl="0" animBg="1"/>
      <p:bldP spid="133148" grpId="0" bldLvl="0" animBg="1"/>
      <p:bldP spid="133149" grpId="0" bldLvl="0" animBg="1"/>
      <p:bldP spid="133150" grpId="0" bldLvl="0" animBg="1"/>
      <p:bldP spid="133151" grpId="0" bldLvl="0" animBg="1"/>
      <p:bldP spid="133152" grpId="0" bldLvl="0" animBg="1"/>
      <p:bldP spid="133153" grpId="0" bldLvl="0" animBg="1"/>
      <p:bldP spid="133154" grpId="0" bldLvl="0" animBg="1"/>
      <p:bldP spid="133170" grpId="0" bldLvl="0" animBg="1"/>
      <p:bldP spid="133171" grpId="0" bldLvl="0" animBg="1"/>
      <p:bldP spid="133172" grpId="0" bldLvl="0" animBg="1"/>
      <p:bldP spid="133173" grpId="0" bldLvl="0" animBg="1"/>
      <p:bldP spid="133174" grpId="0" bldLvl="0" animBg="1"/>
      <p:bldP spid="133175" grpId="0" bldLvl="0" animBg="1"/>
      <p:bldP spid="133176" grpId="0" bldLvl="0" animBg="1"/>
      <p:bldP spid="133177" grpId="0" bldLvl="0" animBg="1"/>
      <p:bldP spid="133178" grpId="0" bldLvl="0" animBg="1"/>
      <p:bldP spid="133179" grpId="0" bldLvl="0" animBg="1"/>
      <p:bldP spid="133180" grpId="0" bldLvl="0" animBg="1"/>
      <p:bldP spid="133181" grpId="0" bldLvl="0" animBg="1"/>
      <p:bldP spid="133182" grpId="0" bldLvl="0" animBg="1"/>
      <p:bldP spid="133183" grpId="0" bldLvl="0" animBg="1"/>
      <p:bldP spid="133184" grpId="0" bldLvl="0" animBg="1"/>
      <p:bldP spid="133185" grpId="0" bldLvl="0" animBg="1"/>
      <p:bldP spid="133186" grpId="0" bldLvl="0" animBg="1"/>
      <p:bldP spid="133187" grpId="0" bldLvl="0" animBg="1"/>
      <p:bldP spid="133188" grpId="0" bldLvl="0" animBg="1"/>
      <p:bldP spid="133189" grpId="0" bldLvl="0" animBg="1"/>
      <p:bldP spid="133190" grpId="0" bldLvl="0" animBg="1"/>
      <p:bldP spid="133191" grpId="0" bldLvl="0" animBg="1"/>
      <p:bldP spid="133192" grpId="0" bldLvl="0" animBg="1"/>
      <p:bldP spid="133193" grpId="0" bldLvl="0" animBg="1"/>
      <p:bldP spid="133194" grpId="0" bldLvl="0" animBg="1"/>
      <p:bldP spid="133195" grpId="0" bldLvl="0" animBg="1"/>
      <p:bldP spid="133196" grpId="0" bldLvl="0" animBg="1"/>
      <p:bldP spid="133197" grpId="0" bldLvl="0" animBg="1"/>
      <p:bldP spid="133198" grpId="0" bldLvl="0" animBg="1"/>
      <p:bldP spid="133199" grpId="0" bldLvl="0" animBg="1"/>
      <p:bldP spid="133200" grpId="0" bldLvl="0" animBg="1"/>
      <p:bldP spid="133201" grpId="0" bldLvl="0" animBg="1"/>
      <p:bldP spid="133202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AutoShape 2"/>
          <p:cNvSpPr>
            <a:spLocks noGrp="1" noChangeArrowheads="1"/>
          </p:cNvSpPr>
          <p:nvPr>
            <p:ph type="title"/>
          </p:nvPr>
        </p:nvSpPr>
        <p:spPr>
          <a:xfrm>
            <a:off x="2295525" y="603250"/>
            <a:ext cx="3726180" cy="429895"/>
          </a:xfrm>
        </p:spPr>
        <p:txBody>
          <a:bodyPr vert="horz" wrap="square" lIns="91440" tIns="45720" rIns="91440" bIns="45720" numCol="1" rtlCol="0" anchor="ctr" anchorCtr="0" compatLnSpc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结构：QuadList</a:t>
            </a:r>
            <a:endParaRPr lang="zh-CN" altLang="en-US" smtClean="0">
              <a:sym typeface="+mn-ea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6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template &lt;typename T&gt; class Quadlist {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四联表</a:t>
            </a:r>
            <a:b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private: int _size; QuadlistNodePosi(T) header, trailer;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规模、哨兵</a:t>
            </a:r>
            <a:b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protected: void init(); int clear();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初始化、清除所有节点</a:t>
            </a:r>
            <a:b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public: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QuadlistNodePosi(T) first() const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{ return header-&gt;succ; }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首节点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QuadlistNodePosi(T) last() const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{ return trailer-&gt;pred; }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末节点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 remove(QuadlistNodePosi(T) p);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b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QuadlistNodePosi(T) insertAfterAbove(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插入</a:t>
            </a:r>
            <a:b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 const&amp; e,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数据项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，使之成为</a:t>
            </a:r>
            <a:b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QuadlistNodePosi(T) p,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//p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的后继，以及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QuadlistNodePosi(T) b = NULL);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//b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的上邻</a:t>
            </a:r>
            <a:b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16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164" name="Rectangle 4"/>
          <p:cNvSpPr/>
          <p:nvPr/>
        </p:nvSpPr>
        <p:spPr>
          <a:xfrm>
            <a:off x="2987358" y="4518978"/>
            <a:ext cx="1800225" cy="28733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2165" name="AutoShape 5"/>
          <p:cNvSpPr>
            <a:spLocks noChangeArrowheads="1"/>
          </p:cNvSpPr>
          <p:nvPr/>
        </p:nvSpPr>
        <p:spPr bwMode="auto">
          <a:xfrm flipH="1">
            <a:off x="8328025" y="5084763"/>
            <a:ext cx="576263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x(e)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166" name="AutoShape 6"/>
          <p:cNvCxnSpPr>
            <a:stCxn id="92165" idx="0"/>
            <a:endCxn id="92173" idx="2"/>
          </p:cNvCxnSpPr>
          <p:nvPr/>
        </p:nvCxnSpPr>
        <p:spPr>
          <a:xfrm rot="-5400000">
            <a:off x="8482013" y="4938713"/>
            <a:ext cx="26511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round/>
            <a:headEnd type="none" w="med" len="med"/>
            <a:tailEnd type="triangle" w="med" len="med"/>
          </a:ln>
        </p:spPr>
      </p:cxnSp>
      <p:sp>
        <p:nvSpPr>
          <p:cNvPr id="92167" name="AutoShape 7"/>
          <p:cNvSpPr>
            <a:spLocks noChangeArrowheads="1"/>
          </p:cNvSpPr>
          <p:nvPr/>
        </p:nvSpPr>
        <p:spPr bwMode="auto">
          <a:xfrm>
            <a:off x="7464425" y="5083175"/>
            <a:ext cx="576263" cy="28733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charset="-122"/>
                <a:cs typeface="Times New Roman" panose="02020603050405020304" pitchFamily="18" charset="0"/>
              </a:rPr>
              <a:t>p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168" name="AutoShape 8"/>
          <p:cNvSpPr>
            <a:spLocks noChangeArrowheads="1"/>
          </p:cNvSpPr>
          <p:nvPr/>
        </p:nvSpPr>
        <p:spPr bwMode="auto">
          <a:xfrm>
            <a:off x="7464425" y="2924175"/>
            <a:ext cx="576263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charset="-122"/>
                <a:cs typeface="Times New Roman" panose="02020603050405020304" pitchFamily="18" charset="0"/>
              </a:rPr>
              <a:t>p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169" name="AutoShape 9"/>
          <p:cNvSpPr>
            <a:spLocks noChangeArrowheads="1"/>
          </p:cNvSpPr>
          <p:nvPr/>
        </p:nvSpPr>
        <p:spPr bwMode="auto">
          <a:xfrm>
            <a:off x="8328025" y="5659438"/>
            <a:ext cx="576263" cy="28733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170" name="AutoShape 10"/>
          <p:cNvSpPr>
            <a:spLocks noChangeArrowheads="1"/>
          </p:cNvSpPr>
          <p:nvPr/>
        </p:nvSpPr>
        <p:spPr bwMode="auto">
          <a:xfrm>
            <a:off x="8328025" y="3500438"/>
            <a:ext cx="576263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171" name="AutoShape 11"/>
          <p:cNvSpPr>
            <a:spLocks noChangeArrowheads="1"/>
          </p:cNvSpPr>
          <p:nvPr/>
        </p:nvSpPr>
        <p:spPr bwMode="auto">
          <a:xfrm>
            <a:off x="9193213" y="5083175"/>
            <a:ext cx="576263" cy="28733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172" name="AutoShape 12"/>
          <p:cNvSpPr>
            <a:spLocks noChangeArrowheads="1"/>
          </p:cNvSpPr>
          <p:nvPr/>
        </p:nvSpPr>
        <p:spPr bwMode="auto">
          <a:xfrm>
            <a:off x="9193213" y="2924175"/>
            <a:ext cx="576263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173" name="AutoShape 13"/>
          <p:cNvSpPr>
            <a:spLocks noChangeArrowheads="1"/>
          </p:cNvSpPr>
          <p:nvPr/>
        </p:nvSpPr>
        <p:spPr bwMode="auto">
          <a:xfrm>
            <a:off x="8328025" y="4506913"/>
            <a:ext cx="576263" cy="28733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charset="-122"/>
                <a:cs typeface="Times New Roman" panose="02020603050405020304" pitchFamily="18" charset="0"/>
              </a:rPr>
              <a:t>^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174" name="AutoShape 14"/>
          <p:cNvSpPr>
            <a:spLocks noChangeArrowheads="1"/>
          </p:cNvSpPr>
          <p:nvPr/>
        </p:nvSpPr>
        <p:spPr bwMode="auto">
          <a:xfrm>
            <a:off x="8328025" y="2347913"/>
            <a:ext cx="576263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charset="-122"/>
                <a:cs typeface="Times New Roman" panose="02020603050405020304" pitchFamily="18" charset="0"/>
              </a:rPr>
              <a:t>^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92175" name="AutoShape 15"/>
          <p:cNvCxnSpPr>
            <a:stCxn id="92167" idx="3"/>
            <a:endCxn id="92165" idx="3"/>
          </p:cNvCxnSpPr>
          <p:nvPr/>
        </p:nvCxnSpPr>
        <p:spPr>
          <a:xfrm>
            <a:off x="8054975" y="5227638"/>
            <a:ext cx="26352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76" name="AutoShape 16"/>
          <p:cNvCxnSpPr>
            <a:stCxn id="92168" idx="3"/>
            <a:endCxn id="92172" idx="1"/>
          </p:cNvCxnSpPr>
          <p:nvPr/>
        </p:nvCxnSpPr>
        <p:spPr>
          <a:xfrm>
            <a:off x="8054975" y="3068638"/>
            <a:ext cx="11239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77" name="AutoShape 17"/>
          <p:cNvCxnSpPr>
            <a:stCxn id="92169" idx="0"/>
            <a:endCxn id="92165" idx="2"/>
          </p:cNvCxnSpPr>
          <p:nvPr/>
        </p:nvCxnSpPr>
        <p:spPr>
          <a:xfrm flipV="1">
            <a:off x="8616950" y="5383213"/>
            <a:ext cx="0" cy="2619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78" name="AutoShape 18"/>
          <p:cNvCxnSpPr>
            <a:stCxn id="92170" idx="0"/>
            <a:endCxn id="92174" idx="2"/>
          </p:cNvCxnSpPr>
          <p:nvPr/>
        </p:nvCxnSpPr>
        <p:spPr>
          <a:xfrm flipV="1">
            <a:off x="8616950" y="2649538"/>
            <a:ext cx="0" cy="836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round/>
            <a:headEnd type="none" w="med" len="med"/>
            <a:tailEnd type="triangle" w="med" len="med"/>
          </a:ln>
        </p:spPr>
      </p:cxnSp>
      <p:cxnSp>
        <p:nvCxnSpPr>
          <p:cNvPr id="92179" name="AutoShape 19"/>
          <p:cNvCxnSpPr>
            <a:stCxn id="92170" idx="0"/>
            <a:endCxn id="92167" idx="1"/>
          </p:cNvCxnSpPr>
          <p:nvPr/>
        </p:nvCxnSpPr>
        <p:spPr>
          <a:xfrm>
            <a:off x="7177088" y="5227638"/>
            <a:ext cx="2730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80" name="AutoShape 20"/>
          <p:cNvCxnSpPr>
            <a:stCxn id="92170" idx="0"/>
            <a:endCxn id="92168" idx="1"/>
          </p:cNvCxnSpPr>
          <p:nvPr/>
        </p:nvCxnSpPr>
        <p:spPr>
          <a:xfrm>
            <a:off x="7177088" y="3068638"/>
            <a:ext cx="2730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81" name="AutoShape 21"/>
          <p:cNvCxnSpPr>
            <a:stCxn id="92165" idx="1"/>
            <a:endCxn id="92171" idx="1"/>
          </p:cNvCxnSpPr>
          <p:nvPr/>
        </p:nvCxnSpPr>
        <p:spPr>
          <a:xfrm>
            <a:off x="8916988" y="5227638"/>
            <a:ext cx="2619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82" name="AutoShape 22"/>
          <p:cNvCxnSpPr>
            <a:stCxn id="92171" idx="3"/>
            <a:endCxn id="92171" idx="1"/>
          </p:cNvCxnSpPr>
          <p:nvPr/>
        </p:nvCxnSpPr>
        <p:spPr>
          <a:xfrm>
            <a:off x="9783763" y="5227638"/>
            <a:ext cx="258762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83" name="AutoShape 23"/>
          <p:cNvCxnSpPr>
            <a:stCxn id="92172" idx="3"/>
            <a:endCxn id="92171" idx="1"/>
          </p:cNvCxnSpPr>
          <p:nvPr/>
        </p:nvCxnSpPr>
        <p:spPr>
          <a:xfrm>
            <a:off x="9783763" y="3068638"/>
            <a:ext cx="258762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84" name="AutoShape 24"/>
          <p:cNvCxnSpPr>
            <a:stCxn id="92172" idx="3"/>
            <a:endCxn id="92169" idx="2"/>
          </p:cNvCxnSpPr>
          <p:nvPr/>
        </p:nvCxnSpPr>
        <p:spPr>
          <a:xfrm flipV="1">
            <a:off x="8616950" y="5961063"/>
            <a:ext cx="0" cy="2476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185" name="AutoShape 25"/>
          <p:cNvCxnSpPr>
            <a:stCxn id="92172" idx="3"/>
            <a:endCxn id="92170" idx="2"/>
          </p:cNvCxnSpPr>
          <p:nvPr/>
        </p:nvCxnSpPr>
        <p:spPr>
          <a:xfrm flipV="1">
            <a:off x="8616950" y="3802063"/>
            <a:ext cx="0" cy="2476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21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6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21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6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21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6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21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67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921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6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2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69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92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70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2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71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921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72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2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73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92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21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74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92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3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" dur="3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75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92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76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2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77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92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78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92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21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21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300" fill="hold"/>
                                        <p:tgtEl>
                                          <p:spTgt spid="921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4" dur="300" fill="hold"/>
                                        <p:tgtEl>
                                          <p:spTgt spid="921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79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92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921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921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21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21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80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2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21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21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81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92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2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2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2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2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82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92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2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2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2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2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8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2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84"/>
                  </p:tgtEl>
                </p:cond>
              </p:nextCondLst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92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3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2" dur="3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185"/>
                  </p:tgtEl>
                </p:cond>
              </p:nextCondLst>
            </p:seq>
          </p:childTnLst>
        </p:cTn>
      </p:par>
    </p:tnLst>
    <p:bldLst>
      <p:bldP spid="92164" grpId="0" bldLvl="0" animBg="1"/>
      <p:bldP spid="92165" grpId="0" bldLvl="0" animBg="1"/>
      <p:bldP spid="92168" grpId="0" bldLvl="0" animBg="1"/>
      <p:bldP spid="92168" grpId="1" bldLvl="0" animBg="1"/>
      <p:bldP spid="92170" grpId="0" bldLvl="0" animBg="1"/>
      <p:bldP spid="92170" grpId="1" bldLvl="0" animBg="1"/>
      <p:bldP spid="92172" grpId="0" bldLvl="0" animBg="1"/>
      <p:bldP spid="92172" grpId="1" bldLvl="0" animBg="1"/>
      <p:bldP spid="92174" grpId="0" bldLvl="0" animBg="1"/>
      <p:bldP spid="92174" grpId="1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结构：Skiplist</a:t>
            </a:r>
            <a:endParaRPr lang="zh-CN" altLang="en-US" smtClean="0">
              <a:sym typeface="+mn-ea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Autofit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template &lt;typename K, typename V&gt; class Skiplist :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public Dictionary&lt;K, V&gt;,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public List&lt;Quadlist&lt;Entry&lt;K, V&gt;&gt;*&gt; {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多重继承</a:t>
            </a:r>
            <a:b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protected: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bool skipSearch(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ListNode&lt;Quadlist&lt;Entry&lt;K, V&gt;&gt;*&gt;* &amp;qlist,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QuadlistNode&lt;Entry&lt;K, V&gt;&gt;* &amp;p, K&amp; k);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public: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int size()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词条总数，即底层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Quadlist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的规模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{ return empty() ? 0 : last()-&gt;data-&gt;size(); }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int level() { return List::size(); }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层高，即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Quadlist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总数</a:t>
            </a:r>
            <a:b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bool put(K, V);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插入（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Skiplist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允许词条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重复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，故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必然成功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V* get(K k);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读取（基于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skipSearch()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直接实现）</a:t>
            </a:r>
            <a:b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bool remove(K k);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14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3188" name="Rectangle 4"/>
          <p:cNvSpPr/>
          <p:nvPr/>
        </p:nvSpPr>
        <p:spPr>
          <a:xfrm>
            <a:off x="1459230" y="5287645"/>
            <a:ext cx="669290" cy="2870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3189" name="Rectangle 5"/>
          <p:cNvSpPr/>
          <p:nvPr/>
        </p:nvSpPr>
        <p:spPr>
          <a:xfrm>
            <a:off x="1637030" y="5574665"/>
            <a:ext cx="1045845" cy="2876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3190" name="Rectangle 6"/>
          <p:cNvSpPr/>
          <p:nvPr/>
        </p:nvSpPr>
        <p:spPr>
          <a:xfrm>
            <a:off x="1637030" y="4915535"/>
            <a:ext cx="787400" cy="2876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3191" name="Rectangle 7"/>
          <p:cNvSpPr/>
          <p:nvPr/>
        </p:nvSpPr>
        <p:spPr>
          <a:xfrm>
            <a:off x="1637030" y="2716530"/>
            <a:ext cx="1150938" cy="28733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10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10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3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93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3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93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"/>
                  </p:tgtEl>
                </p:cond>
              </p:nextCondLst>
            </p:seq>
          </p:childTnLst>
        </p:cTn>
      </p:par>
    </p:tnLst>
    <p:bldLst>
      <p:bldP spid="93188" grpId="0" bldLvl="0" animBg="1"/>
      <p:bldP spid="93189" grpId="0" bldLvl="0" animBg="1"/>
      <p:bldP spid="93190" grpId="0" bldLvl="0" animBg="1"/>
      <p:bldP spid="93191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AutoShape 2"/>
          <p:cNvSpPr>
            <a:spLocks noGrp="1" noChangeArrowheads="1"/>
          </p:cNvSpPr>
          <p:nvPr>
            <p:ph type="title"/>
          </p:nvPr>
        </p:nvSpPr>
        <p:spPr>
          <a:xfrm>
            <a:off x="2371725" y="367666"/>
            <a:ext cx="2630805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查找：</a:t>
            </a: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skipSearch()</a:t>
            </a:r>
            <a:endParaRPr kumimoji="0" lang="en-US" altLang="zh-CN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Autofit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6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template &lt;typename K, typename V&gt; bool Skiplist&lt;K, V&gt;::skipSearch(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ListNode&lt;Quadlist&lt;Entry&lt;K, V&gt;&gt;*&gt;* &amp;qlist,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从指定层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qlist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QuadlistNode&lt;Entry&lt;K, V&gt;&gt;* &amp;p,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首节点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出发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K&amp; k) {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向右、向下查找目标关键码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while (true) {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在每一层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(p-&gt;succ &amp;&amp; (p-&gt;entry.key &lt;= k))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从前向后查找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p = p-&gt;succ;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直到出现更大的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或溢出至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trailer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p = p-&gt;pred;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再倒回一步，即可判断是否命中</a:t>
            </a:r>
            <a:b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(p-&gt;pred &amp;&amp; (k == p-&gt;entry.key)) return true;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命中则成功返回</a:t>
            </a:r>
            <a:b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qlist = qlist-&gt;succ;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否则转入下一层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(!qlist-&gt;succ) return false;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若已到穿透底层，则意味着失败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 = (p-&gt;pred) ?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否则转至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p-&gt;below : qlist-&gt;data-&gt;first();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当前塔的下一节点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4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41130" y="3749675"/>
            <a:ext cx="26714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传递参数</a:t>
            </a:r>
            <a:r>
              <a:rPr lang="en-US" altLang="zh-CN"/>
              <a:t>p</a:t>
            </a:r>
            <a:r>
              <a:rPr lang="zh-CN" altLang="en-US"/>
              <a:t>，</a:t>
            </a:r>
            <a:r>
              <a:rPr lang="zh-CN" altLang="en-US"/>
              <a:t>返回查找成功的结点或者查找不成功的最底层的前驱结点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查找：实例</a:t>
            </a:r>
            <a:endParaRPr lang="zh-CN" altLang="en-US" smtClean="0">
              <a:sym typeface="+mn-ea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69882" y="1101690"/>
            <a:ext cx="10852237" cy="5041355"/>
          </a:xfrm>
        </p:spPr>
        <p:txBody>
          <a:bodyPr vert="horz" wrap="none" lIns="144000" tIns="72000" rIns="0" bIns="72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5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975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实例：	成功（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21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34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89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），失败（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80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99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975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体会：	得益于哨兵的设置，哪些环节被简化了？</a:t>
            </a:r>
            <a:b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无论成功或失败，如何保证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为其中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不大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于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最大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者？	</a:t>
            </a: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975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思考：	查找时间取决于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横向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纵向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的累计跳转次数</a:t>
            </a:r>
            <a:b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那么，是否可能因层次过多，首先导致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纵向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跳转过多？</a:t>
            </a: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791" name="AutoShape 167"/>
          <p:cNvSpPr/>
          <p:nvPr/>
        </p:nvSpPr>
        <p:spPr>
          <a:xfrm>
            <a:off x="4175125" y="3068638"/>
            <a:ext cx="434975" cy="8651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792" name="AutoShape 168"/>
          <p:cNvSpPr/>
          <p:nvPr/>
        </p:nvSpPr>
        <p:spPr>
          <a:xfrm>
            <a:off x="4764088" y="3502025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793" name="AutoShape 169"/>
          <p:cNvSpPr/>
          <p:nvPr/>
        </p:nvSpPr>
        <p:spPr>
          <a:xfrm>
            <a:off x="5354638" y="3502025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794" name="AutoShape 170"/>
          <p:cNvSpPr/>
          <p:nvPr/>
        </p:nvSpPr>
        <p:spPr>
          <a:xfrm>
            <a:off x="6532563" y="3502025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795" name="AutoShape 171"/>
          <p:cNvSpPr/>
          <p:nvPr/>
        </p:nvSpPr>
        <p:spPr>
          <a:xfrm>
            <a:off x="7121525" y="3502025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796" name="AutoShape 172"/>
          <p:cNvSpPr/>
          <p:nvPr/>
        </p:nvSpPr>
        <p:spPr>
          <a:xfrm>
            <a:off x="8301038" y="3502025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797" name="AutoShape 173"/>
          <p:cNvSpPr/>
          <p:nvPr/>
        </p:nvSpPr>
        <p:spPr>
          <a:xfrm>
            <a:off x="7712075" y="2636838"/>
            <a:ext cx="434975" cy="12969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798" name="AutoShape 174"/>
          <p:cNvSpPr/>
          <p:nvPr/>
        </p:nvSpPr>
        <p:spPr>
          <a:xfrm>
            <a:off x="5943600" y="2205038"/>
            <a:ext cx="434975" cy="17287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799" name="AutoShape 175"/>
          <p:cNvSpPr/>
          <p:nvPr/>
        </p:nvSpPr>
        <p:spPr>
          <a:xfrm>
            <a:off x="3586163" y="3502025"/>
            <a:ext cx="434975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800" name="AutoShape 176"/>
          <p:cNvSpPr/>
          <p:nvPr/>
        </p:nvSpPr>
        <p:spPr>
          <a:xfrm>
            <a:off x="8890000" y="3068638"/>
            <a:ext cx="434975" cy="8651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801" name="AutoShape 177"/>
          <p:cNvSpPr/>
          <p:nvPr/>
        </p:nvSpPr>
        <p:spPr>
          <a:xfrm>
            <a:off x="9480550" y="1773238"/>
            <a:ext cx="434975" cy="21605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802" name="AutoShape 178"/>
          <p:cNvSpPr/>
          <p:nvPr/>
        </p:nvSpPr>
        <p:spPr>
          <a:xfrm>
            <a:off x="2997200" y="1773238"/>
            <a:ext cx="434975" cy="21605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969696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803" name="AutoShape 179"/>
          <p:cNvSpPr/>
          <p:nvPr/>
        </p:nvSpPr>
        <p:spPr>
          <a:xfrm>
            <a:off x="4249738" y="36083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04" name="AutoShape 180"/>
          <p:cNvCxnSpPr>
            <a:stCxn id="26803" idx="3"/>
            <a:endCxn id="26805" idx="1"/>
          </p:cNvCxnSpPr>
          <p:nvPr/>
        </p:nvCxnSpPr>
        <p:spPr>
          <a:xfrm>
            <a:off x="4548188" y="3716338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05" name="AutoShape 181"/>
          <p:cNvSpPr/>
          <p:nvPr/>
        </p:nvSpPr>
        <p:spPr>
          <a:xfrm>
            <a:off x="4838700" y="36083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06" name="AutoShape 182"/>
          <p:cNvCxnSpPr>
            <a:stCxn id="26805" idx="3"/>
            <a:endCxn id="26807" idx="1"/>
          </p:cNvCxnSpPr>
          <p:nvPr/>
        </p:nvCxnSpPr>
        <p:spPr>
          <a:xfrm>
            <a:off x="5137150" y="3716338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07" name="AutoShape 183"/>
          <p:cNvSpPr/>
          <p:nvPr/>
        </p:nvSpPr>
        <p:spPr>
          <a:xfrm>
            <a:off x="5427663" y="36083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08" name="AutoShape 184"/>
          <p:cNvCxnSpPr>
            <a:stCxn id="26807" idx="3"/>
            <a:endCxn id="26809" idx="1"/>
          </p:cNvCxnSpPr>
          <p:nvPr/>
        </p:nvCxnSpPr>
        <p:spPr>
          <a:xfrm>
            <a:off x="5726113" y="3716338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09" name="AutoShape 185"/>
          <p:cNvSpPr/>
          <p:nvPr/>
        </p:nvSpPr>
        <p:spPr>
          <a:xfrm>
            <a:off x="6016625" y="36083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10" name="AutoShape 186"/>
          <p:cNvCxnSpPr>
            <a:stCxn id="26809" idx="3"/>
            <a:endCxn id="26811" idx="1"/>
          </p:cNvCxnSpPr>
          <p:nvPr/>
        </p:nvCxnSpPr>
        <p:spPr>
          <a:xfrm>
            <a:off x="6315075" y="3716338"/>
            <a:ext cx="280988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11" name="AutoShape 187"/>
          <p:cNvSpPr/>
          <p:nvPr/>
        </p:nvSpPr>
        <p:spPr>
          <a:xfrm>
            <a:off x="6607175" y="36083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12" name="AutoShape 188"/>
          <p:cNvCxnSpPr>
            <a:stCxn id="26811" idx="3"/>
            <a:endCxn id="26813" idx="1"/>
          </p:cNvCxnSpPr>
          <p:nvPr/>
        </p:nvCxnSpPr>
        <p:spPr>
          <a:xfrm>
            <a:off x="6905625" y="3716338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13" name="AutoShape 189"/>
          <p:cNvSpPr/>
          <p:nvPr/>
        </p:nvSpPr>
        <p:spPr>
          <a:xfrm>
            <a:off x="7196138" y="36083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14" name="AutoShape 190"/>
          <p:cNvCxnSpPr>
            <a:stCxn id="26813" idx="3"/>
            <a:endCxn id="26815" idx="1"/>
          </p:cNvCxnSpPr>
          <p:nvPr/>
        </p:nvCxnSpPr>
        <p:spPr>
          <a:xfrm>
            <a:off x="7494588" y="3716338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15" name="AutoShape 191"/>
          <p:cNvSpPr/>
          <p:nvPr/>
        </p:nvSpPr>
        <p:spPr>
          <a:xfrm>
            <a:off x="7785100" y="36083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16" name="AutoShape 192"/>
          <p:cNvCxnSpPr>
            <a:stCxn id="26815" idx="3"/>
            <a:endCxn id="26817" idx="1"/>
          </p:cNvCxnSpPr>
          <p:nvPr/>
        </p:nvCxnSpPr>
        <p:spPr>
          <a:xfrm>
            <a:off x="8083550" y="3716338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17" name="AutoShape 193"/>
          <p:cNvSpPr/>
          <p:nvPr/>
        </p:nvSpPr>
        <p:spPr>
          <a:xfrm>
            <a:off x="8374063" y="36083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18" name="AutoShape 194"/>
          <p:cNvCxnSpPr>
            <a:stCxn id="26824" idx="3"/>
            <a:endCxn id="26819" idx="1"/>
          </p:cNvCxnSpPr>
          <p:nvPr/>
        </p:nvCxnSpPr>
        <p:spPr>
          <a:xfrm>
            <a:off x="9261475" y="3716338"/>
            <a:ext cx="280988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19" name="AutoShape 195"/>
          <p:cNvSpPr/>
          <p:nvPr/>
        </p:nvSpPr>
        <p:spPr>
          <a:xfrm>
            <a:off x="9553575" y="36083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820" name="AutoShape 196"/>
          <p:cNvSpPr/>
          <p:nvPr/>
        </p:nvSpPr>
        <p:spPr>
          <a:xfrm>
            <a:off x="3071813" y="36083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26821" name="AutoShape 197"/>
          <p:cNvCxnSpPr>
            <a:stCxn id="26820" idx="3"/>
            <a:endCxn id="26825" idx="1"/>
          </p:cNvCxnSpPr>
          <p:nvPr/>
        </p:nvCxnSpPr>
        <p:spPr>
          <a:xfrm>
            <a:off x="3370263" y="3716338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22" name="AutoShape 198"/>
          <p:cNvSpPr/>
          <p:nvPr/>
        </p:nvSpPr>
        <p:spPr>
          <a:xfrm>
            <a:off x="2279650" y="3573463"/>
            <a:ext cx="431800" cy="287337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S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26823" name="AutoShape 199"/>
          <p:cNvCxnSpPr>
            <a:stCxn id="26817" idx="3"/>
            <a:endCxn id="26824" idx="1"/>
          </p:cNvCxnSpPr>
          <p:nvPr/>
        </p:nvCxnSpPr>
        <p:spPr>
          <a:xfrm>
            <a:off x="8672513" y="3716338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24" name="AutoShape 200"/>
          <p:cNvSpPr/>
          <p:nvPr/>
        </p:nvSpPr>
        <p:spPr>
          <a:xfrm>
            <a:off x="8963025" y="36083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6825" name="AutoShape 201"/>
          <p:cNvSpPr/>
          <p:nvPr/>
        </p:nvSpPr>
        <p:spPr>
          <a:xfrm>
            <a:off x="3660775" y="36083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26" name="AutoShape 202"/>
          <p:cNvCxnSpPr>
            <a:stCxn id="26825" idx="3"/>
            <a:endCxn id="26803" idx="1"/>
          </p:cNvCxnSpPr>
          <p:nvPr/>
        </p:nvCxnSpPr>
        <p:spPr>
          <a:xfrm>
            <a:off x="3959225" y="3716338"/>
            <a:ext cx="2794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27" name="AutoShape 203"/>
          <p:cNvSpPr/>
          <p:nvPr/>
        </p:nvSpPr>
        <p:spPr>
          <a:xfrm>
            <a:off x="4249738" y="31765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28" name="AutoShape 204"/>
          <p:cNvCxnSpPr>
            <a:stCxn id="26827" idx="3"/>
            <a:endCxn id="26829" idx="1"/>
          </p:cNvCxnSpPr>
          <p:nvPr/>
        </p:nvCxnSpPr>
        <p:spPr>
          <a:xfrm>
            <a:off x="4548188" y="3284538"/>
            <a:ext cx="1457325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29" name="AutoShape 205"/>
          <p:cNvSpPr/>
          <p:nvPr/>
        </p:nvSpPr>
        <p:spPr>
          <a:xfrm>
            <a:off x="6016625" y="31765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30" name="AutoShape 206"/>
          <p:cNvCxnSpPr>
            <a:stCxn id="26829" idx="3"/>
            <a:endCxn id="26831" idx="1"/>
          </p:cNvCxnSpPr>
          <p:nvPr/>
        </p:nvCxnSpPr>
        <p:spPr>
          <a:xfrm>
            <a:off x="6315075" y="3284538"/>
            <a:ext cx="1458913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31" name="AutoShape 207"/>
          <p:cNvSpPr/>
          <p:nvPr/>
        </p:nvSpPr>
        <p:spPr>
          <a:xfrm>
            <a:off x="7785100" y="31765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32" name="AutoShape 208"/>
          <p:cNvCxnSpPr>
            <a:stCxn id="26838" idx="3"/>
            <a:endCxn id="26833" idx="1"/>
          </p:cNvCxnSpPr>
          <p:nvPr/>
        </p:nvCxnSpPr>
        <p:spPr>
          <a:xfrm>
            <a:off x="9261475" y="3284538"/>
            <a:ext cx="280988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33" name="AutoShape 209"/>
          <p:cNvSpPr/>
          <p:nvPr/>
        </p:nvSpPr>
        <p:spPr>
          <a:xfrm>
            <a:off x="9553575" y="31765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834" name="AutoShape 210"/>
          <p:cNvSpPr/>
          <p:nvPr/>
        </p:nvSpPr>
        <p:spPr>
          <a:xfrm>
            <a:off x="3071813" y="31765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26835" name="AutoShape 211"/>
          <p:cNvCxnSpPr>
            <a:stCxn id="26834" idx="3"/>
            <a:endCxn id="26827" idx="1"/>
          </p:cNvCxnSpPr>
          <p:nvPr/>
        </p:nvCxnSpPr>
        <p:spPr>
          <a:xfrm>
            <a:off x="3370263" y="3284538"/>
            <a:ext cx="868362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36" name="AutoShape 212"/>
          <p:cNvSpPr/>
          <p:nvPr/>
        </p:nvSpPr>
        <p:spPr>
          <a:xfrm>
            <a:off x="2279650" y="3141663"/>
            <a:ext cx="431800" cy="287337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S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26837" name="AutoShape 213"/>
          <p:cNvCxnSpPr>
            <a:stCxn id="26831" idx="3"/>
            <a:endCxn id="26838" idx="1"/>
          </p:cNvCxnSpPr>
          <p:nvPr/>
        </p:nvCxnSpPr>
        <p:spPr>
          <a:xfrm>
            <a:off x="8083550" y="3284538"/>
            <a:ext cx="868363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38" name="AutoShape 214"/>
          <p:cNvSpPr/>
          <p:nvPr/>
        </p:nvSpPr>
        <p:spPr>
          <a:xfrm>
            <a:off x="8963025" y="31765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6839" name="AutoShape 215"/>
          <p:cNvSpPr/>
          <p:nvPr/>
        </p:nvSpPr>
        <p:spPr>
          <a:xfrm>
            <a:off x="6024563" y="27447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40" name="AutoShape 216"/>
          <p:cNvCxnSpPr>
            <a:stCxn id="26839" idx="3"/>
            <a:endCxn id="26841" idx="1"/>
          </p:cNvCxnSpPr>
          <p:nvPr/>
        </p:nvCxnSpPr>
        <p:spPr>
          <a:xfrm>
            <a:off x="6323013" y="2852738"/>
            <a:ext cx="1450975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41" name="AutoShape 217"/>
          <p:cNvSpPr/>
          <p:nvPr/>
        </p:nvSpPr>
        <p:spPr>
          <a:xfrm>
            <a:off x="7785100" y="27447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6842" name="AutoShape 218"/>
          <p:cNvSpPr/>
          <p:nvPr/>
        </p:nvSpPr>
        <p:spPr>
          <a:xfrm>
            <a:off x="9553575" y="27447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843" name="AutoShape 219"/>
          <p:cNvSpPr/>
          <p:nvPr/>
        </p:nvSpPr>
        <p:spPr>
          <a:xfrm>
            <a:off x="3071813" y="27447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26844" name="AutoShape 220"/>
          <p:cNvCxnSpPr>
            <a:stCxn id="26843" idx="3"/>
            <a:endCxn id="26839" idx="1"/>
          </p:cNvCxnSpPr>
          <p:nvPr/>
        </p:nvCxnSpPr>
        <p:spPr>
          <a:xfrm>
            <a:off x="3370263" y="2852738"/>
            <a:ext cx="2643187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45" name="AutoShape 221"/>
          <p:cNvSpPr/>
          <p:nvPr/>
        </p:nvSpPr>
        <p:spPr>
          <a:xfrm>
            <a:off x="2279650" y="2709863"/>
            <a:ext cx="431800" cy="287337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S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26846" name="AutoShape 222"/>
          <p:cNvCxnSpPr>
            <a:stCxn id="26841" idx="3"/>
            <a:endCxn id="26842" idx="1"/>
          </p:cNvCxnSpPr>
          <p:nvPr/>
        </p:nvCxnSpPr>
        <p:spPr>
          <a:xfrm>
            <a:off x="8083550" y="2852738"/>
            <a:ext cx="1458913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47" name="AutoShape 223"/>
          <p:cNvSpPr/>
          <p:nvPr/>
        </p:nvSpPr>
        <p:spPr>
          <a:xfrm>
            <a:off x="6024563" y="23129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848" name="AutoShape 224"/>
          <p:cNvCxnSpPr>
            <a:stCxn id="26847" idx="3"/>
            <a:endCxn id="26849" idx="1"/>
          </p:cNvCxnSpPr>
          <p:nvPr/>
        </p:nvCxnSpPr>
        <p:spPr>
          <a:xfrm>
            <a:off x="6323013" y="2420938"/>
            <a:ext cx="321945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49" name="AutoShape 225"/>
          <p:cNvSpPr/>
          <p:nvPr/>
        </p:nvSpPr>
        <p:spPr>
          <a:xfrm>
            <a:off x="9553575" y="23129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850" name="AutoShape 226"/>
          <p:cNvSpPr/>
          <p:nvPr/>
        </p:nvSpPr>
        <p:spPr>
          <a:xfrm>
            <a:off x="3071813" y="23129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26851" name="AutoShape 227"/>
          <p:cNvCxnSpPr>
            <a:stCxn id="26850" idx="3"/>
            <a:endCxn id="26847" idx="1"/>
          </p:cNvCxnSpPr>
          <p:nvPr/>
        </p:nvCxnSpPr>
        <p:spPr>
          <a:xfrm>
            <a:off x="3370263" y="2420938"/>
            <a:ext cx="2643187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52" name="AutoShape 228"/>
          <p:cNvSpPr/>
          <p:nvPr/>
        </p:nvSpPr>
        <p:spPr>
          <a:xfrm>
            <a:off x="2279650" y="2278063"/>
            <a:ext cx="431800" cy="287337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S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853" name="AutoShape 229"/>
          <p:cNvSpPr/>
          <p:nvPr/>
        </p:nvSpPr>
        <p:spPr>
          <a:xfrm>
            <a:off x="9553575" y="1881188"/>
            <a:ext cx="287338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854" name="AutoShape 230"/>
          <p:cNvSpPr/>
          <p:nvPr/>
        </p:nvSpPr>
        <p:spPr>
          <a:xfrm>
            <a:off x="3071813" y="1881188"/>
            <a:ext cx="287337" cy="2159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1C0808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26855" name="AutoShape 231"/>
          <p:cNvCxnSpPr>
            <a:stCxn id="26854" idx="3"/>
            <a:endCxn id="26853" idx="1"/>
          </p:cNvCxnSpPr>
          <p:nvPr/>
        </p:nvCxnSpPr>
        <p:spPr>
          <a:xfrm>
            <a:off x="3370263" y="1989138"/>
            <a:ext cx="6172200" cy="0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56" name="AutoShape 232"/>
          <p:cNvSpPr/>
          <p:nvPr/>
        </p:nvSpPr>
        <p:spPr>
          <a:xfrm>
            <a:off x="2279650" y="1846263"/>
            <a:ext cx="431800" cy="287337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algn="ctr"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S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solidFill>
                <a:srgbClr val="1C0808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26857" name="AutoShape 233"/>
          <p:cNvCxnSpPr>
            <a:stCxn id="26827" idx="2"/>
            <a:endCxn id="26803" idx="0"/>
          </p:cNvCxnSpPr>
          <p:nvPr/>
        </p:nvCxnSpPr>
        <p:spPr>
          <a:xfrm>
            <a:off x="4394200" y="34036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58" name="AutoShape 234"/>
          <p:cNvCxnSpPr>
            <a:stCxn id="26829" idx="2"/>
            <a:endCxn id="26809" idx="0"/>
          </p:cNvCxnSpPr>
          <p:nvPr/>
        </p:nvCxnSpPr>
        <p:spPr>
          <a:xfrm>
            <a:off x="6161088" y="34036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59" name="AutoShape 235"/>
          <p:cNvCxnSpPr>
            <a:stCxn id="26839" idx="2"/>
            <a:endCxn id="26829" idx="0"/>
          </p:cNvCxnSpPr>
          <p:nvPr/>
        </p:nvCxnSpPr>
        <p:spPr>
          <a:xfrm flipH="1">
            <a:off x="6161088" y="2971800"/>
            <a:ext cx="7937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60" name="AutoShape 236"/>
          <p:cNvCxnSpPr>
            <a:stCxn id="26847" idx="2"/>
            <a:endCxn id="26839" idx="0"/>
          </p:cNvCxnSpPr>
          <p:nvPr/>
        </p:nvCxnSpPr>
        <p:spPr>
          <a:xfrm>
            <a:off x="6169025" y="25400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61" name="AutoShape 237"/>
          <p:cNvCxnSpPr>
            <a:stCxn id="26831" idx="2"/>
            <a:endCxn id="26815" idx="0"/>
          </p:cNvCxnSpPr>
          <p:nvPr/>
        </p:nvCxnSpPr>
        <p:spPr>
          <a:xfrm>
            <a:off x="7929563" y="34036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62" name="AutoShape 238"/>
          <p:cNvCxnSpPr>
            <a:stCxn id="26841" idx="2"/>
            <a:endCxn id="26831" idx="0"/>
          </p:cNvCxnSpPr>
          <p:nvPr/>
        </p:nvCxnSpPr>
        <p:spPr>
          <a:xfrm>
            <a:off x="7929563" y="29718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63" name="AutoShape 239"/>
          <p:cNvCxnSpPr>
            <a:stCxn id="26838" idx="2"/>
            <a:endCxn id="26824" idx="0"/>
          </p:cNvCxnSpPr>
          <p:nvPr/>
        </p:nvCxnSpPr>
        <p:spPr>
          <a:xfrm>
            <a:off x="9107488" y="34036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64" name="AutoShape 240"/>
          <p:cNvCxnSpPr>
            <a:stCxn id="26854" idx="2"/>
            <a:endCxn id="26850" idx="0"/>
          </p:cNvCxnSpPr>
          <p:nvPr/>
        </p:nvCxnSpPr>
        <p:spPr>
          <a:xfrm>
            <a:off x="3216275" y="21082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65" name="AutoShape 241"/>
          <p:cNvCxnSpPr>
            <a:stCxn id="26850" idx="2"/>
            <a:endCxn id="26843" idx="0"/>
          </p:cNvCxnSpPr>
          <p:nvPr/>
        </p:nvCxnSpPr>
        <p:spPr>
          <a:xfrm>
            <a:off x="3216275" y="25400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66" name="AutoShape 242"/>
          <p:cNvCxnSpPr>
            <a:stCxn id="26843" idx="2"/>
            <a:endCxn id="26834" idx="0"/>
          </p:cNvCxnSpPr>
          <p:nvPr/>
        </p:nvCxnSpPr>
        <p:spPr>
          <a:xfrm>
            <a:off x="3216275" y="29718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67" name="AutoShape 243"/>
          <p:cNvCxnSpPr>
            <a:stCxn id="26834" idx="2"/>
            <a:endCxn id="26820" idx="0"/>
          </p:cNvCxnSpPr>
          <p:nvPr/>
        </p:nvCxnSpPr>
        <p:spPr>
          <a:xfrm>
            <a:off x="3216275" y="34036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68" name="AutoShape 244"/>
          <p:cNvCxnSpPr>
            <a:stCxn id="26853" idx="2"/>
            <a:endCxn id="26849" idx="0"/>
          </p:cNvCxnSpPr>
          <p:nvPr/>
        </p:nvCxnSpPr>
        <p:spPr>
          <a:xfrm>
            <a:off x="9698038" y="21082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69" name="AutoShape 245"/>
          <p:cNvCxnSpPr>
            <a:stCxn id="26849" idx="2"/>
            <a:endCxn id="26842" idx="0"/>
          </p:cNvCxnSpPr>
          <p:nvPr/>
        </p:nvCxnSpPr>
        <p:spPr>
          <a:xfrm>
            <a:off x="9698038" y="25400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70" name="AutoShape 246"/>
          <p:cNvCxnSpPr>
            <a:stCxn id="26842" idx="2"/>
            <a:endCxn id="26833" idx="0"/>
          </p:cNvCxnSpPr>
          <p:nvPr/>
        </p:nvCxnSpPr>
        <p:spPr>
          <a:xfrm>
            <a:off x="9698038" y="29718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71" name="AutoShape 247"/>
          <p:cNvCxnSpPr>
            <a:stCxn id="26833" idx="2"/>
            <a:endCxn id="26819" idx="0"/>
          </p:cNvCxnSpPr>
          <p:nvPr/>
        </p:nvCxnSpPr>
        <p:spPr>
          <a:xfrm>
            <a:off x="9698038" y="3403600"/>
            <a:ext cx="0" cy="193675"/>
          </a:xfrm>
          <a:prstGeom prst="straightConnector1">
            <a:avLst/>
          </a:prstGeom>
          <a:ln w="22225" cap="flat" cmpd="sng">
            <a:solidFill>
              <a:srgbClr val="333333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8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268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268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268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268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03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68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300" fill="hold"/>
                                        <p:tgtEl>
                                          <p:spTgt spid="268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268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0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68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268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268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268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300" fill="hold"/>
                                        <p:tgtEl>
                                          <p:spTgt spid="268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05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268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268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268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06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268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268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268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268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300" fill="hold"/>
                                        <p:tgtEl>
                                          <p:spTgt spid="268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07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268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268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268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08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68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268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268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268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300" fill="hold"/>
                                        <p:tgtEl>
                                          <p:spTgt spid="268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0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68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268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268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10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268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268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268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268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268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11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68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268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268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12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268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268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268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268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300" fill="hold"/>
                                        <p:tgtEl>
                                          <p:spTgt spid="268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13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268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268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268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14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68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268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268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268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268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1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268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268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268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16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268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268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268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268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268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17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268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268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268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18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268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300" fill="hold"/>
                                        <p:tgtEl>
                                          <p:spTgt spid="268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268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268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268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19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268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268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268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268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268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20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268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268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268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2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21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68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268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2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68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268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268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2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23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68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268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268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268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268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2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68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268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268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268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268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2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268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268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268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2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26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268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268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268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268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" dur="300" fill="hold"/>
                                        <p:tgtEl>
                                          <p:spTgt spid="268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27"/>
                  </p:tgtEl>
                </p:cond>
              </p:nextCondLst>
            </p:seq>
            <p:seq concurrent="1" nextAc="seek">
              <p:cTn id="234" restart="whenNotActive" fill="hold" evtFilter="cancelBubble" nodeType="interactiveSeq">
                <p:stCondLst>
                  <p:cond evt="onClick" delay="0">
                    <p:tgtEl>
                      <p:spTgt spid="268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5" fill="hold">
                      <p:stCondLst>
                        <p:cond delay="0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268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268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2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28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268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268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268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268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268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29"/>
                  </p:tgtEl>
                </p:cond>
              </p:nextCondLst>
            </p:seq>
            <p:seq concurrent="1" nextAc="seek">
              <p:cTn id="253" restart="whenNotActive" fill="hold" evtFilter="cancelBubble" nodeType="interactiveSeq">
                <p:stCondLst>
                  <p:cond evt="onClick" delay="0">
                    <p:tgtEl>
                      <p:spTgt spid="268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268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268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500"/>
                            </p:stCondLst>
                            <p:childTnLst>
                              <p:par>
                                <p:cTn id="2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26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30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268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268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268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268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1" dur="300" fill="hold"/>
                                        <p:tgtEl>
                                          <p:spTgt spid="268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31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268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268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268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500"/>
                            </p:stCondLst>
                            <p:childTnLst>
                              <p:par>
                                <p:cTn id="2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2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32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268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268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268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268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268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33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268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268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268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268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300" fill="hold"/>
                                        <p:tgtEl>
                                          <p:spTgt spid="268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34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268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268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268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500"/>
                            </p:stCondLst>
                            <p:childTnLst>
                              <p:par>
                                <p:cTn id="3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26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35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268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268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36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268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268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268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2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37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268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268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268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268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268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38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268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268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268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268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268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39"/>
                  </p:tgtEl>
                </p:cond>
              </p:nextCondLst>
            </p:seq>
            <p:seq concurrent="1" nextAc="seek">
              <p:cTn id="343" restart="whenNotActive" fill="hold" evtFilter="cancelBubble" nodeType="interactiveSeq">
                <p:stCondLst>
                  <p:cond evt="onClick" delay="0">
                    <p:tgtEl>
                      <p:spTgt spid="268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268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268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00"/>
                            </p:stCondLst>
                            <p:childTnLst>
                              <p:par>
                                <p:cTn id="3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2" dur="500"/>
                                        <p:tgtEl>
                                          <p:spTgt spid="2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40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68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268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268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268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268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41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268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268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268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268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300" fill="hold"/>
                                        <p:tgtEl>
                                          <p:spTgt spid="268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42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268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268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268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268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268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4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268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268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268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500"/>
                            </p:stCondLst>
                            <p:childTnLst>
                              <p:par>
                                <p:cTn id="3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9" dur="500"/>
                                        <p:tgtEl>
                                          <p:spTgt spid="26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44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268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268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45"/>
                  </p:tgtEl>
                </p:cond>
              </p:nextCondLst>
            </p:seq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268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9" dur="300" fill="hold"/>
                                        <p:tgtEl>
                                          <p:spTgt spid="268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0" dur="300" fill="hold"/>
                                        <p:tgtEl>
                                          <p:spTgt spid="268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500"/>
                            </p:stCondLst>
                            <p:childTnLst>
                              <p:par>
                                <p:cTn id="4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4" dur="500"/>
                                        <p:tgtEl>
                                          <p:spTgt spid="26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46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68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9" dur="300" fill="hold"/>
                                        <p:tgtEl>
                                          <p:spTgt spid="268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268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268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3" dur="300" fill="hold"/>
                                        <p:tgtEl>
                                          <p:spTgt spid="268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47"/>
                  </p:tgtEl>
                </p:cond>
              </p:nextCondLst>
            </p:seq>
            <p:seq concurrent="1" nextAc="seek">
              <p:cTn id="414" restart="whenNotActive" fill="hold" evtFilter="cancelBubble" nodeType="interactiveSeq">
                <p:stCondLst>
                  <p:cond evt="onClick" delay="0">
                    <p:tgtEl>
                      <p:spTgt spid="268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5" fill="hold">
                      <p:stCondLst>
                        <p:cond delay="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268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268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500"/>
                            </p:stCondLst>
                            <p:childTnLst>
                              <p:par>
                                <p:cTn id="4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3" dur="500"/>
                                        <p:tgtEl>
                                          <p:spTgt spid="26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48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268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268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268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268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268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49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268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268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268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268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268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50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268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300" fill="hold"/>
                                        <p:tgtEl>
                                          <p:spTgt spid="268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268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500"/>
                            </p:stCondLst>
                            <p:childTnLst>
                              <p:par>
                                <p:cTn id="4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1" dur="500"/>
                                        <p:tgtEl>
                                          <p:spTgt spid="2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51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268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6" dur="300" fill="hold"/>
                                        <p:tgtEl>
                                          <p:spTgt spid="268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52"/>
                  </p:tgtEl>
                </p:cond>
              </p:nextCondLst>
            </p:seq>
            <p:seq concurrent="1" nextAc="seek">
              <p:cTn id="457" restart="whenNotActive" fill="hold" evtFilter="cancelBubble" nodeType="interactiveSeq">
                <p:stCondLst>
                  <p:cond evt="onClick" delay="0">
                    <p:tgtEl>
                      <p:spTgt spid="268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268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268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268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5" dur="300" fill="hold"/>
                                        <p:tgtEl>
                                          <p:spTgt spid="268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53"/>
                  </p:tgtEl>
                </p:cond>
              </p:nextCondLst>
            </p:seq>
            <p:seq concurrent="1" nextAc="seek">
              <p:cTn id="466" restart="whenNotActive" fill="hold" evtFilter="cancelBubble" nodeType="interactiveSeq">
                <p:stCondLst>
                  <p:cond evt="onClick" delay="0">
                    <p:tgtEl>
                      <p:spTgt spid="268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268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268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2" dur="300" fill="hold"/>
                                        <p:tgtEl>
                                          <p:spTgt spid="268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268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54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268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300" fill="hold"/>
                                        <p:tgtEl>
                                          <p:spTgt spid="268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268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1" fill="hold">
                            <p:stCondLst>
                              <p:cond delay="500"/>
                            </p:stCondLst>
                            <p:childTnLst>
                              <p:par>
                                <p:cTn id="4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4" dur="500"/>
                                        <p:tgtEl>
                                          <p:spTgt spid="2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55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268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9" dur="300" fill="hold"/>
                                        <p:tgtEl>
                                          <p:spTgt spid="268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56"/>
                  </p:tgtEl>
                </p:cond>
              </p:nextCondLst>
            </p:seq>
            <p:seq concurrent="1" nextAc="seek">
              <p:cTn id="490" restart="whenNotActive" fill="hold" evtFilter="cancelBubble" nodeType="interactiveSeq">
                <p:stCondLst>
                  <p:cond evt="onClick" delay="0">
                    <p:tgtEl>
                      <p:spTgt spid="268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1" fill="hold">
                      <p:stCondLst>
                        <p:cond delay="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268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268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fill="hold">
                            <p:stCondLst>
                              <p:cond delay="500"/>
                            </p:stCondLst>
                            <p:childTnLst>
                              <p:par>
                                <p:cTn id="4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9" dur="500"/>
                                        <p:tgtEl>
                                          <p:spTgt spid="26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57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268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268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268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>
                            <p:stCondLst>
                              <p:cond delay="500"/>
                            </p:stCondLst>
                            <p:childTnLst>
                              <p:par>
                                <p:cTn id="5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9" dur="500"/>
                                        <p:tgtEl>
                                          <p:spTgt spid="2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58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268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268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268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6" fill="hold">
                            <p:stCondLst>
                              <p:cond delay="500"/>
                            </p:stCondLst>
                            <p:childTnLst>
                              <p:par>
                                <p:cTn id="5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9" dur="500"/>
                                        <p:tgtEl>
                                          <p:spTgt spid="2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59"/>
                  </p:tgtEl>
                </p:cond>
              </p:nextCondLst>
            </p:seq>
            <p:seq concurrent="1" nextAc="seek">
              <p:cTn id="520" restart="whenNotActive" fill="hold" evtFilter="cancelBubble" nodeType="interactiveSeq">
                <p:stCondLst>
                  <p:cond evt="onClick" delay="0">
                    <p:tgtEl>
                      <p:spTgt spid="268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26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26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500"/>
                            </p:stCondLst>
                            <p:childTnLst>
                              <p:par>
                                <p:cTn id="5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9" dur="500"/>
                                        <p:tgtEl>
                                          <p:spTgt spid="26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60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268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26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26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fill="hold">
                            <p:stCondLst>
                              <p:cond delay="500"/>
                            </p:stCondLst>
                            <p:childTnLst>
                              <p:par>
                                <p:cTn id="5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9" dur="500"/>
                                        <p:tgtEl>
                                          <p:spTgt spid="2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61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268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26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26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6" fill="hold">
                            <p:stCondLst>
                              <p:cond delay="500"/>
                            </p:stCondLst>
                            <p:childTnLst>
                              <p:par>
                                <p:cTn id="5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9" dur="500"/>
                                        <p:tgtEl>
                                          <p:spTgt spid="26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62"/>
                  </p:tgtEl>
                </p:cond>
              </p:nextCondLst>
            </p:seq>
            <p:seq concurrent="1" nextAc="seek">
              <p:cTn id="550" restart="whenNotActive" fill="hold" evtFilter="cancelBubble" nodeType="interactiveSeq">
                <p:stCondLst>
                  <p:cond evt="onClick" delay="0">
                    <p:tgtEl>
                      <p:spTgt spid="268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1" fill="hold">
                      <p:stCondLst>
                        <p:cond delay="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26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26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6" fill="hold">
                            <p:stCondLst>
                              <p:cond delay="500"/>
                            </p:stCondLst>
                            <p:childTnLst>
                              <p:par>
                                <p:cTn id="5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9" dur="500"/>
                                        <p:tgtEl>
                                          <p:spTgt spid="2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63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268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268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268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6" dur="300" fill="hold"/>
                                        <p:tgtEl>
                                          <p:spTgt spid="268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02"/>
                  </p:tgtEl>
                </p:cond>
              </p:nextCondLst>
            </p:seq>
            <p:seq concurrent="1" nextAc="seek">
              <p:cTn id="567" restart="whenNotActive" fill="hold" evtFilter="cancelBubble" nodeType="interactiveSeq">
                <p:stCondLst>
                  <p:cond evt="onClick" delay="0">
                    <p:tgtEl>
                      <p:spTgt spid="268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1" dur="300" fill="hold"/>
                                        <p:tgtEl>
                                          <p:spTgt spid="268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268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268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01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268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>
                      <p:stCondLst>
                        <p:cond delay="0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268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268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268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00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267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267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267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267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91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267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2" dur="300" fill="hold"/>
                                        <p:tgtEl>
                                          <p:spTgt spid="267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593" dur="300" fill="hold"/>
                                        <p:tgtEl>
                                          <p:spTgt spid="267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4" dur="300" fill="hold"/>
                                        <p:tgtEl>
                                          <p:spTgt spid="267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99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267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267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267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267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9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267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267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267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267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93"/>
                  </p:tgtEl>
                </p:cond>
              </p:nextCondLst>
            </p:seq>
            <p:seq concurrent="1" nextAc="seek">
              <p:cTn id="609" restart="whenNotActive" fill="hold" evtFilter="cancelBubble" nodeType="interactiveSeq">
                <p:stCondLst>
                  <p:cond evt="onClick" delay="0">
                    <p:tgtEl>
                      <p:spTgt spid="267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3" dur="300" fill="hold"/>
                                        <p:tgtEl>
                                          <p:spTgt spid="267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14" dur="300" fill="hold"/>
                                        <p:tgtEl>
                                          <p:spTgt spid="267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5" dur="300" fill="hold"/>
                                        <p:tgtEl>
                                          <p:spTgt spid="267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94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267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267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267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267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95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267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267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267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267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96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267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4" dur="300" fill="hold"/>
                                        <p:tgtEl>
                                          <p:spTgt spid="267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35" dur="300" fill="hold"/>
                                        <p:tgtEl>
                                          <p:spTgt spid="267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6" dur="300" fill="hold"/>
                                        <p:tgtEl>
                                          <p:spTgt spid="267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97"/>
                  </p:tgtEl>
                </p:cond>
              </p:nextCondLst>
            </p:seq>
            <p:seq concurrent="1" nextAc="seek">
              <p:cTn id="637" restart="whenNotActive" fill="hold" evtFilter="cancelBubble" nodeType="interactiveSeq">
                <p:stCondLst>
                  <p:cond evt="onClick" delay="0">
                    <p:tgtEl>
                      <p:spTgt spid="267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8" fill="hold">
                      <p:stCondLst>
                        <p:cond delay="0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267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267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267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98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26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26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26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0" fill="hold">
                            <p:stCondLst>
                              <p:cond delay="500"/>
                            </p:stCondLst>
                            <p:childTnLst>
                              <p:par>
                                <p:cTn id="6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3" dur="500"/>
                                        <p:tgtEl>
                                          <p:spTgt spid="2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64"/>
                  </p:tgtEl>
                </p:cond>
              </p:nextCondLst>
            </p:seq>
            <p:seq concurrent="1" nextAc="seek">
              <p:cTn id="654" restart="whenNotActive" fill="hold" evtFilter="cancelBubble" nodeType="interactiveSeq">
                <p:stCondLst>
                  <p:cond evt="onClick" delay="0">
                    <p:tgtEl>
                      <p:spTgt spid="268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5" fill="hold">
                      <p:stCondLst>
                        <p:cond delay="0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26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26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0" fill="hold">
                            <p:stCondLst>
                              <p:cond delay="500"/>
                            </p:stCondLst>
                            <p:childTnLst>
                              <p:par>
                                <p:cTn id="6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3" dur="500"/>
                                        <p:tgtEl>
                                          <p:spTgt spid="2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65"/>
                  </p:tgtEl>
                </p:cond>
              </p:nextCondLst>
            </p:seq>
            <p:seq concurrent="1" nextAc="seek">
              <p:cTn id="664" restart="whenNotActive" fill="hold" evtFilter="cancelBubble" nodeType="interactiveSeq">
                <p:stCondLst>
                  <p:cond evt="onClick" delay="0">
                    <p:tgtEl>
                      <p:spTgt spid="268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268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268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0" fill="hold">
                            <p:stCondLst>
                              <p:cond delay="500"/>
                            </p:stCondLst>
                            <p:childTnLst>
                              <p:par>
                                <p:cTn id="6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3" dur="500"/>
                                        <p:tgtEl>
                                          <p:spTgt spid="2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66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268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26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26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500"/>
                            </p:stCondLst>
                            <p:childTnLst>
                              <p:par>
                                <p:cTn id="6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3" dur="500"/>
                                        <p:tgtEl>
                                          <p:spTgt spid="2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67"/>
                  </p:tgtEl>
                </p:cond>
              </p:nextCondLst>
            </p:seq>
            <p:seq concurrent="1" nextAc="seek">
              <p:cTn id="684" restart="whenNotActive" fill="hold" evtFilter="cancelBubble" nodeType="interactiveSeq">
                <p:stCondLst>
                  <p:cond evt="onClick" delay="0">
                    <p:tgtEl>
                      <p:spTgt spid="268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5" fill="hold">
                      <p:stCondLst>
                        <p:cond delay="0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8" dur="300" fill="hold"/>
                                        <p:tgtEl>
                                          <p:spTgt spid="268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9" dur="300" fill="hold"/>
                                        <p:tgtEl>
                                          <p:spTgt spid="268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500"/>
                            </p:stCondLst>
                            <p:childTnLst>
                              <p:par>
                                <p:cTn id="6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3" dur="500"/>
                                        <p:tgtEl>
                                          <p:spTgt spid="2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68"/>
                  </p:tgtEl>
                </p:cond>
              </p:nextCondLst>
            </p:seq>
            <p:seq concurrent="1" nextAc="seek">
              <p:cTn id="694" restart="whenNotActive" fill="hold" evtFilter="cancelBubble" nodeType="interactiveSeq">
                <p:stCondLst>
                  <p:cond evt="onClick" delay="0">
                    <p:tgtEl>
                      <p:spTgt spid="268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5" fill="hold">
                      <p:stCondLst>
                        <p:cond delay="0"/>
                      </p:stCondLst>
                      <p:childTnLst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8" dur="300" fill="hold"/>
                                        <p:tgtEl>
                                          <p:spTgt spid="26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26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0" fill="hold">
                            <p:stCondLst>
                              <p:cond delay="500"/>
                            </p:stCondLst>
                            <p:childTnLst>
                              <p:par>
                                <p:cTn id="7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3" dur="500"/>
                                        <p:tgtEl>
                                          <p:spTgt spid="2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69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268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26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26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0" fill="hold">
                            <p:stCondLst>
                              <p:cond delay="500"/>
                            </p:stCondLst>
                            <p:childTnLst>
                              <p:par>
                                <p:cTn id="7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3" dur="500"/>
                                        <p:tgtEl>
                                          <p:spTgt spid="2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70"/>
                  </p:tgtEl>
                </p:cond>
              </p:nextCondLst>
            </p:seq>
            <p:seq concurrent="1" nextAc="seek">
              <p:cTn id="714" restart="whenNotActive" fill="hold" evtFilter="cancelBubble" nodeType="interactiveSeq">
                <p:stCondLst>
                  <p:cond evt="onClick" delay="0">
                    <p:tgtEl>
                      <p:spTgt spid="268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5" fill="hold">
                      <p:stCondLst>
                        <p:cond delay="0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par>
                                <p:cTn id="7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8" dur="300" fill="hold"/>
                                        <p:tgtEl>
                                          <p:spTgt spid="268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268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0" fill="hold">
                            <p:stCondLst>
                              <p:cond delay="500"/>
                            </p:stCondLst>
                            <p:childTnLst>
                              <p:par>
                                <p:cTn id="7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3" dur="500"/>
                                        <p:tgtEl>
                                          <p:spTgt spid="2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71"/>
                  </p:tgtEl>
                </p:cond>
              </p:nextCondLst>
            </p:seq>
          </p:childTnLst>
        </p:cTn>
      </p:par>
    </p:tnLst>
    <p:bldLst>
      <p:bldP spid="26803" grpId="0" bldLvl="0" animBg="1"/>
      <p:bldP spid="26805" grpId="0" bldLvl="0" animBg="1"/>
      <p:bldP spid="26807" grpId="0" bldLvl="0" animBg="1"/>
      <p:bldP spid="26809" grpId="0" bldLvl="0" animBg="1"/>
      <p:bldP spid="26811" grpId="0" bldLvl="0" animBg="1"/>
      <p:bldP spid="26813" grpId="0" bldLvl="0" animBg="1"/>
      <p:bldP spid="26815" grpId="0" bldLvl="0" animBg="1"/>
      <p:bldP spid="26817" grpId="0" bldLvl="0" animBg="1"/>
      <p:bldP spid="26819" grpId="0" bldLvl="0" animBg="1"/>
      <p:bldP spid="26820" grpId="0" bldLvl="0" animBg="1"/>
      <p:bldP spid="26822" grpId="0"/>
      <p:bldP spid="26824" grpId="0" bldLvl="0" animBg="1"/>
      <p:bldP spid="26825" grpId="0" bldLvl="0" animBg="1"/>
      <p:bldP spid="26827" grpId="0" bldLvl="0" animBg="1"/>
      <p:bldP spid="26829" grpId="0" bldLvl="0" animBg="1"/>
      <p:bldP spid="26831" grpId="0" bldLvl="0" animBg="1"/>
      <p:bldP spid="26833" grpId="0" bldLvl="0" animBg="1"/>
      <p:bldP spid="26834" grpId="0" bldLvl="0" animBg="1"/>
      <p:bldP spid="26836" grpId="0"/>
      <p:bldP spid="26838" grpId="0" bldLvl="0" animBg="1"/>
      <p:bldP spid="26839" grpId="0" bldLvl="0" animBg="1"/>
      <p:bldP spid="26841" grpId="0" bldLvl="0" animBg="1"/>
      <p:bldP spid="26842" grpId="0" bldLvl="0" animBg="1"/>
      <p:bldP spid="26843" grpId="0" bldLvl="0" animBg="1"/>
      <p:bldP spid="26845" grpId="0"/>
      <p:bldP spid="26847" grpId="0" bldLvl="0" animBg="1"/>
      <p:bldP spid="26849" grpId="0" bldLvl="0" animBg="1"/>
      <p:bldP spid="26850" grpId="0" bldLvl="0" animBg="1"/>
      <p:bldP spid="26852" grpId="0"/>
      <p:bldP spid="26853" grpId="0" bldLvl="0" animBg="1"/>
      <p:bldP spid="26854" grpId="0" bldLvl="0" animBg="1"/>
      <p:bldP spid="268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AutoShape 2"/>
          <p:cNvSpPr>
            <a:spLocks noGrp="1" noChangeArrowheads="1"/>
          </p:cNvSpPr>
          <p:nvPr>
            <p:ph type="title"/>
          </p:nvPr>
        </p:nvSpPr>
        <p:spPr>
          <a:xfrm>
            <a:off x="2371725" y="332740"/>
            <a:ext cx="4565650" cy="96710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查找：纵向跳转/层高</a:t>
            </a:r>
            <a:endParaRPr lang="zh-CN" altLang="en-US" smtClean="0">
              <a:sym typeface="+mn-ea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R="0" lvl="0" algn="l" defTabSz="193675" rtl="0" eaLnBrk="1" fontAlgn="base" latinLnBrk="0" hangingPunct="1">
              <a:lnSpc>
                <a:spcPct val="16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引理：	随着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的增加，第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层为空的概率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急剧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上升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准确地，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Pr(|S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 = 0) = (1 - 1/2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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1 - n/2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6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于是：	第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层不为空，当且仅当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个节点中至少有一个在其中出现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亦即，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Pr(|S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 &gt; 0)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2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-k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6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推论：	跳转表高度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 =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(logn)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的概率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极大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6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比如：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Pr(h &lt; 3logn)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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1 - n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-2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考察第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 = 3logn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层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该层为空（当且仅当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&lt;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k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）的概率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Pr(h &lt; k)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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Pr(|S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 = 0)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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1 - n/2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1 - n/n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65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结论：查找过程中，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纵向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跳转的累计次数不过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expected-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(logn)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AutoShape 2"/>
          <p:cNvSpPr>
            <a:spLocks noGrp="1" noChangeArrowheads="1"/>
          </p:cNvSpPr>
          <p:nvPr>
            <p:ph type="title"/>
          </p:nvPr>
        </p:nvSpPr>
        <p:spPr>
          <a:xfrm>
            <a:off x="2371725" y="332740"/>
            <a:ext cx="4919345" cy="90678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查找：横向跳转/紧邻塔顶</a:t>
            </a:r>
            <a:endParaRPr lang="zh-CN" altLang="en-US" smtClean="0">
              <a:sym typeface="+mn-ea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那么：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横向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跳转是否可能很多次？比如</a:t>
            </a:r>
            <a:r>
              <a:rPr kumimoji="0" lang="el-GR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ω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(logn)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，甚至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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观察：	在同一高度，横向跳转所经过的节点必然依次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紧邻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，而且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每次抵达的节点都是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塔顶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于是：	若将沿同层列表跳转的次数记作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则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Pr(Y=k) = (1-p)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是几何分布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定理：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E(Y)  =  (1-p)/p  =  (1 - 1/2)/(1/2)  =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次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（同层列表中紧邻的塔顶节点，平均不过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 + 1 =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个）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推论：	查找过程中横向跳转所需时间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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expected(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2h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= expected-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logn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结论：	跳转表的每次查找可在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expected-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logn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时间内完成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8711" name="Picture 39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0" y="296672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713" name="AutoShape 41"/>
          <p:cNvSpPr/>
          <p:nvPr/>
        </p:nvSpPr>
        <p:spPr>
          <a:xfrm>
            <a:off x="7391400" y="2966720"/>
            <a:ext cx="287338" cy="86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49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/>
          <a:p>
            <a:pPr algn="ctr"/>
            <a:endParaRPr lang="en-US" altLang="zh-CN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714" name="AutoShape 42"/>
          <p:cNvSpPr/>
          <p:nvPr/>
        </p:nvSpPr>
        <p:spPr>
          <a:xfrm>
            <a:off x="7391400" y="267938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49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/>
          <a:p>
            <a:pPr algn="ctr"/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0</a:t>
            </a:r>
            <a:endParaRPr lang="en-US" altLang="zh-CN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715" name="AutoShape 43"/>
          <p:cNvSpPr/>
          <p:nvPr/>
        </p:nvSpPr>
        <p:spPr>
          <a:xfrm>
            <a:off x="7967663" y="2966720"/>
            <a:ext cx="287337" cy="86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49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/>
          <a:p>
            <a:pPr algn="ctr"/>
            <a:endParaRPr lang="en-US" altLang="zh-CN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716" name="AutoShape 44"/>
          <p:cNvSpPr/>
          <p:nvPr/>
        </p:nvSpPr>
        <p:spPr>
          <a:xfrm>
            <a:off x="7967663" y="267938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49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/>
          <a:p>
            <a:pPr algn="ctr"/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endParaRPr lang="en-US" altLang="zh-CN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717" name="AutoShape 45"/>
          <p:cNvSpPr/>
          <p:nvPr/>
        </p:nvSpPr>
        <p:spPr>
          <a:xfrm>
            <a:off x="8543925" y="2966720"/>
            <a:ext cx="287338" cy="86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49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/>
          <a:p>
            <a:pPr algn="ctr"/>
            <a:endParaRPr lang="en-US" altLang="zh-CN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718" name="AutoShape 46"/>
          <p:cNvSpPr/>
          <p:nvPr/>
        </p:nvSpPr>
        <p:spPr>
          <a:xfrm>
            <a:off x="8543925" y="267938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49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/>
          <a:p>
            <a:pPr algn="ctr"/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endParaRPr lang="en-US" altLang="zh-CN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719" name="Line 47"/>
          <p:cNvSpPr/>
          <p:nvPr/>
        </p:nvSpPr>
        <p:spPr>
          <a:xfrm>
            <a:off x="7177088" y="3831908"/>
            <a:ext cx="2879725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28720" name="AutoShape 48"/>
          <p:cNvCxnSpPr>
            <a:stCxn id="28716" idx="0"/>
            <a:endCxn id="28714" idx="3"/>
          </p:cNvCxnSpPr>
          <p:nvPr/>
        </p:nvCxnSpPr>
        <p:spPr>
          <a:xfrm rot="16200000" flipH="1" flipV="1">
            <a:off x="7823518" y="2543493"/>
            <a:ext cx="143510" cy="432435"/>
          </a:xfrm>
          <a:prstGeom prst="curvedConnector4">
            <a:avLst>
              <a:gd name="adj1" fmla="val -166150"/>
              <a:gd name="adj2" fmla="val 66593"/>
            </a:avLst>
          </a:prstGeom>
          <a:ln w="28575" cap="flat" cmpd="sng">
            <a:solidFill>
              <a:srgbClr val="333333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8721" name="AutoShape 49"/>
          <p:cNvCxnSpPr>
            <a:stCxn id="28718" idx="0"/>
            <a:endCxn id="28716" idx="3"/>
          </p:cNvCxnSpPr>
          <p:nvPr/>
        </p:nvCxnSpPr>
        <p:spPr>
          <a:xfrm rot="16200000" flipH="1" flipV="1">
            <a:off x="8399780" y="2543175"/>
            <a:ext cx="143510" cy="433070"/>
          </a:xfrm>
          <a:prstGeom prst="curvedConnector4">
            <a:avLst>
              <a:gd name="adj1" fmla="val -165929"/>
              <a:gd name="adj2" fmla="val 66569"/>
            </a:avLst>
          </a:prstGeom>
          <a:ln w="28575" cap="flat" cmpd="sng">
            <a:solidFill>
              <a:srgbClr val="333333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3326" name="AutoShape 50"/>
          <p:cNvCxnSpPr>
            <a:stCxn id="28714" idx="0"/>
            <a:endCxn id="28716" idx="3"/>
          </p:cNvCxnSpPr>
          <p:nvPr/>
        </p:nvCxnSpPr>
        <p:spPr>
          <a:xfrm rot="16200000" flipH="1">
            <a:off x="7823518" y="2399983"/>
            <a:ext cx="143510" cy="719455"/>
          </a:xfrm>
          <a:prstGeom prst="curvedConnector4">
            <a:avLst>
              <a:gd name="adj1" fmla="val -166150"/>
              <a:gd name="adj2" fmla="val 133054"/>
            </a:avLst>
          </a:prstGeom>
          <a:ln w="28575" cap="flat" cmpd="sng">
            <a:solidFill>
              <a:srgbClr val="333333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8723" name="AutoShape 51"/>
          <p:cNvCxnSpPr>
            <a:stCxn id="28725" idx="0"/>
            <a:endCxn id="28718" idx="3"/>
          </p:cNvCxnSpPr>
          <p:nvPr/>
        </p:nvCxnSpPr>
        <p:spPr>
          <a:xfrm rot="16200000" flipH="1" flipV="1">
            <a:off x="9156383" y="2354898"/>
            <a:ext cx="143510" cy="793115"/>
          </a:xfrm>
          <a:prstGeom prst="curvedConnector4">
            <a:avLst>
              <a:gd name="adj1" fmla="val -166150"/>
              <a:gd name="adj2" fmla="val 59127"/>
            </a:avLst>
          </a:prstGeom>
          <a:ln w="28575" cap="flat" cmpd="sng">
            <a:solidFill>
              <a:srgbClr val="333333"/>
            </a:solidFill>
            <a:prstDash val="sysDot"/>
            <a:round/>
            <a:headEnd type="triangle" w="med" len="med"/>
            <a:tailEnd type="none" w="med" len="med"/>
          </a:ln>
        </p:spPr>
      </p:cxnSp>
      <p:sp>
        <p:nvSpPr>
          <p:cNvPr id="28724" name="AutoShape 52"/>
          <p:cNvSpPr/>
          <p:nvPr/>
        </p:nvSpPr>
        <p:spPr>
          <a:xfrm>
            <a:off x="9480550" y="2966720"/>
            <a:ext cx="287338" cy="86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49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/>
          <a:p>
            <a:pPr algn="ctr"/>
            <a:endParaRPr lang="en-US" altLang="zh-CN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725" name="AutoShape 53"/>
          <p:cNvSpPr/>
          <p:nvPr/>
        </p:nvSpPr>
        <p:spPr>
          <a:xfrm>
            <a:off x="9480550" y="267938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49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/>
          <a:p>
            <a:pPr algn="ctr"/>
            <a:endParaRPr lang="en-US" altLang="zh-CN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cxnSp>
        <p:nvCxnSpPr>
          <p:cNvPr id="28726" name="AutoShape 54"/>
          <p:cNvCxnSpPr>
            <a:stCxn id="28724" idx="2"/>
            <a:endCxn id="28725" idx="0"/>
          </p:cNvCxnSpPr>
          <p:nvPr/>
        </p:nvCxnSpPr>
        <p:spPr>
          <a:xfrm flipV="1">
            <a:off x="9624378" y="2687638"/>
            <a:ext cx="0" cy="115062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7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28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300"/>
                                        <p:tgtEl>
                                          <p:spTgt spid="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300"/>
                                        <p:tgtEl>
                                          <p:spTgt spid="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300"/>
                                        <p:tgtEl>
                                          <p:spTgt spid="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300"/>
                                        <p:tgtEl>
                                          <p:spTgt spid="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300"/>
                                        <p:tgtEl>
                                          <p:spTgt spid="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300"/>
                                        <p:tgtEl>
                                          <p:spTgt spid="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300"/>
                                        <p:tgtEl>
                                          <p:spTgt spid="2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300"/>
                                        <p:tgtEl>
                                          <p:spTgt spid="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300"/>
                                        <p:tgtEl>
                                          <p:spTgt spid="2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300"/>
                                        <p:tgtEl>
                                          <p:spTgt spid="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300"/>
                                        <p:tgtEl>
                                          <p:spTgt spid="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9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900"/>
                                        <p:tgtEl>
                                          <p:spTgt spid="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3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9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2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900"/>
                                        <p:tgtEl>
                                          <p:spTgt spid="2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1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900"/>
                                        <p:tgtEl>
                                          <p:spTgt spid="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900"/>
                                        <p:tgtEl>
                                          <p:spTgt spid="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11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287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28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28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287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13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87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28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28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287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14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287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287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287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287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1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87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287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287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287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28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16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287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287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287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287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287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1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87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18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287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900"/>
                                        <p:tgtEl>
                                          <p:spTgt spid="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19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287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7" presetClass="emph" presetSubtype="2" repeatCount="300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4" dur="900"/>
                                        <p:tgtEl>
                                          <p:spTgt spid="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20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287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7" presetClass="emph" presetSubtype="2" repeatCount="300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4" dur="9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21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33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7" presetClass="emph" presetSubtype="2" repeatCount="300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4" dur="9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26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287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7" presetClass="emph" presetSubtype="2" repeatCount="300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287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287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4" dur="900"/>
                                        <p:tgtEl>
                                          <p:spTgt spid="2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23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287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287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287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287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287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24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287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287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92929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287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287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25"/>
                  </p:tgtEl>
                </p:cond>
              </p:nextCondLst>
            </p:seq>
          </p:childTnLst>
        </p:cTn>
      </p:par>
    </p:tnLst>
    <p:bldLst>
      <p:bldP spid="28713" grpId="0" bldLvl="0" animBg="1"/>
      <p:bldP spid="28713" grpId="1" bldLvl="0" animBg="1"/>
      <p:bldP spid="28714" grpId="0" bldLvl="0" animBg="1"/>
      <p:bldP spid="28714" grpId="1" bldLvl="0" animBg="1"/>
      <p:bldP spid="28715" grpId="0" bldLvl="0" animBg="1"/>
      <p:bldP spid="28715" grpId="1" bldLvl="0" animBg="1"/>
      <p:bldP spid="28716" grpId="0" bldLvl="0" animBg="1"/>
      <p:bldP spid="28716" grpId="1" bldLvl="0" animBg="1"/>
      <p:bldP spid="28717" grpId="0" bldLvl="0" animBg="1"/>
      <p:bldP spid="28717" grpId="1" bldLvl="0" animBg="1"/>
      <p:bldP spid="28718" grpId="0" bldLvl="0" animBg="1"/>
      <p:bldP spid="28718" grpId="1" bldLvl="0" animBg="1"/>
      <p:bldP spid="28724" grpId="0" bldLvl="0" animBg="1"/>
      <p:bldP spid="28724" grpId="1" bldLvl="0" animBg="1"/>
      <p:bldP spid="28725" grpId="0" bldLvl="0" animBg="1"/>
      <p:bldP spid="28725" grpId="1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查找过程反向考虑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296035"/>
            <a:ext cx="5700395" cy="5041265"/>
          </a:xfrm>
        </p:spPr>
        <p:txBody>
          <a:bodyPr/>
          <a:p>
            <a:r>
              <a:rPr lang="zh-CN" altLang="en-US"/>
              <a:t>假设我们从一个层数为i的节点x出发，需要向左向上攀爬k层。这时我们有两种可能：</a:t>
            </a:r>
            <a:endParaRPr lang="zh-CN" altLang="en-US"/>
          </a:p>
          <a:p>
            <a:pPr lvl="1"/>
            <a:r>
              <a:rPr lang="zh-CN" altLang="en-US" sz="1400"/>
              <a:t> 如果节点x有第(i+1)层指针，那么我们需要向上走。这种情况概率为p。</a:t>
            </a:r>
            <a:endParaRPr lang="zh-CN" altLang="en-US" sz="1400"/>
          </a:p>
          <a:p>
            <a:pPr lvl="1"/>
            <a:r>
              <a:rPr lang="zh-CN" altLang="en-US" sz="1400"/>
              <a:t> 如果节点x没有第(i+1)层指针，那么我们需要向左走。这种情况概率为(1-p)。</a:t>
            </a:r>
            <a:endParaRPr lang="zh-CN" altLang="en-US" sz="1400"/>
          </a:p>
          <a:p>
            <a:pPr lvl="1"/>
            <a:r>
              <a:rPr lang="zh-CN" altLang="en-US" sz="1400"/>
              <a:t>用C(k)表示向上攀爬k个层级所需要走过的平均查找路径长度（概率期望）</a:t>
            </a:r>
            <a:endParaRPr lang="zh-CN" altLang="en-US" sz="1400"/>
          </a:p>
          <a:p>
            <a:pPr lvl="2">
              <a:buAutoNum type="arabicPeriod"/>
            </a:pPr>
            <a:r>
              <a:rPr lang="zh-CN" altLang="en-US" sz="1200"/>
              <a:t>C(0)=0</a:t>
            </a:r>
            <a:endParaRPr lang="zh-CN" altLang="en-US" sz="1200"/>
          </a:p>
          <a:p>
            <a:pPr lvl="2">
              <a:buAutoNum type="arabicPeriod"/>
            </a:pPr>
            <a:r>
              <a:rPr lang="zh-CN" altLang="en-US" sz="1200"/>
              <a:t>C(k)=(1-p)×(情况b的查找长度) + p×(情况c的查找长度)即C(k)=(1-p)(C(k)+1) + p(C(k-1)+1)，化简为C(k)=1/p+C(k-1)即C(k)=k/p，</a:t>
            </a:r>
            <a:endParaRPr lang="zh-CN" altLang="en-US" sz="1200"/>
          </a:p>
          <a:p>
            <a:pPr marL="914400" lvl="2" indent="0">
              <a:buNone/>
            </a:pPr>
            <a:r>
              <a:rPr lang="zh-CN" altLang="en-US" sz="1200"/>
              <a:t>含义为</a:t>
            </a:r>
            <a:r>
              <a:rPr lang="zh-CN" altLang="en-US" sz="1200"/>
              <a:t>每爬升1个层级，需要在查找路径上走1/p步。而总共需要攀爬的层级数等于（整个skiplist的总层数-1）</a:t>
            </a:r>
            <a:endParaRPr lang="zh-CN" altLang="en-US" sz="1200"/>
          </a:p>
          <a:p>
            <a:pPr marL="914400" lvl="2" indent="0">
              <a:buNone/>
            </a:pPr>
            <a:r>
              <a:rPr lang="zh-CN" altLang="en-US" sz="1200"/>
              <a:t>总层数的均值为log</a:t>
            </a:r>
            <a:r>
              <a:rPr lang="zh-CN" altLang="en-US" sz="1200" baseline="-25000"/>
              <a:t>1/p</a:t>
            </a:r>
            <a:r>
              <a:rPr lang="zh-CN" altLang="en-US" sz="1200"/>
              <a:t>n，平均</a:t>
            </a:r>
            <a:r>
              <a:rPr lang="zh-CN" altLang="en-US" sz="1200"/>
              <a:t>查找长度为</a:t>
            </a:r>
            <a:endParaRPr lang="en-US" altLang="zh-CN" sz="1200">
              <a:sym typeface="+mn-ea"/>
            </a:endParaRPr>
          </a:p>
        </p:txBody>
      </p:sp>
      <p:pic>
        <p:nvPicPr>
          <p:cNvPr id="5" name="图片 4" descr="64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D">
                  <a:alpha val="100000"/>
                </a:srgbClr>
              </a:clrFrom>
              <a:clrTo>
                <a:srgbClr val="FFFF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69685" y="1079500"/>
            <a:ext cx="6096000" cy="3038475"/>
          </a:xfrm>
          <a:prstGeom prst="rect">
            <a:avLst/>
          </a:prstGeom>
        </p:spPr>
      </p:pic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90465" y="5862955"/>
          <a:ext cx="1024255" cy="578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2" imgW="787400" imgH="444500" progId="Equation.KSEE3">
                  <p:embed/>
                </p:oleObj>
              </mc:Choice>
              <mc:Fallback>
                <p:oleObj name="" r:id="rId2" imgW="787400" imgH="4445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90465" y="5862955"/>
                        <a:ext cx="1024255" cy="578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 descr="640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5105" y="4534535"/>
            <a:ext cx="5520690" cy="18027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AutoShape 2"/>
          <p:cNvSpPr>
            <a:spLocks noGrp="1" noChangeArrowheads="1"/>
          </p:cNvSpPr>
          <p:nvPr>
            <p:ph type="title"/>
          </p:nvPr>
        </p:nvSpPr>
        <p:spPr>
          <a:xfrm>
            <a:off x="2371725" y="332740"/>
            <a:ext cx="4331335" cy="83883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插入：put()</a:t>
            </a:r>
            <a:endParaRPr lang="zh-CN" altLang="en-US" smtClean="0">
              <a:sym typeface="+mn-ea"/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7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template &lt;typename K, typename V&gt;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 Skiplist&lt;K, V&gt;::put(K k, V v) {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Entry&lt;K, V&gt; e = Entry&lt;K, V&gt;(k, v);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将被随机地插入多个副本的新词条</a:t>
            </a:r>
            <a:b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(empty()) insertAsFirst(new Quadlist&lt;Entry&lt;K, V&gt;&gt;);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首个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Entry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ListNode&lt;Quadlist&lt;Entry&lt;K, V&gt;&gt;*&gt;* qlist = first();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从顶层列表的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QuadlistNode&lt;Entry&lt;K, V&gt;&gt;* p = qlist-&gt;data-&gt;first();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首节点开始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(skipSearch(qlist, p, k))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查找适当的插入位置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(p-&gt;below) p = p-&gt;below;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若已有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雷同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词条，则需强制转到塔底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qlist = last();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以下，紧邻于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右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侧，一座新塔将自底而上逐层生长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QuadlistNode&lt;Entry&lt;K, V&gt;&gt;* b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新节点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即为</a:t>
            </a:r>
            <a:b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qlist-&gt;data-&gt;insertAfterAbove(e, p); </a:t>
            </a: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新塔的基座</a:t>
            </a:r>
            <a:br>
              <a:rPr kumimoji="0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/* TBC */</a:t>
            </a:r>
            <a:endParaRPr kumimoji="0" lang="en-US" altLang="zh-CN" sz="1600" b="1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AutoShape 2"/>
          <p:cNvSpPr>
            <a:spLocks noGrp="1" noChangeArrowheads="1"/>
          </p:cNvSpPr>
          <p:nvPr>
            <p:ph type="title"/>
          </p:nvPr>
        </p:nvSpPr>
        <p:spPr>
          <a:xfrm>
            <a:off x="2371725" y="324485"/>
            <a:ext cx="3504565" cy="84772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插入：put()</a:t>
            </a:r>
            <a:endParaRPr lang="zh-CN" altLang="en-US" smtClean="0">
              <a:sym typeface="+mn-ea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Autofit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6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while (rand() % 2) {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经投掷硬币，若确定新塔需要再长高一层，则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(qlist-&gt;data-&gt;valid(p) &amp;&amp; !p-&gt;above)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找出不低于此高度的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 = p-&gt;pred;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最近前驱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(!qlist-&gt;data-&gt;valid(p)) {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若该前驱是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header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if (qlist == first())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且当前已是最顶层，则意味着必须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insertAsFirst(new Quadlist&lt;Entry&lt;K, V&gt;&gt;);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先创建新层，再</a:t>
            </a:r>
            <a:b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 = qlist-&gt;pred-&gt;data-&gt;first()-&gt;pred;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转至上一层的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header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} else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否则，可径自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 = p-&gt;above;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提升至该高度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qlist = qlist-&gt;pred;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上升一层，并在该层将新节点</a:t>
            </a:r>
            <a:b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= qlist-&gt;data-&gt;insertAfterAbove(e, p, b);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插至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之后、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之上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return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true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//Skiplist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允许重复元素，故插入必成功</a:t>
            </a:r>
            <a:b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4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留意：得益于哨兵的设置，哪些环节被简化了？</a:t>
            </a: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skiplist</a:t>
            </a:r>
            <a:r>
              <a:t>的应用</a:t>
            </a:r>
          </a:p>
        </p:txBody>
      </p:sp>
      <p:sp>
        <p:nvSpPr>
          <p:cNvPr id="5" name="内容占位符 4"/>
          <p:cNvSpPr/>
          <p:nvPr>
            <p:ph idx="1"/>
          </p:nvPr>
        </p:nvSpPr>
        <p:spPr/>
        <p:txBody>
          <a:bodyPr/>
          <a:p>
            <a:r>
              <a:rPr lang="en-US" altLang="zh-CN"/>
              <a:t>Redis:ZSET (</a:t>
            </a:r>
            <a:r>
              <a:rPr lang="en-US" altLang="zh-CN">
                <a:sym typeface="+mn-ea"/>
              </a:rPr>
              <a:t>Sorted Set</a:t>
            </a:r>
            <a:r>
              <a:rPr lang="en-US" altLang="zh-CN"/>
              <a:t>)</a:t>
            </a:r>
            <a:endParaRPr lang="en-US" altLang="zh-CN"/>
          </a:p>
          <a:p>
            <a:pPr lvl="1"/>
            <a:r>
              <a:t>插入、删除和查找的性能都是</a:t>
            </a:r>
            <a:r>
              <a:rPr lang="en-US" altLang="zh-CN"/>
              <a:t>O(logn)</a:t>
            </a:r>
            <a:r>
              <a:t>的时间复杂度上，提供</a:t>
            </a:r>
            <a:r>
              <a:rPr lang="en-US" altLang="zh-CN"/>
              <a:t>O(logn)</a:t>
            </a:r>
            <a:r>
              <a:t>的范围搜索。</a:t>
            </a:r>
          </a:p>
          <a:p>
            <a:pPr lvl="1"/>
            <a:r>
              <a:rPr lang="en-US" altLang="zh-CN"/>
              <a:t>ZSET</a:t>
            </a:r>
            <a:r>
              <a:t>融合</a:t>
            </a:r>
            <a:r>
              <a:rPr lang="en-US" altLang="zh-CN"/>
              <a:t>skiplist</a:t>
            </a:r>
            <a:r>
              <a:t>和</a:t>
            </a:r>
            <a:r>
              <a:rPr lang="en-US" altLang="zh-CN"/>
              <a:t>hashtable</a:t>
            </a:r>
            <a:r>
              <a:t>还可以支持</a:t>
            </a:r>
            <a:r>
              <a:rPr lang="en-US" altLang="zh-CN"/>
              <a:t>O(1)</a:t>
            </a:r>
            <a:r>
              <a:t>的查找，</a:t>
            </a:r>
            <a:r>
              <a:rPr lang="en-US" altLang="zh-CN"/>
              <a:t>O(1)</a:t>
            </a:r>
            <a:r>
              <a:t>的排名信息</a:t>
            </a:r>
            <a:r>
              <a:t>查找。</a:t>
            </a:r>
          </a:p>
          <a:p>
            <a:pPr lvl="1"/>
          </a:p>
          <a:p>
            <a:pPr lvl="1"/>
          </a:p>
          <a:p>
            <a:pPr lvl="1"/>
          </a:p>
          <a:p>
            <a:pPr lvl="1"/>
          </a:p>
          <a:p>
            <a:pPr lvl="1"/>
          </a:p>
          <a:p>
            <a:pPr lvl="1"/>
          </a:p>
          <a:p>
            <a:pPr lvl="1"/>
          </a:p>
          <a:p>
            <a:pPr lvl="1"/>
            <a:r>
              <a:t>参考：</a:t>
            </a:r>
            <a:r>
              <a:t>https://mp.weixin.qq.com/s?__biz=MzA4NTg1MjM0Mg==&amp;mid=2657261425&amp;idx=1&amp;sn=d840079ea35875a8c8e02d9b3e44cf95&amp;scene=21#wechat_redirect</a:t>
            </a:r>
          </a:p>
        </p:txBody>
      </p:sp>
      <p:pic>
        <p:nvPicPr>
          <p:cNvPr id="7" name="图片 6" descr="64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6800" y="2498725"/>
            <a:ext cx="10058400" cy="32842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5388</Words>
  <Application>WPS 演示</Application>
  <PresentationFormat>宽屏</PresentationFormat>
  <Paragraphs>249</Paragraphs>
  <Slides>15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Brush Script MT</vt:lpstr>
      <vt:lpstr>Mongolian Baiti</vt:lpstr>
      <vt:lpstr>Consolas</vt:lpstr>
      <vt:lpstr>华文行楷</vt:lpstr>
      <vt:lpstr>Symbol</vt:lpstr>
      <vt:lpstr>Arial Unicode MS</vt:lpstr>
      <vt:lpstr>楷体_GB2312</vt:lpstr>
      <vt:lpstr>新宋体</vt:lpstr>
      <vt:lpstr>Times New Roman</vt:lpstr>
      <vt:lpstr>Calibri</vt:lpstr>
      <vt:lpstr>Office 主题​​</vt:lpstr>
      <vt:lpstr>Equation.KSEE3</vt:lpstr>
      <vt:lpstr>跳表 </vt:lpstr>
      <vt:lpstr>动机与思路</vt:lpstr>
      <vt:lpstr>结构：设计</vt:lpstr>
      <vt:lpstr>空间性能</vt:lpstr>
      <vt:lpstr>空间性能</vt:lpstr>
      <vt:lpstr>结构：QuadList</vt:lpstr>
      <vt:lpstr>结构：Skiplist</vt:lpstr>
      <vt:lpstr>查找：skipSearch()</vt:lpstr>
      <vt:lpstr>查找：实例</vt:lpstr>
      <vt:lpstr>查找：纵向跳转/层高</vt:lpstr>
      <vt:lpstr>查找：横向跳转/紧邻塔顶</vt:lpstr>
      <vt:lpstr>PowerPoint 演示文稿</vt:lpstr>
      <vt:lpstr>插入：put()</vt:lpstr>
      <vt:lpstr>插入：put()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刘明铭</cp:lastModifiedBy>
  <cp:revision>54</cp:revision>
  <dcterms:created xsi:type="dcterms:W3CDTF">2019-06-19T02:08:00Z</dcterms:created>
  <dcterms:modified xsi:type="dcterms:W3CDTF">2020-11-02T04:55:32Z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