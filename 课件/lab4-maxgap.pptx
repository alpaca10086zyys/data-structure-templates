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412" r:id="rId3"/>
    <p:sldId id="359" r:id="rId5"/>
  </p:sldIdLst>
  <p:sldSz cx="9144000" cy="6858000" type="screen4x3"/>
  <p:notesSz cx="6816725" cy="9823450"/>
  <p:defaultTextStyle>
    <a:defPPr>
      <a:defRPr lang="en-US"/>
    </a:defPPr>
    <a:lvl1pPr marL="0" lvl="0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tx1"/>
      </a:buClr>
      <a:buSzPct val="75000"/>
      <a:buFont typeface="Wingdings" panose="05000000000000000000" pitchFamily="2" charset="2"/>
      <a:buNone/>
      <a:defRPr sz="1200" b="0" i="0" u="none" kern="1200" baseline="0">
        <a:solidFill>
          <a:schemeClr val="tx1"/>
        </a:solidFill>
        <a:latin typeface="Consolas" panose="020B0609020204030204" pitchFamily="49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bg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00"/>
    <a:srgbClr val="FFFFCC"/>
    <a:srgbClr val="006600"/>
    <a:srgbClr val="FF9900"/>
    <a:srgbClr val="003399"/>
    <a:srgbClr val="FF0000"/>
    <a:srgbClr val="5F5F5F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596"/>
    <p:restoredTop sz="82028"/>
  </p:normalViewPr>
  <p:slideViewPr>
    <p:cSldViewPr showGuides="1">
      <p:cViewPr varScale="1">
        <p:scale>
          <a:sx n="70" d="100"/>
          <a:sy n="70" d="100"/>
        </p:scale>
        <p:origin x="-134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3285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32913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332913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3975" y="0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92" name="Rectangle 4"/>
          <p:cNvSpPr>
            <a:spLocks noTextEdit="1"/>
          </p:cNvSpPr>
          <p:nvPr>
            <p:ph type="sldImg" idx="2"/>
          </p:nvPr>
        </p:nvSpPr>
        <p:spPr>
          <a:xfrm>
            <a:off x="954088" y="738188"/>
            <a:ext cx="4908550" cy="368141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2913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3975" y="9332913"/>
            <a:ext cx="29527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2913"/>
            <a:ext cx="2952750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2913"/>
            <a:ext cx="2952750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/>
          <p:nvPr>
            <p:ph type="body" idx="1"/>
          </p:nvPr>
        </p:nvSpPr>
        <p:spPr>
          <a:xfrm>
            <a:off x="908050" y="4665663"/>
            <a:ext cx="5000625" cy="441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5003800" y="4724400"/>
            <a:ext cx="2624138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华文行楷" panose="02010800040101010101" pitchFamily="2" charset="-122"/>
                <a:cs typeface="Times New Roman" panose="02020603050405020304" pitchFamily="18" charset="0"/>
              </a:rPr>
              <a:t>邓俊辉</a:t>
            </a:r>
            <a:endParaRPr kumimoji="0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pitchFamily="34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deng@tsinghua.edu.cn</a:t>
            </a:r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4726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5040313" y="1414463"/>
            <a:ext cx="2844800" cy="427037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algn="r">
              <a:defRPr sz="2800"/>
            </a:lvl1pPr>
          </a:lstStyle>
          <a:p>
            <a:pPr lvl="0"/>
            <a:endParaRPr lang="zh-CN" altLang="en-US" noProof="0" smtClean="0"/>
          </a:p>
        </p:txBody>
      </p:sp>
      <p:sp>
        <p:nvSpPr>
          <p:cNvPr id="154726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41913" y="2111375"/>
            <a:ext cx="2743200" cy="547688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0" tIns="0" bIns="0" anchor="ctr">
            <a:spAutoFit/>
          </a:bodyPr>
          <a:lstStyle>
            <a:lvl1pPr marL="0" indent="0" algn="r" defTabSz="914400">
              <a:spcBef>
                <a:spcPct val="5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None/>
              <a:defRPr sz="2400"/>
            </a:lvl1pPr>
          </a:lstStyle>
          <a:p>
            <a:pPr lvl="0"/>
            <a:endParaRPr lang="zh-CN" altLang="en-US" noProof="0" smtClean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2275" y="836613"/>
            <a:ext cx="4086225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0900" y="836613"/>
            <a:ext cx="4087813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none" lIns="144000" tIns="72000" rIns="0" bIns="7200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7500" y="309563"/>
            <a:ext cx="2081213" cy="59277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22275" y="309563"/>
            <a:ext cx="6092825" cy="59277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hyperlink" Target="http://vis.cs.tsinghua.edu.cn/~deng/ds/" TargetMode="Externa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395288" y="549275"/>
            <a:ext cx="8348662" cy="5903913"/>
          </a:xfrm>
          <a:prstGeom prst="rect">
            <a:avLst/>
          </a:prstGeom>
          <a:noFill/>
          <a:ln w="2857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lvl="0" eaLnBrk="1" hangingPunct="1"/>
            <a:endParaRPr lang="zh-CN" altLang="en-US" dirty="0">
              <a:latin typeface="Consolas" panose="020B0609020204030204" pitchFamily="49" charset="0"/>
            </a:endParaRPr>
          </a:p>
        </p:txBody>
      </p:sp>
      <p:sp useBgFill="1">
        <p:nvSpPr>
          <p:cNvPr id="1027" name="Oval 3"/>
          <p:cNvSpPr/>
          <p:nvPr/>
        </p:nvSpPr>
        <p:spPr>
          <a:xfrm>
            <a:off x="147638" y="6199188"/>
            <a:ext cx="503237" cy="503237"/>
          </a:xfrm>
          <a:prstGeom prst="ellipse">
            <a:avLst/>
          </a:prstGeom>
          <a:ln w="2540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lvl="0" eaLnBrk="1" hangingPunct="1"/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1546244" name="Group 4"/>
          <p:cNvGrpSpPr/>
          <p:nvPr/>
        </p:nvGrpSpPr>
        <p:grpSpPr>
          <a:xfrm>
            <a:off x="201613" y="6253163"/>
            <a:ext cx="395287" cy="395287"/>
            <a:chOff x="180" y="3997"/>
            <a:chExt cx="230" cy="229"/>
          </a:xfrm>
        </p:grpSpPr>
        <p:grpSp>
          <p:nvGrpSpPr>
            <p:cNvPr id="1042" name="Group 5"/>
            <p:cNvGrpSpPr/>
            <p:nvPr userDrawn="1"/>
          </p:nvGrpSpPr>
          <p:grpSpPr>
            <a:xfrm>
              <a:off x="180" y="4111"/>
              <a:ext cx="229" cy="0"/>
              <a:chOff x="633" y="3974"/>
              <a:chExt cx="229" cy="0"/>
            </a:xfrm>
          </p:grpSpPr>
          <p:sp>
            <p:nvSpPr>
              <p:cNvPr id="1058" name="Line 6"/>
              <p:cNvSpPr/>
              <p:nvPr userDrawn="1"/>
            </p:nvSpPr>
            <p:spPr>
              <a:xfrm rot="5400000">
                <a:off x="644" y="3962"/>
                <a:ext cx="0" cy="23"/>
              </a:xfrm>
              <a:prstGeom prst="line">
                <a:avLst/>
              </a:prstGeom>
              <a:ln w="254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9" name="Line 7"/>
              <p:cNvSpPr/>
              <p:nvPr userDrawn="1"/>
            </p:nvSpPr>
            <p:spPr>
              <a:xfrm rot="5400000">
                <a:off x="850" y="3962"/>
                <a:ext cx="0" cy="23"/>
              </a:xfrm>
              <a:prstGeom prst="line">
                <a:avLst/>
              </a:prstGeom>
              <a:ln w="254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43" name="Group 8"/>
            <p:cNvGrpSpPr/>
            <p:nvPr userDrawn="1"/>
          </p:nvGrpSpPr>
          <p:grpSpPr>
            <a:xfrm rot="5400000">
              <a:off x="179" y="4111"/>
              <a:ext cx="229" cy="0"/>
              <a:chOff x="633" y="3974"/>
              <a:chExt cx="229" cy="0"/>
            </a:xfrm>
          </p:grpSpPr>
          <p:sp>
            <p:nvSpPr>
              <p:cNvPr id="1056" name="Line 9"/>
              <p:cNvSpPr/>
              <p:nvPr userDrawn="1"/>
            </p:nvSpPr>
            <p:spPr>
              <a:xfrm rot="5400000">
                <a:off x="644" y="3962"/>
                <a:ext cx="0" cy="23"/>
              </a:xfrm>
              <a:prstGeom prst="line">
                <a:avLst/>
              </a:prstGeom>
              <a:ln w="254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7" name="Line 10"/>
              <p:cNvSpPr/>
              <p:nvPr userDrawn="1"/>
            </p:nvSpPr>
            <p:spPr>
              <a:xfrm rot="5400000">
                <a:off x="850" y="3962"/>
                <a:ext cx="0" cy="23"/>
              </a:xfrm>
              <a:prstGeom prst="line">
                <a:avLst/>
              </a:prstGeom>
              <a:ln w="254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44" name="Group 11"/>
            <p:cNvGrpSpPr/>
            <p:nvPr userDrawn="1"/>
          </p:nvGrpSpPr>
          <p:grpSpPr>
            <a:xfrm rot="1800000">
              <a:off x="181" y="4112"/>
              <a:ext cx="229" cy="0"/>
              <a:chOff x="633" y="3974"/>
              <a:chExt cx="229" cy="0"/>
            </a:xfrm>
          </p:grpSpPr>
          <p:sp>
            <p:nvSpPr>
              <p:cNvPr id="1054" name="Line 12"/>
              <p:cNvSpPr/>
              <p:nvPr userDrawn="1"/>
            </p:nvSpPr>
            <p:spPr>
              <a:xfrm rot="5400000">
                <a:off x="644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" name="Line 13"/>
              <p:cNvSpPr/>
              <p:nvPr userDrawn="1"/>
            </p:nvSpPr>
            <p:spPr>
              <a:xfrm rot="5400000">
                <a:off x="850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45" name="Group 14"/>
            <p:cNvGrpSpPr/>
            <p:nvPr userDrawn="1"/>
          </p:nvGrpSpPr>
          <p:grpSpPr>
            <a:xfrm rot="-1800000" flipV="1">
              <a:off x="181" y="4112"/>
              <a:ext cx="229" cy="0"/>
              <a:chOff x="633" y="3974"/>
              <a:chExt cx="229" cy="0"/>
            </a:xfrm>
          </p:grpSpPr>
          <p:sp>
            <p:nvSpPr>
              <p:cNvPr id="1052" name="Line 15"/>
              <p:cNvSpPr/>
              <p:nvPr userDrawn="1"/>
            </p:nvSpPr>
            <p:spPr>
              <a:xfrm rot="5400000">
                <a:off x="644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16"/>
              <p:cNvSpPr/>
              <p:nvPr userDrawn="1"/>
            </p:nvSpPr>
            <p:spPr>
              <a:xfrm rot="5400000">
                <a:off x="850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46" name="Group 17"/>
            <p:cNvGrpSpPr/>
            <p:nvPr userDrawn="1"/>
          </p:nvGrpSpPr>
          <p:grpSpPr>
            <a:xfrm rot="7200000">
              <a:off x="180" y="4111"/>
              <a:ext cx="229" cy="0"/>
              <a:chOff x="633" y="3974"/>
              <a:chExt cx="229" cy="0"/>
            </a:xfrm>
          </p:grpSpPr>
          <p:sp>
            <p:nvSpPr>
              <p:cNvPr id="1050" name="Line 18"/>
              <p:cNvSpPr/>
              <p:nvPr userDrawn="1"/>
            </p:nvSpPr>
            <p:spPr>
              <a:xfrm rot="5400000">
                <a:off x="644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19"/>
              <p:cNvSpPr/>
              <p:nvPr userDrawn="1"/>
            </p:nvSpPr>
            <p:spPr>
              <a:xfrm rot="5400000">
                <a:off x="850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47" name="Group 20"/>
            <p:cNvGrpSpPr/>
            <p:nvPr userDrawn="1"/>
          </p:nvGrpSpPr>
          <p:grpSpPr>
            <a:xfrm rot="3600000" flipV="1">
              <a:off x="180" y="4111"/>
              <a:ext cx="229" cy="0"/>
              <a:chOff x="633" y="3974"/>
              <a:chExt cx="229" cy="0"/>
            </a:xfrm>
          </p:grpSpPr>
          <p:sp>
            <p:nvSpPr>
              <p:cNvPr id="1048" name="Line 21"/>
              <p:cNvSpPr/>
              <p:nvPr userDrawn="1"/>
            </p:nvSpPr>
            <p:spPr>
              <a:xfrm rot="5400000">
                <a:off x="644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" name="Line 22"/>
              <p:cNvSpPr/>
              <p:nvPr userDrawn="1"/>
            </p:nvSpPr>
            <p:spPr>
              <a:xfrm rot="5400000">
                <a:off x="850" y="3962"/>
                <a:ext cx="0" cy="23"/>
              </a:xfrm>
              <a:prstGeom prst="line">
                <a:avLst/>
              </a:prstGeom>
              <a:ln w="12700" cap="flat" cmpd="sng">
                <a:solidFill>
                  <a:srgbClr val="969696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46263" name="Group 23"/>
          <p:cNvGrpSpPr/>
          <p:nvPr/>
        </p:nvGrpSpPr>
        <p:grpSpPr>
          <a:xfrm>
            <a:off x="377825" y="6342063"/>
            <a:ext cx="42863" cy="215900"/>
            <a:chOff x="1043" y="3566"/>
            <a:chExt cx="46" cy="181"/>
          </a:xfrm>
        </p:grpSpPr>
        <p:sp>
          <p:nvSpPr>
            <p:cNvPr id="1040" name="AutoShape 24"/>
            <p:cNvSpPr/>
            <p:nvPr userDrawn="1"/>
          </p:nvSpPr>
          <p:spPr>
            <a:xfrm>
              <a:off x="1043" y="3634"/>
              <a:ext cx="46" cy="113"/>
            </a:xfrm>
            <a:custGeom>
              <a:avLst/>
              <a:gdLst>
                <a:gd name="txL" fmla="*/ 4696 w 21600"/>
                <a:gd name="txT" fmla="*/ 4588 h 21600"/>
                <a:gd name="txR" fmla="*/ 16904 w 21600"/>
                <a:gd name="txB" fmla="*/ 17012 h 21600"/>
              </a:gdLst>
              <a:ahLst/>
              <a:cxnLst>
                <a:cxn ang="0">
                  <a:pos x="40" y="56"/>
                </a:cxn>
                <a:cxn ang="0">
                  <a:pos x="23" y="113"/>
                </a:cxn>
                <a:cxn ang="0">
                  <a:pos x="6" y="56"/>
                </a:cxn>
                <a:cxn ang="0">
                  <a:pos x="23" y="0"/>
                </a:cxn>
              </a:cxnLst>
              <a:rect l="txL" t="txT" r="txR" b="txB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>
                <a:alpha val="0"/>
              </a:srgbClr>
            </a:solidFill>
            <a:ln w="254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AutoShape 25"/>
            <p:cNvSpPr/>
            <p:nvPr userDrawn="1"/>
          </p:nvSpPr>
          <p:spPr>
            <a:xfrm flipV="1">
              <a:off x="1043" y="3566"/>
              <a:ext cx="46" cy="113"/>
            </a:xfrm>
            <a:custGeom>
              <a:avLst/>
              <a:gdLst>
                <a:gd name="txL" fmla="*/ 4696 w 21600"/>
                <a:gd name="txT" fmla="*/ 4588 h 21600"/>
                <a:gd name="txR" fmla="*/ 16904 w 21600"/>
                <a:gd name="txB" fmla="*/ 17012 h 21600"/>
              </a:gdLst>
              <a:ahLst/>
              <a:cxnLst>
                <a:cxn ang="0">
                  <a:pos x="40" y="56"/>
                </a:cxn>
                <a:cxn ang="0">
                  <a:pos x="23" y="113"/>
                </a:cxn>
                <a:cxn ang="0">
                  <a:pos x="6" y="56"/>
                </a:cxn>
                <a:cxn ang="0">
                  <a:pos x="23" y="0"/>
                </a:cxn>
              </a:cxnLst>
              <a:rect l="txL" t="txT" r="txR" b="txB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>
                <a:alpha val="100000"/>
              </a:srgbClr>
            </a:solidFill>
            <a:ln w="25400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546266" name="Group 26"/>
          <p:cNvGrpSpPr/>
          <p:nvPr/>
        </p:nvGrpSpPr>
        <p:grpSpPr>
          <a:xfrm>
            <a:off x="390525" y="6270625"/>
            <a:ext cx="17463" cy="360363"/>
            <a:chOff x="612" y="3976"/>
            <a:chExt cx="45" cy="180"/>
          </a:xfrm>
        </p:grpSpPr>
        <p:sp>
          <p:nvSpPr>
            <p:cNvPr id="1038" name="AutoShape 27"/>
            <p:cNvSpPr/>
            <p:nvPr userDrawn="1"/>
          </p:nvSpPr>
          <p:spPr>
            <a:xfrm>
              <a:off x="612" y="4043"/>
              <a:ext cx="45" cy="113"/>
            </a:xfrm>
            <a:custGeom>
              <a:avLst/>
              <a:gdLst>
                <a:gd name="txL" fmla="*/ 4320 w 21600"/>
                <a:gd name="txT" fmla="*/ 4588 h 21600"/>
                <a:gd name="txR" fmla="*/ 17280 w 21600"/>
                <a:gd name="txB" fmla="*/ 17012 h 21600"/>
              </a:gdLst>
              <a:ahLst/>
              <a:cxnLst>
                <a:cxn ang="0">
                  <a:pos x="39" y="56"/>
                </a:cxn>
                <a:cxn ang="0">
                  <a:pos x="23" y="113"/>
                </a:cxn>
                <a:cxn ang="0">
                  <a:pos x="6" y="56"/>
                </a:cxn>
                <a:cxn ang="0">
                  <a:pos x="23" y="0"/>
                </a:cxn>
              </a:cxnLst>
              <a:rect l="txL" t="txT" r="txR" b="txB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CC">
                <a:alpha val="0"/>
              </a:srgbClr>
            </a:solidFill>
            <a:ln w="25400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AutoShape 28"/>
            <p:cNvSpPr/>
            <p:nvPr userDrawn="1"/>
          </p:nvSpPr>
          <p:spPr>
            <a:xfrm flipV="1">
              <a:off x="612" y="3976"/>
              <a:ext cx="45" cy="113"/>
            </a:xfrm>
            <a:custGeom>
              <a:avLst/>
              <a:gdLst>
                <a:gd name="txL" fmla="*/ 4320 w 21600"/>
                <a:gd name="txT" fmla="*/ 4588 h 21600"/>
                <a:gd name="txR" fmla="*/ 17280 w 21600"/>
                <a:gd name="txB" fmla="*/ 17012 h 21600"/>
              </a:gdLst>
              <a:ahLst/>
              <a:cxnLst>
                <a:cxn ang="0">
                  <a:pos x="39" y="56"/>
                </a:cxn>
                <a:cxn ang="0">
                  <a:pos x="23" y="113"/>
                </a:cxn>
                <a:cxn ang="0">
                  <a:pos x="6" y="56"/>
                </a:cxn>
                <a:cxn ang="0">
                  <a:pos x="23" y="0"/>
                </a:cxn>
              </a:cxnLst>
              <a:rect l="txL" t="txT" r="txR" b="txB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25400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46269" name="Oval 29"/>
          <p:cNvSpPr>
            <a:spLocks noChangeAspect="1"/>
          </p:cNvSpPr>
          <p:nvPr/>
        </p:nvSpPr>
        <p:spPr>
          <a:xfrm>
            <a:off x="381000" y="6432550"/>
            <a:ext cx="36513" cy="36513"/>
          </a:xfrm>
          <a:prstGeom prst="ellipse">
            <a:avLst/>
          </a:prstGeom>
          <a:noFill/>
          <a:ln w="6350" cap="flat" cmpd="thinThick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lvl="0" eaLnBrk="1" hangingPunct="1"/>
            <a:endParaRPr lang="zh-CN" altLang="en-US" sz="1400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 useBgFill="1">
        <p:nvSpPr>
          <p:cNvPr id="1546270" name="Oval 30"/>
          <p:cNvSpPr/>
          <p:nvPr/>
        </p:nvSpPr>
        <p:spPr>
          <a:xfrm>
            <a:off x="115888" y="6169025"/>
            <a:ext cx="568325" cy="568325"/>
          </a:xfrm>
          <a:prstGeom prst="ellipse">
            <a:avLst/>
          </a:prstGeom>
          <a:ln w="25400">
            <a:noFill/>
          </a:ln>
        </p:spPr>
        <p:txBody>
          <a:bodyPr wrap="none" lIns="36000" tIns="36000" rIns="36000" bIns="36000" anchor="ctr"/>
          <a:p>
            <a:pPr lvl="0" eaLnBrk="1" hangingPunct="1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46271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2275" y="836613"/>
            <a:ext cx="8326438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27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none" lIns="144000" tIns="72000" rIns="0" bIns="72000" numCol="1" anchor="t" anchorCtr="0" compatLnSpc="1"/>
          <a:lstStyle/>
          <a:p>
            <a:pPr lvl="0"/>
            <a:r>
              <a:rPr lang="zh-CN" altLang="en-US" smtClean="0"/>
              <a:t>第一级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</p:txBody>
      </p:sp>
      <p:sp>
        <p:nvSpPr>
          <p:cNvPr id="1546272" name="Rectangle 32"/>
          <p:cNvSpPr/>
          <p:nvPr/>
        </p:nvSpPr>
        <p:spPr>
          <a:xfrm>
            <a:off x="395288" y="549275"/>
            <a:ext cx="8353425" cy="5903913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lvl="0" eaLnBrk="1" hangingPunct="1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46273" name="AutoShape 33"/>
          <p:cNvSpPr>
            <a:spLocks noGrp="1" noChangeArrowheads="1"/>
          </p:cNvSpPr>
          <p:nvPr>
            <p:ph type="title"/>
          </p:nvPr>
        </p:nvSpPr>
        <p:spPr bwMode="auto">
          <a:xfrm>
            <a:off x="847725" y="309563"/>
            <a:ext cx="3586163" cy="476250"/>
          </a:xfrm>
          <a:prstGeom prst="roundRect">
            <a:avLst>
              <a:gd name="adj" fmla="val 36463"/>
            </a:avLst>
          </a:prstGeom>
          <a:solidFill>
            <a:srgbClr val="FFFFFF"/>
          </a:solidFill>
          <a:ln w="28575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36" name="AutoShape 34">
            <a:hlinkClick r:id="rId12"/>
          </p:cNvPr>
          <p:cNvSpPr/>
          <p:nvPr/>
        </p:nvSpPr>
        <p:spPr>
          <a:xfrm>
            <a:off x="5178425" y="6345238"/>
            <a:ext cx="3103563" cy="222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 wrap="none" lIns="54000" tIns="0" rIns="54000" bIns="0" anchor="ctr" anchorCtr="1">
            <a:spAutoFit/>
          </a:bodyPr>
          <a:p>
            <a:pPr lvl="0" eaLnBrk="1" hangingPunct="1">
              <a:spcBef>
                <a:spcPct val="0"/>
              </a:spcBef>
            </a:pPr>
            <a:r>
              <a:rPr lang="en-US" altLang="zh-CN" sz="900" b="1" dirty="0">
                <a:solidFill>
                  <a:srgbClr val="333333"/>
                </a:solidFill>
                <a:latin typeface="Calibri" panose="020F0502020204030204" pitchFamily="34" charset="0"/>
              </a:rPr>
              <a:t>Data Structures &amp; Algorithms (Fall 2013), Tsinghua University</a:t>
            </a:r>
            <a:endParaRPr lang="en-US" altLang="zh-CN" sz="900" b="1" dirty="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  <p:sp>
        <p:nvSpPr>
          <p:cNvPr id="1037" name="Oval 35"/>
          <p:cNvSpPr/>
          <p:nvPr/>
        </p:nvSpPr>
        <p:spPr>
          <a:xfrm>
            <a:off x="8604250" y="6308725"/>
            <a:ext cx="288925" cy="288925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lvl="0" eaLnBrk="1" hangingPunct="1"/>
            <a:fld id="{9A0DB2DC-4C9A-4742-B13C-FB6460FD3503}" type="slidenum">
              <a:rPr lang="zh-CN" altLang="en-US" sz="1600" b="1" dirty="0">
                <a:solidFill>
                  <a:srgbClr val="333333"/>
                </a:solidFill>
                <a:latin typeface="Brush Script MT" pitchFamily="66" charset="0"/>
                <a:ea typeface="黑体" panose="02010609060101010101" pitchFamily="49" charset="-122"/>
              </a:rPr>
            </a:fld>
            <a:endParaRPr lang="zh-CN" altLang="en-US" sz="1600" b="1" dirty="0">
              <a:solidFill>
                <a:srgbClr val="333333"/>
              </a:solidFill>
              <a:latin typeface="Brush Script MT" pitchFamily="66" charset="0"/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60000" fill="hold"/>
                                        <p:tgtEl>
                                          <p:spTgt spid="15462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720000" fill="hold"/>
                                        <p:tgtEl>
                                          <p:spTgt spid="15462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1546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7"/>
                                      </p:to>
                                    </p:set>
                                    <p:animEffect filter="image" prLst="opacity: 0.07">
                                      <p:cBhvr rctx="IE">
                                        <p:cTn id="15" dur="indefinite"/>
                                        <p:tgtEl>
                                          <p:spTgt spid="1546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7" dur="indefinite"/>
                                        <p:tgtEl>
                                          <p:spTgt spid="1546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7"/>
                                      </p:to>
                                    </p:set>
                                    <p:animEffect filter="image" prLst="opacity: 0.07">
                                      <p:cBhvr rctx="IE">
                                        <p:cTn id="18" dur="indefinite"/>
                                        <p:tgtEl>
                                          <p:spTgt spid="1546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1546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7"/>
                                      </p:to>
                                    </p:set>
                                    <p:animEffect filter="image" prLst="opacity: 0.07">
                                      <p:cBhvr rctx="IE">
                                        <p:cTn id="21" dur="indefinite"/>
                                        <p:tgtEl>
                                          <p:spTgt spid="1546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1546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7"/>
                                      </p:to>
                                    </p:set>
                                    <p:animEffect filter="image" prLst="opacity: 0.07">
                                      <p:cBhvr rctx="IE">
                                        <p:cTn id="24" dur="indefinite"/>
                                        <p:tgtEl>
                                          <p:spTgt spid="1546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0"/>
                            </p:stCondLst>
                            <p:childTnLst>
                              <p:par>
                                <p:cTn id="26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546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546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546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546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546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546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9" dur="indefinite"/>
                                        <p:tgtEl>
                                          <p:spTgt spid="1546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0" dur="indefinite"/>
                                        <p:tgtEl>
                                          <p:spTgt spid="1546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2" dur="indefinite"/>
                                        <p:tgtEl>
                                          <p:spTgt spid="1546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3" dur="indefinite"/>
                                        <p:tgtEl>
                                          <p:spTgt spid="1546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5" dur="indefinite"/>
                                        <p:tgtEl>
                                          <p:spTgt spid="1546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6" dur="indefinite"/>
                                        <p:tgtEl>
                                          <p:spTgt spid="1546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8" dur="indefinite"/>
                                        <p:tgtEl>
                                          <p:spTgt spid="1546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9" dur="indefinite"/>
                                        <p:tgtEl>
                                          <p:spTgt spid="1546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9" grpId="0" animBg="1"/>
      <p:bldP spid="1546270" grpId="0" animBg="1"/>
      <p:bldP spid="1546271" grpId="0" build="p">
        <p:tmplLst>
          <p:tmpl lvl="1">
            <p:tnLst>
              <p:par>
                <p:cTn presetID="9" presetClass="emph" presetSubtype="0" nodeType="click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1"/>
                      </p:to>
                    </p:set>
                    <p:animEffect filter="image" prLst="opacity: 1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1"/>
                      </p:to>
                    </p:set>
                    <p:animEffect filter="image" prLst="opacity: 1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1"/>
                      </p:to>
                    </p:set>
                    <p:animEffect filter="image" prLst="opacity: 1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1"/>
                      </p:to>
                    </p:set>
                    <p:animEffect filter="image" prLst="opacity: 1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46271" grpId="1" build="p">
        <p:tmplLst>
          <p:tmpl lvl="1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0.07"/>
                      </p:to>
                    </p:set>
                    <p:animEffect filter="image" prLst="opacity: 0.07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0.07"/>
                      </p:to>
                    </p:set>
                    <p:animEffect filter="image" prLst="opacity: 0.07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0.07"/>
                      </p:to>
                    </p:set>
                    <p:animEffect filter="image" prLst="opacity: 0.07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mph" presetSubtype="0" nodeType="withEffect">
                  <p:stCondLst>
                    <p:cond delay="0"/>
                  </p:stCondLst>
                  <p:childTnLst>
                    <p:set>
                      <p:cBhvr rctx="PPT">
                        <p:cTn dur="indefinite"/>
                        <p:tgtEl>
                          <p:spTgt spid="1546271"/>
                        </p:tgtEl>
                        <p:attrNameLst>
                          <p:attrName>style.opacity</p:attrName>
                        </p:attrNameLst>
                      </p:cBhvr>
                      <p:to>
                        <p:strVal val="0.07"/>
                      </p:to>
                    </p:set>
                    <p:animEffect filter="image" prLst="opacity: 0.07">
                      <p:cBhvr rctx="IE">
                        <p:cTn dur="indefinite"/>
                        <p:tgtEl>
                          <p:spTgt spid="15462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46272" grpId="0" animBg="1"/>
    </p:bldLst>
  </p:timing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Consolas" panose="020B0609020204030204" pitchFamily="49" charset="0"/>
          <a:ea typeface="微软雅黑" panose="020B0503020204020204" pitchFamily="34" charset="-122"/>
          <a:cs typeface="Times New Roman" panose="02020603050405020304" pitchFamily="18" charset="0"/>
        </a:defRPr>
      </a:lvl9pPr>
    </p:titleStyle>
    <p:bodyStyle>
      <a:lvl1pPr marL="266700" indent="-266700" algn="l" defTabSz="193675" rtl="0" fontAlgn="base">
        <a:lnSpc>
          <a:spcPct val="150000"/>
        </a:lnSpc>
        <a:spcBef>
          <a:spcPct val="30000"/>
        </a:spcBef>
        <a:spcAft>
          <a:spcPct val="10000"/>
        </a:spcAft>
        <a:buClr>
          <a:schemeClr val="tx1"/>
        </a:buClr>
        <a:buFont typeface="Wingdings" panose="05000000000000000000" pitchFamily="2" charset="2"/>
        <a:buChar char="v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20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14375" indent="-268605" algn="l" defTabSz="193675" rtl="0" fontAlgn="base">
        <a:lnSpc>
          <a:spcPct val="150000"/>
        </a:lnSpc>
        <a:spcBef>
          <a:spcPct val="30000"/>
        </a:spcBef>
        <a:spcAft>
          <a:spcPct val="10000"/>
        </a:spcAft>
        <a:buClr>
          <a:schemeClr val="tx1"/>
        </a:buClr>
        <a:buFont typeface="Wingdings" panose="05000000000000000000" pitchFamily="2" charset="2"/>
        <a:buChar char="Ø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071880" indent="-177800" algn="l" defTabSz="193675" rtl="0" fontAlgn="base">
        <a:lnSpc>
          <a:spcPct val="150000"/>
        </a:lnSpc>
        <a:spcBef>
          <a:spcPct val="30000"/>
        </a:spcBef>
        <a:spcAft>
          <a:spcPct val="10000"/>
        </a:spcAft>
        <a:buClr>
          <a:schemeClr val="tx1"/>
        </a:buClr>
        <a:buFont typeface="Wingdings" panose="05000000000000000000" pitchFamily="2" charset="2"/>
        <a:buChar char="§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6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438275" indent="-187325" algn="l" defTabSz="193675" rtl="0" fontAlgn="base">
        <a:lnSpc>
          <a:spcPct val="150000"/>
        </a:lnSpc>
        <a:spcBef>
          <a:spcPct val="30000"/>
        </a:spcBef>
        <a:spcAft>
          <a:spcPct val="10000"/>
        </a:spcAft>
        <a:buClr>
          <a:schemeClr val="tx1"/>
        </a:buClr>
        <a:buFont typeface="Wingdings" panose="05000000000000000000" pitchFamily="2" charset="2"/>
        <a:buChar char="§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400" b="1">
          <a:solidFill>
            <a:srgbClr val="333333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786380" indent="-228600" algn="l" defTabSz="193675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200">
          <a:solidFill>
            <a:schemeClr val="tx1"/>
          </a:solidFill>
          <a:latin typeface="Comic Sans MS" panose="030F0702030302020204" pitchFamily="66" charset="0"/>
          <a:ea typeface="文鼎粗钢笔行楷" pitchFamily="33" charset="-122"/>
          <a:cs typeface="+mn-cs"/>
        </a:defRPr>
      </a:lvl5pPr>
      <a:lvl6pPr marL="3243580" indent="-228600" algn="l" defTabSz="193675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200">
          <a:solidFill>
            <a:schemeClr val="tx1"/>
          </a:solidFill>
          <a:latin typeface="Comic Sans MS" panose="030F0702030302020204" pitchFamily="66" charset="0"/>
          <a:ea typeface="文鼎粗钢笔行楷" pitchFamily="33" charset="-122"/>
          <a:cs typeface="+mn-cs"/>
        </a:defRPr>
      </a:lvl6pPr>
      <a:lvl7pPr marL="3700780" indent="-228600" algn="l" defTabSz="193675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200">
          <a:solidFill>
            <a:schemeClr val="tx1"/>
          </a:solidFill>
          <a:latin typeface="Comic Sans MS" panose="030F0702030302020204" pitchFamily="66" charset="0"/>
          <a:ea typeface="文鼎粗钢笔行楷" pitchFamily="33" charset="-122"/>
          <a:cs typeface="+mn-cs"/>
        </a:defRPr>
      </a:lvl7pPr>
      <a:lvl8pPr marL="4157980" indent="-228600" algn="l" defTabSz="193675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200">
          <a:solidFill>
            <a:schemeClr val="tx1"/>
          </a:solidFill>
          <a:latin typeface="Comic Sans MS" panose="030F0702030302020204" pitchFamily="66" charset="0"/>
          <a:ea typeface="文鼎粗钢笔行楷" pitchFamily="33" charset="-122"/>
          <a:cs typeface="+mn-cs"/>
        </a:defRPr>
      </a:lvl8pPr>
      <a:lvl9pPr marL="4615180" indent="-228600" algn="l" defTabSz="193675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tabLst>
          <a:tab pos="266700" algn="l"/>
          <a:tab pos="714375" algn="l"/>
          <a:tab pos="1071245" algn="l"/>
          <a:tab pos="1438275" algn="l"/>
          <a:tab pos="1704975" algn="l"/>
          <a:tab pos="1971675" algn="l"/>
          <a:tab pos="2242820" algn="l"/>
          <a:tab pos="2509520" algn="l"/>
          <a:tab pos="2781300" algn="l"/>
          <a:tab pos="3048000" algn="l"/>
          <a:tab pos="7980045" algn="r"/>
        </a:tabLst>
        <a:defRPr sz="1200">
          <a:solidFill>
            <a:schemeClr val="tx1"/>
          </a:solidFill>
          <a:latin typeface="Comic Sans MS" panose="030F0702030302020204" pitchFamily="66" charset="0"/>
          <a:ea typeface="文鼎粗钢笔行楷" pitchFamily="33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1426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09563"/>
            <a:ext cx="1157288" cy="476250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MaxGap</a:t>
            </a:r>
            <a:endParaRPr kumimoji="0" lang="en-US" altLang="zh-CN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114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616075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任意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个互异点均将实轴分为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段有界区间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另加两段无界的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其中，哪一段最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长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//MaxGap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616075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平凡算法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对所有点排序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最坏情况下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(nlogn)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依次计算各相邻点对的间距，保留最大者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Arial Unicode MS" panose="020B0604020202020204" pitchFamily="34" charset="-122"/>
                <a:cs typeface="Arial Unicode MS" panose="020B0604020202020204" pitchFamily="34" charset="-122"/>
                <a:sym typeface="Symbol" panose="05050102010706020507" pitchFamily="18" charset="2"/>
              </a:rPr>
              <a:t>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empus Sans ITC" pitchFamily="82" charset="0"/>
              <a:ea typeface="hakuyokaishu7000" pitchFamily="2" charset="-122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616075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可否更快？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511541" name="AutoShape 117"/>
          <p:cNvCxnSpPr/>
          <p:nvPr/>
        </p:nvCxnSpPr>
        <p:spPr>
          <a:xfrm flipH="1" flipV="1">
            <a:off x="2698750" y="4294188"/>
            <a:ext cx="1588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11542" name="AutoShape 118"/>
          <p:cNvCxnSpPr/>
          <p:nvPr/>
        </p:nvCxnSpPr>
        <p:spPr>
          <a:xfrm flipH="1" flipV="1">
            <a:off x="3706813" y="4294188"/>
            <a:ext cx="1587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11543" name="AutoShape 119"/>
          <p:cNvCxnSpPr/>
          <p:nvPr/>
        </p:nvCxnSpPr>
        <p:spPr>
          <a:xfrm flipH="1" flipV="1">
            <a:off x="4138613" y="4295775"/>
            <a:ext cx="1587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11544" name="AutoShape 120"/>
          <p:cNvCxnSpPr/>
          <p:nvPr/>
        </p:nvCxnSpPr>
        <p:spPr>
          <a:xfrm flipH="1" flipV="1">
            <a:off x="6299200" y="4295775"/>
            <a:ext cx="1588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11545" name="AutoShape 121"/>
          <p:cNvCxnSpPr/>
          <p:nvPr/>
        </p:nvCxnSpPr>
        <p:spPr>
          <a:xfrm flipH="1" flipV="1">
            <a:off x="6875463" y="4295775"/>
            <a:ext cx="1587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11546" name="AutoShape 122"/>
          <p:cNvSpPr/>
          <p:nvPr/>
        </p:nvSpPr>
        <p:spPr>
          <a:xfrm rot="-5400000" flipH="1">
            <a:off x="7523163" y="4222750"/>
            <a:ext cx="431800" cy="1008063"/>
          </a:xfrm>
          <a:prstGeom prst="flowChartDocument">
            <a:avLst/>
          </a:prstGeom>
          <a:solidFill>
            <a:srgbClr val="EAEAEA"/>
          </a:solidFill>
          <a:ln w="28575" cap="flat" cmpd="sng">
            <a:solidFill>
              <a:srgbClr val="808080"/>
            </a:solidFill>
            <a:prstDash val="sysDot"/>
            <a:miter/>
            <a:headEnd type="none" w="med" len="med"/>
            <a:tailEnd type="none" w="med" len="med"/>
          </a:ln>
        </p:spPr>
        <p:txBody>
          <a:bodyPr vert="eaVert" wrap="none" lIns="0" tIns="0" rIns="0" bIns="0" anchor="ctr" anchorCtr="1"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1511547" name="AutoShape 123"/>
          <p:cNvSpPr/>
          <p:nvPr/>
        </p:nvSpPr>
        <p:spPr>
          <a:xfrm>
            <a:off x="4211638" y="4511675"/>
            <a:ext cx="2016125" cy="4318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maxGap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48" name="AutoShape 124"/>
          <p:cNvSpPr/>
          <p:nvPr/>
        </p:nvSpPr>
        <p:spPr>
          <a:xfrm>
            <a:off x="6372225" y="4511675"/>
            <a:ext cx="431800" cy="4318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49" name="AutoShape 125"/>
          <p:cNvSpPr/>
          <p:nvPr/>
        </p:nvSpPr>
        <p:spPr>
          <a:xfrm>
            <a:off x="6948488" y="4511675"/>
            <a:ext cx="142875" cy="4318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50" name="AutoShape 126"/>
          <p:cNvSpPr/>
          <p:nvPr/>
        </p:nvSpPr>
        <p:spPr>
          <a:xfrm>
            <a:off x="3779838" y="4511675"/>
            <a:ext cx="287337" cy="4318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51" name="AutoShape 127"/>
          <p:cNvSpPr/>
          <p:nvPr/>
        </p:nvSpPr>
        <p:spPr>
          <a:xfrm>
            <a:off x="2771775" y="451167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52" name="AutoShape 128"/>
          <p:cNvSpPr/>
          <p:nvPr/>
        </p:nvSpPr>
        <p:spPr>
          <a:xfrm>
            <a:off x="2051050" y="4511675"/>
            <a:ext cx="576263" cy="43180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7184" name="AutoShape 129"/>
          <p:cNvSpPr/>
          <p:nvPr/>
        </p:nvSpPr>
        <p:spPr>
          <a:xfrm rot="5400000" flipH="1">
            <a:off x="1187450" y="4222750"/>
            <a:ext cx="431800" cy="1008063"/>
          </a:xfrm>
          <a:prstGeom prst="flowChartDocument">
            <a:avLst/>
          </a:prstGeom>
          <a:solidFill>
            <a:srgbClr val="EAEAEA"/>
          </a:solidFill>
          <a:ln w="28575" cap="flat" cmpd="sng">
            <a:solidFill>
              <a:srgbClr val="808080"/>
            </a:solidFill>
            <a:prstDash val="sysDot"/>
            <a:miter/>
            <a:headEnd type="none" w="med" len="med"/>
            <a:tailEnd type="none" w="med" len="med"/>
          </a:ln>
        </p:spPr>
        <p:txBody>
          <a:bodyPr rot="10800000" vert="eaVert" wrap="none" lIns="0" tIns="0" rIns="0" bIns="0" anchor="ctr" anchorCtr="1"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楷体_GB2312" pitchFamily="49" charset="-122"/>
            </a:endParaRPr>
          </a:p>
        </p:txBody>
      </p:sp>
      <p:cxnSp>
        <p:nvCxnSpPr>
          <p:cNvPr id="1511554" name="AutoShape 130"/>
          <p:cNvCxnSpPr/>
          <p:nvPr/>
        </p:nvCxnSpPr>
        <p:spPr>
          <a:xfrm>
            <a:off x="1979613" y="4294188"/>
            <a:ext cx="0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11555" name="Oval 131"/>
          <p:cNvSpPr/>
          <p:nvPr/>
        </p:nvSpPr>
        <p:spPr>
          <a:xfrm>
            <a:off x="1835150" y="4005263"/>
            <a:ext cx="287338" cy="287337"/>
          </a:xfrm>
          <a:prstGeom prst="ellipse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lo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511556" name="AutoShape 132"/>
          <p:cNvCxnSpPr/>
          <p:nvPr/>
        </p:nvCxnSpPr>
        <p:spPr>
          <a:xfrm>
            <a:off x="7164388" y="4294188"/>
            <a:ext cx="0" cy="863600"/>
          </a:xfrm>
          <a:prstGeom prst="straightConnector1">
            <a:avLst/>
          </a:prstGeom>
          <a:ln w="412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511557" name="Oval 133"/>
          <p:cNvSpPr/>
          <p:nvPr/>
        </p:nvSpPr>
        <p:spPr>
          <a:xfrm>
            <a:off x="7019925" y="4005263"/>
            <a:ext cx="287338" cy="287337"/>
          </a:xfrm>
          <a:prstGeom prst="ellipse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hi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11558" name="Rectangle 134"/>
          <p:cNvSpPr/>
          <p:nvPr/>
        </p:nvSpPr>
        <p:spPr>
          <a:xfrm>
            <a:off x="1979613" y="5588000"/>
            <a:ext cx="863600" cy="431800"/>
          </a:xfrm>
          <a:prstGeom prst="rect">
            <a:avLst/>
          </a:prstGeom>
          <a:solidFill>
            <a:srgbClr val="4D4D4D"/>
          </a:solidFill>
          <a:ln w="28575" cap="flat" cmpd="sng">
            <a:solidFill>
              <a:srgbClr val="DDDDD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59" name="Rectangle 135"/>
          <p:cNvSpPr/>
          <p:nvPr/>
        </p:nvSpPr>
        <p:spPr>
          <a:xfrm>
            <a:off x="2843213" y="5589588"/>
            <a:ext cx="863600" cy="4318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60" name="Rectangle 136"/>
          <p:cNvSpPr/>
          <p:nvPr/>
        </p:nvSpPr>
        <p:spPr>
          <a:xfrm>
            <a:off x="3708400" y="5588000"/>
            <a:ext cx="863600" cy="431800"/>
          </a:xfrm>
          <a:prstGeom prst="rect">
            <a:avLst/>
          </a:prstGeom>
          <a:solidFill>
            <a:srgbClr val="4D4D4D"/>
          </a:solidFill>
          <a:ln w="28575" cap="flat" cmpd="sng">
            <a:solidFill>
              <a:srgbClr val="DDDDDD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61" name="Rectangle 137"/>
          <p:cNvSpPr/>
          <p:nvPr/>
        </p:nvSpPr>
        <p:spPr>
          <a:xfrm>
            <a:off x="4572000" y="5589588"/>
            <a:ext cx="863600" cy="4318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62" name="Rectangle 138"/>
          <p:cNvSpPr/>
          <p:nvPr/>
        </p:nvSpPr>
        <p:spPr>
          <a:xfrm>
            <a:off x="5435600" y="5589588"/>
            <a:ext cx="863600" cy="431800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...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63" name="Rectangle 139"/>
          <p:cNvSpPr/>
          <p:nvPr/>
        </p:nvSpPr>
        <p:spPr>
          <a:xfrm>
            <a:off x="6300788" y="5588000"/>
            <a:ext cx="863600" cy="431800"/>
          </a:xfrm>
          <a:prstGeom prst="rect">
            <a:avLst/>
          </a:prstGeom>
          <a:solidFill>
            <a:srgbClr val="4D4D4D"/>
          </a:solidFill>
          <a:ln w="28575" cap="flat" cmpd="sng">
            <a:solidFill>
              <a:srgbClr val="DDDDD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n-2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64" name="Rectangle 140"/>
          <p:cNvSpPr/>
          <p:nvPr/>
        </p:nvSpPr>
        <p:spPr>
          <a:xfrm>
            <a:off x="7164388" y="5588000"/>
            <a:ext cx="863600" cy="431800"/>
          </a:xfrm>
          <a:prstGeom prst="rect">
            <a:avLst/>
          </a:prstGeom>
          <a:solidFill>
            <a:srgbClr val="4D4D4D"/>
          </a:solidFill>
          <a:ln w="28575" cap="flat" cmpd="sng">
            <a:solidFill>
              <a:srgbClr val="DDDDDD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n-1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1511565" name="Rectangle 141"/>
          <p:cNvSpPr/>
          <p:nvPr/>
        </p:nvSpPr>
        <p:spPr>
          <a:xfrm>
            <a:off x="971550" y="5589588"/>
            <a:ext cx="863600" cy="431800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ht[]:</a:t>
            </a:r>
            <a:endParaRPr lang="en-US" altLang="zh-CN" sz="18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11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115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115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11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1511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511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11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511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511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11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511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11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11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511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511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11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5115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115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5115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300" fill="hold"/>
                                        <p:tgtEl>
                                          <p:spTgt spid="1511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511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115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5115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115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115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" dur="300" fill="hold"/>
                                        <p:tgtEl>
                                          <p:spTgt spid="15115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5115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15115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511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115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115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115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" dur="300" fill="hold"/>
                                        <p:tgtEl>
                                          <p:spTgt spid="1511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511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300" fill="hold"/>
                                        <p:tgtEl>
                                          <p:spTgt spid="15115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8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511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511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511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11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" dur="300" fill="hold"/>
                                        <p:tgtEl>
                                          <p:spTgt spid="1511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11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300" fill="hold"/>
                                        <p:tgtEl>
                                          <p:spTgt spid="1511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49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11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511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511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11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6" dur="300" fill="hold"/>
                                        <p:tgtEl>
                                          <p:spTgt spid="1511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511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300" fill="hold"/>
                                        <p:tgtEl>
                                          <p:spTgt spid="1511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0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511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1511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511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11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" dur="300" fill="hold"/>
                                        <p:tgtEl>
                                          <p:spTgt spid="1511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511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1511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1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511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511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511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11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0" dur="300" fill="hold"/>
                                        <p:tgtEl>
                                          <p:spTgt spid="1511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511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15115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7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3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4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511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5115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5115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5115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2" dur="300" fill="hold"/>
                                        <p:tgtEl>
                                          <p:spTgt spid="1511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11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5115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9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1511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5115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5115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5115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4" dur="300" fill="hold"/>
                                        <p:tgtEl>
                                          <p:spTgt spid="15115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5115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511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61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1511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115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115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5115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6" dur="300" fill="hold"/>
                                        <p:tgtEl>
                                          <p:spTgt spid="1511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511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5115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62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511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511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511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511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4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11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511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11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11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511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1511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1511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511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6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511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511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1511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511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511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15115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5115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5115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0" dur="300" fill="hold"/>
                                        <p:tgtEl>
                                          <p:spTgt spid="1511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511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300" fill="hold"/>
                                        <p:tgtEl>
                                          <p:spTgt spid="15115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5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15115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15115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5115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5115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2" dur="300" fill="hold"/>
                                        <p:tgtEl>
                                          <p:spTgt spid="15115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5115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15115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60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511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15115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5115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5115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4" dur="300" fill="hold"/>
                                        <p:tgtEl>
                                          <p:spTgt spid="15115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5115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" dur="300" fill="hold"/>
                                        <p:tgtEl>
                                          <p:spTgt spid="15115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63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511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2" dur="300" fill="hold"/>
                                        <p:tgtEl>
                                          <p:spTgt spid="15115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15115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5115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6" dur="300" fill="hold"/>
                                        <p:tgtEl>
                                          <p:spTgt spid="15115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5115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15115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64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511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511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11565"/>
                  </p:tgtEl>
                </p:cond>
              </p:nextCondLst>
            </p:seq>
          </p:childTnLst>
        </p:cTn>
      </p:par>
    </p:tnLst>
    <p:bldLst>
      <p:bldP spid="1511547" grpId="0" animBg="1"/>
      <p:bldP spid="1511548" grpId="0" animBg="1"/>
      <p:bldP spid="1511549" grpId="0" animBg="1"/>
      <p:bldP spid="1511550" grpId="0" animBg="1"/>
      <p:bldP spid="1511551" grpId="0" animBg="1"/>
      <p:bldP spid="1511552" grpId="0" animBg="1"/>
      <p:bldP spid="1511555" grpId="0"/>
      <p:bldP spid="1511555" grpId="1"/>
      <p:bldP spid="1511557" grpId="0"/>
      <p:bldP spid="1511557" grpId="1"/>
      <p:bldP spid="1511558" grpId="0" animBg="1"/>
      <p:bldP spid="1511559" grpId="0" animBg="1"/>
      <p:bldP spid="1511560" grpId="0" animBg="1"/>
      <p:bldP spid="1511561" grpId="0" animBg="1"/>
      <p:bldP spid="1511562" grpId="0" animBg="1"/>
      <p:bldP spid="151156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24" name="AutoShape 4"/>
          <p:cNvSpPr>
            <a:spLocks noGrp="1" noChangeArrowheads="1"/>
          </p:cNvSpPr>
          <p:nvPr>
            <p:ph type="title"/>
          </p:nvPr>
        </p:nvSpPr>
        <p:spPr>
          <a:xfrm>
            <a:off x="774700" y="309563"/>
            <a:ext cx="1157288" cy="476250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MaxGap</a:t>
            </a:r>
            <a:endParaRPr kumimoji="0" lang="en-US" altLang="zh-CN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5952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233680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4489450" algn="r"/>
                <a:tab pos="4665345" algn="l"/>
                <a:tab pos="789749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采用分桶策略，可改进至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找到最左点、最右点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一趟线性扫描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将有效范围均匀地划分为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段（桶）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相当于散列表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通过散列，将各点归入对应的桶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模余法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在各桶中，动态记录最左点、最右点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可能相同甚至没有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算出相邻（非空）桶之间的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距离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一趟遍历足矣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最大的距离即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MaxGap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itchFamily="66" charset="0"/>
                <a:ea typeface="+mn-ea"/>
                <a:cs typeface="+mn-cs"/>
              </a:rPr>
              <a:t>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(n)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画家算法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233680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4489450" algn="r"/>
                <a:tab pos="4665345" algn="l"/>
                <a:tab pos="789749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正确性：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MaxGap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至少与（相邻的）两个桶相交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等价地，定义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MaxGap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的点不可能属于同一个桶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hakuyokaishu7000" pitchFamily="2" charset="-122"/>
              <a:cs typeface="+mn-cs"/>
            </a:endParaRPr>
          </a:p>
          <a:p>
            <a:pPr marL="266700" marR="0" lvl="0" indent="-266700" algn="l" defTabSz="233680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4489450" algn="r"/>
                <a:tab pos="4665345" algn="l"/>
                <a:tab pos="789749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对称的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MinGap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问题：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段有界区间中，何者最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短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可否沿用上法？可否突破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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(nlogn)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的下界？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SA (Fall 2013), Junhui DENG">
  <a:themeElements>
    <a:clrScheme name="DSA (Fall 2013), Junhui DENG 9">
      <a:dk1>
        <a:srgbClr val="1C1C1C"/>
      </a:dk1>
      <a:lt1>
        <a:srgbClr val="FFFFFF"/>
      </a:lt1>
      <a:dk2>
        <a:srgbClr val="111111"/>
      </a:dk2>
      <a:lt2>
        <a:srgbClr val="EAEAEA"/>
      </a:lt2>
      <a:accent1>
        <a:srgbClr val="0099FF"/>
      </a:accent1>
      <a:accent2>
        <a:srgbClr val="A50021"/>
      </a:accent2>
      <a:accent3>
        <a:srgbClr val="FFFFFF"/>
      </a:accent3>
      <a:accent4>
        <a:srgbClr val="161616"/>
      </a:accent4>
      <a:accent5>
        <a:srgbClr val="AACAFF"/>
      </a:accent5>
      <a:accent6>
        <a:srgbClr val="95001D"/>
      </a:accent6>
      <a:hlink>
        <a:srgbClr val="0417A4"/>
      </a:hlink>
      <a:folHlink>
        <a:srgbClr val="1313E3"/>
      </a:folHlink>
    </a:clrScheme>
    <a:fontScheme name="DSA (Fall 2013), Junhui DENG">
      <a:majorFont>
        <a:latin typeface="Consolas"/>
        <a:ea typeface="微软雅黑"/>
        <a:cs typeface="Times New Roman"/>
      </a:majorFont>
      <a:minorFont>
        <a:latin typeface="Consolas"/>
        <a:ea typeface="微软雅黑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333333"/>
          </a:solidFill>
          <a:prstDash val="solid"/>
          <a:round/>
          <a:headEnd type="none" w="med" len="med"/>
          <a:tailEnd type="none" w="med" len="med"/>
        </a:ln>
      </a:spPr>
      <a:bodyPr vert="horz" wrap="square" lIns="36000" tIns="36000" rIns="36000" bIns="360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nsolas" panose="020B0609020204030204" pitchFamily="49" charset="0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333333"/>
          </a:solidFill>
          <a:prstDash val="solid"/>
          <a:round/>
          <a:headEnd type="none" w="med" len="med"/>
          <a:tailEnd type="none" w="med" len="med"/>
        </a:ln>
      </a:spPr>
      <a:bodyPr vert="horz" wrap="square" lIns="36000" tIns="36000" rIns="36000" bIns="3600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tx1"/>
          </a:buClr>
          <a:buSzPct val="75000"/>
          <a:buFont typeface="Wingdings" panose="05000000000000000000" pitchFamily="2" charset="2"/>
          <a:buNone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nsolas" panose="020B0609020204030204" pitchFamily="49" charset="0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DSA (Fall 2013), Junhui DENG 1">
        <a:dk1>
          <a:srgbClr val="000099"/>
        </a:dk1>
        <a:lt1>
          <a:srgbClr val="ECDEC6"/>
        </a:lt1>
        <a:dk2>
          <a:srgbClr val="000000"/>
        </a:dk2>
        <a:lt2>
          <a:srgbClr val="FFCC99"/>
        </a:lt2>
        <a:accent1>
          <a:srgbClr val="00CCFF"/>
        </a:accent1>
        <a:accent2>
          <a:srgbClr val="FF0066"/>
        </a:accent2>
        <a:accent3>
          <a:srgbClr val="AAAAAA"/>
        </a:accent3>
        <a:accent4>
          <a:srgbClr val="C9BDA9"/>
        </a:accent4>
        <a:accent5>
          <a:srgbClr val="AAE2FF"/>
        </a:accent5>
        <a:accent6>
          <a:srgbClr val="E7005C"/>
        </a:accent6>
        <a:hlink>
          <a:srgbClr val="69CF1D"/>
        </a:hlink>
        <a:folHlink>
          <a:srgbClr val="57BA2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 (Fall 2013), Junhui DENG 2">
        <a:dk1>
          <a:srgbClr val="000099"/>
        </a:dk1>
        <a:lt1>
          <a:srgbClr val="ECDEC6"/>
        </a:lt1>
        <a:dk2>
          <a:srgbClr val="000000"/>
        </a:dk2>
        <a:lt2>
          <a:srgbClr val="FFCC99"/>
        </a:lt2>
        <a:accent1>
          <a:srgbClr val="00CCFF"/>
        </a:accent1>
        <a:accent2>
          <a:srgbClr val="FF0066"/>
        </a:accent2>
        <a:accent3>
          <a:srgbClr val="AAAAAA"/>
        </a:accent3>
        <a:accent4>
          <a:srgbClr val="C9BDA9"/>
        </a:accent4>
        <a:accent5>
          <a:srgbClr val="AAE2FF"/>
        </a:accent5>
        <a:accent6>
          <a:srgbClr val="E7005C"/>
        </a:accent6>
        <a:hlink>
          <a:srgbClr val="445AFA"/>
        </a:hlink>
        <a:folHlink>
          <a:srgbClr val="1313E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 (Fall 2013), Junhui DENG 3">
        <a:dk1>
          <a:srgbClr val="000099"/>
        </a:dk1>
        <a:lt1>
          <a:srgbClr val="ECDEC6"/>
        </a:lt1>
        <a:dk2>
          <a:srgbClr val="000000"/>
        </a:dk2>
        <a:lt2>
          <a:srgbClr val="FFCC99"/>
        </a:lt2>
        <a:accent1>
          <a:srgbClr val="00CCFF"/>
        </a:accent1>
        <a:accent2>
          <a:srgbClr val="FF0066"/>
        </a:accent2>
        <a:accent3>
          <a:srgbClr val="AAAAAA"/>
        </a:accent3>
        <a:accent4>
          <a:srgbClr val="C9BDA9"/>
        </a:accent4>
        <a:accent5>
          <a:srgbClr val="AAE2FF"/>
        </a:accent5>
        <a:accent6>
          <a:srgbClr val="E7005C"/>
        </a:accent6>
        <a:hlink>
          <a:srgbClr val="96A2FC"/>
        </a:hlink>
        <a:folHlink>
          <a:srgbClr val="4A4AF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 (Fall 2013), Junhui DENG 4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0099FF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CAFF"/>
        </a:accent5>
        <a:accent6>
          <a:srgbClr val="95001D"/>
        </a:accent6>
        <a:hlink>
          <a:srgbClr val="0417A4"/>
        </a:hlink>
        <a:folHlink>
          <a:srgbClr val="1313E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 (Fall 2013), Junhui DENG 5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0099FF"/>
        </a:accent1>
        <a:accent2>
          <a:srgbClr val="A50021"/>
        </a:accent2>
        <a:accent3>
          <a:srgbClr val="FFFFFF"/>
        </a:accent3>
        <a:accent4>
          <a:srgbClr val="2A2A2A"/>
        </a:accent4>
        <a:accent5>
          <a:srgbClr val="AACAFF"/>
        </a:accent5>
        <a:accent6>
          <a:srgbClr val="95001D"/>
        </a:accent6>
        <a:hlink>
          <a:srgbClr val="0417A4"/>
        </a:hlink>
        <a:folHlink>
          <a:srgbClr val="1313E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 (Fall 2013), Junhui DENG 6">
        <a:dk1>
          <a:srgbClr val="333333"/>
        </a:dk1>
        <a:lt1>
          <a:srgbClr val="FFFFFF"/>
        </a:lt1>
        <a:dk2>
          <a:srgbClr val="FF00FF"/>
        </a:dk2>
        <a:lt2>
          <a:srgbClr val="808080"/>
        </a:lt2>
        <a:accent1>
          <a:srgbClr val="0099FF"/>
        </a:accent1>
        <a:accent2>
          <a:srgbClr val="A50021"/>
        </a:accent2>
        <a:accent3>
          <a:srgbClr val="FFFFFF"/>
        </a:accent3>
        <a:accent4>
          <a:srgbClr val="2A2A2A"/>
        </a:accent4>
        <a:accent5>
          <a:srgbClr val="AACAFF"/>
        </a:accent5>
        <a:accent6>
          <a:srgbClr val="95001D"/>
        </a:accent6>
        <a:hlink>
          <a:srgbClr val="0417A4"/>
        </a:hlink>
        <a:folHlink>
          <a:srgbClr val="1313E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 (Fall 2013), Junhui DENG 7">
        <a:dk1>
          <a:srgbClr val="1C1C1C"/>
        </a:dk1>
        <a:lt1>
          <a:srgbClr val="FFFFFF"/>
        </a:lt1>
        <a:dk2>
          <a:srgbClr val="111111"/>
        </a:dk2>
        <a:lt2>
          <a:srgbClr val="808080"/>
        </a:lt2>
        <a:accent1>
          <a:srgbClr val="0099FF"/>
        </a:accent1>
        <a:accent2>
          <a:srgbClr val="A50021"/>
        </a:accent2>
        <a:accent3>
          <a:srgbClr val="FFFFFF"/>
        </a:accent3>
        <a:accent4>
          <a:srgbClr val="161616"/>
        </a:accent4>
        <a:accent5>
          <a:srgbClr val="AACAFF"/>
        </a:accent5>
        <a:accent6>
          <a:srgbClr val="95001D"/>
        </a:accent6>
        <a:hlink>
          <a:srgbClr val="0417A4"/>
        </a:hlink>
        <a:folHlink>
          <a:srgbClr val="1313E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 (Fall 2013), Junhui DENG 8">
        <a:dk1>
          <a:srgbClr val="1C1C1C"/>
        </a:dk1>
        <a:lt1>
          <a:srgbClr val="FFFFFF"/>
        </a:lt1>
        <a:dk2>
          <a:srgbClr val="111111"/>
        </a:dk2>
        <a:lt2>
          <a:srgbClr val="B2B2B2"/>
        </a:lt2>
        <a:accent1>
          <a:srgbClr val="0099FF"/>
        </a:accent1>
        <a:accent2>
          <a:srgbClr val="A50021"/>
        </a:accent2>
        <a:accent3>
          <a:srgbClr val="FFFFFF"/>
        </a:accent3>
        <a:accent4>
          <a:srgbClr val="161616"/>
        </a:accent4>
        <a:accent5>
          <a:srgbClr val="AACAFF"/>
        </a:accent5>
        <a:accent6>
          <a:srgbClr val="95001D"/>
        </a:accent6>
        <a:hlink>
          <a:srgbClr val="0417A4"/>
        </a:hlink>
        <a:folHlink>
          <a:srgbClr val="1313E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 (Fall 2013), Junhui DENG 9">
        <a:dk1>
          <a:srgbClr val="1C1C1C"/>
        </a:dk1>
        <a:lt1>
          <a:srgbClr val="FFFFFF"/>
        </a:lt1>
        <a:dk2>
          <a:srgbClr val="111111"/>
        </a:dk2>
        <a:lt2>
          <a:srgbClr val="EAEAEA"/>
        </a:lt2>
        <a:accent1>
          <a:srgbClr val="0099FF"/>
        </a:accent1>
        <a:accent2>
          <a:srgbClr val="A50021"/>
        </a:accent2>
        <a:accent3>
          <a:srgbClr val="FFFFFF"/>
        </a:accent3>
        <a:accent4>
          <a:srgbClr val="161616"/>
        </a:accent4>
        <a:accent5>
          <a:srgbClr val="AACAFF"/>
        </a:accent5>
        <a:accent6>
          <a:srgbClr val="95001D"/>
        </a:accent6>
        <a:hlink>
          <a:srgbClr val="0417A4"/>
        </a:hlink>
        <a:folHlink>
          <a:srgbClr val="131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WPS 演示</Application>
  <PresentationFormat>全屏显示(4:3)</PresentationFormat>
  <Paragraphs>34</Paragraphs>
  <Slides>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4" baseType="lpstr">
      <vt:lpstr>Arial</vt:lpstr>
      <vt:lpstr>宋体</vt:lpstr>
      <vt:lpstr>Wingdings</vt:lpstr>
      <vt:lpstr>Consolas</vt:lpstr>
      <vt:lpstr>微软雅黑</vt:lpstr>
      <vt:lpstr>Times New Roman</vt:lpstr>
      <vt:lpstr>Comic Sans MS</vt:lpstr>
      <vt:lpstr>文鼎粗钢笔行楷</vt:lpstr>
      <vt:lpstr>Calibri</vt:lpstr>
      <vt:lpstr>黑体</vt:lpstr>
      <vt:lpstr>Brush Script MT</vt:lpstr>
      <vt:lpstr>Segoe Print</vt:lpstr>
      <vt:lpstr>华文行楷</vt:lpstr>
      <vt:lpstr>Arial Unicode MS</vt:lpstr>
      <vt:lpstr>Symbol</vt:lpstr>
      <vt:lpstr>Tempus Sans ITC</vt:lpstr>
      <vt:lpstr>hakuyokaishu7000</vt:lpstr>
      <vt:lpstr>BrushScript BT</vt:lpstr>
      <vt:lpstr>楷体_GB2312</vt:lpstr>
      <vt:lpstr>新宋体</vt:lpstr>
      <vt:lpstr>Calibri</vt:lpstr>
      <vt:lpstr>DSA (Fall 2013), Junhui DENG</vt:lpstr>
      <vt:lpstr>PowerPoint 演示文稿</vt:lpstr>
      <vt:lpstr>PowerPoint 演示文稿</vt:lpstr>
    </vt:vector>
  </TitlesOfParts>
  <Company>Tsinghua Computer</Company>
  <LinksUpToDate>false</LinksUpToDate>
  <SharedDoc>false</SharedDoc>
  <HyperlinksChanged>false</HyperlinksChanged>
  <AppVersion>14.0000</AppVersion>
  <Manager>Junhui DENG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Lecturenote</dc:title>
  <dc:creator>Junhui DENG</dc:creator>
  <cp:keywords>data structures, algorithms</cp:keywords>
  <dc:description>----------------------------Copyright(c) Junhui DENG, 2009-9002Computer Science &amp; TechnologyTsinghua University----------------------------Permission to print, copy, modify, and distribute these notes for educational purposes and without fee is hereby granted, provided that this copyright notice appear in all copies.----------------------------These notes can be downloaded from http://vis.cs.tsinghua.edu.cn/~deng/ds/----------------------------All comments are welcome.Send your comments please to deng@tsinghua.edu.cn</dc:description>
  <dc:subject>Data Structures &amp; Algorithms</dc:subject>
  <cp:category>Lecturenote</cp:category>
  <cp:lastModifiedBy>刘明铭</cp:lastModifiedBy>
  <cp:revision>3606</cp:revision>
  <cp:lastPrinted>2009-06-07T10:49:00Z</cp:lastPrinted>
  <dcterms:created xsi:type="dcterms:W3CDTF">2001-12-07T09:46:09Z</dcterms:created>
  <dcterms:modified xsi:type="dcterms:W3CDTF">2020-11-02T05:39:47Z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000800020b0000000000010251500207f7000400038000</vt:lpwstr>
  </property>
  <property fmtid="{D5CDD505-2E9C-101B-9397-08002B2CF9AE}" pid="3" name="KSOProductBuildVer">
    <vt:lpwstr>2052-11.1.0.10072</vt:lpwstr>
  </property>
</Properties>
</file>