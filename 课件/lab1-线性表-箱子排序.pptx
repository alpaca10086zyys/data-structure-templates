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60" r:id="rId6"/>
    <p:sldId id="261" r:id="rId7"/>
    <p:sldId id="262" r:id="rId8"/>
    <p:sldId id="258" r:id="rId9"/>
    <p:sldId id="259" r:id="rId10"/>
    <p:sldId id="267" r:id="rId11"/>
    <p:sldId id="268" r:id="rId12"/>
    <p:sldId id="269" r:id="rId13"/>
    <p:sldId id="263" r:id="rId14"/>
    <p:sldId id="264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40"/>
        <p:guide pos="37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94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1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箱子排序实现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在此输入您的封面副标题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箱子排序实现</a:t>
            </a:r>
            <a:r>
              <a:rPr lang="en-US" altLang="zh-CN">
                <a:sym typeface="+mn-ea"/>
              </a:rPr>
              <a:t>1</a:t>
            </a:r>
            <a:r>
              <a:t>    </a:t>
            </a:r>
            <a:r>
              <a:rPr lang="en-US" altLang="zh-CN"/>
              <a:t>O(4*n+range)</a:t>
            </a:r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831215" y="1538605"/>
            <a:ext cx="906145" cy="368300"/>
            <a:chOff x="1309" y="2400"/>
            <a:chExt cx="1427" cy="580"/>
          </a:xfrm>
        </p:grpSpPr>
        <p:grpSp>
          <p:nvGrpSpPr>
            <p:cNvPr id="7" name="组合 6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文本框 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052320" y="1548765"/>
            <a:ext cx="905510" cy="368300"/>
            <a:chOff x="1309" y="2400"/>
            <a:chExt cx="1426" cy="580"/>
          </a:xfrm>
        </p:grpSpPr>
        <p:grpSp>
          <p:nvGrpSpPr>
            <p:cNvPr id="11" name="组合 1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/>
              <p:cNvCxnSpPr>
                <a:stCxn id="12" idx="0"/>
                <a:endCxn id="1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" name="文本框 1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273425" y="1548765"/>
            <a:ext cx="905510" cy="368300"/>
            <a:chOff x="1309" y="2400"/>
            <a:chExt cx="1426" cy="580"/>
          </a:xfrm>
        </p:grpSpPr>
        <p:grpSp>
          <p:nvGrpSpPr>
            <p:cNvPr id="16" name="组合 1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/>
              <p:cNvCxnSpPr>
                <a:stCxn id="17" idx="0"/>
                <a:endCxn id="1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" name="文本框 1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494530" y="1548765"/>
            <a:ext cx="905510" cy="368300"/>
            <a:chOff x="1309" y="2400"/>
            <a:chExt cx="1426" cy="580"/>
          </a:xfrm>
        </p:grpSpPr>
        <p:grpSp>
          <p:nvGrpSpPr>
            <p:cNvPr id="21" name="组合 2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>
                <a:stCxn id="22" idx="0"/>
                <a:endCxn id="2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cxnSp>
        <p:nvCxnSpPr>
          <p:cNvPr id="30" name="直接箭头连接符 29"/>
          <p:cNvCxnSpPr/>
          <p:nvPr/>
        </p:nvCxnSpPr>
        <p:spPr>
          <a:xfrm flipV="1">
            <a:off x="1510030" y="1732915"/>
            <a:ext cx="55054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2743200" y="1732915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3975735" y="1732915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5208270" y="1732915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5765165" y="1534795"/>
            <a:ext cx="905510" cy="368300"/>
            <a:chOff x="1309" y="2400"/>
            <a:chExt cx="1426" cy="580"/>
          </a:xfrm>
        </p:grpSpPr>
        <p:grpSp>
          <p:nvGrpSpPr>
            <p:cNvPr id="36" name="组合 3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8" name="直接连接符 37"/>
              <p:cNvCxnSpPr>
                <a:stCxn id="37" idx="0"/>
                <a:endCxn id="3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框 3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980555" y="1527810"/>
            <a:ext cx="905510" cy="368300"/>
            <a:chOff x="1309" y="2400"/>
            <a:chExt cx="1426" cy="580"/>
          </a:xfrm>
        </p:grpSpPr>
        <p:grpSp>
          <p:nvGrpSpPr>
            <p:cNvPr id="41" name="组合 4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>
                <a:stCxn id="42" idx="0"/>
                <a:endCxn id="4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201660" y="1527810"/>
            <a:ext cx="905510" cy="368300"/>
            <a:chOff x="1309" y="2400"/>
            <a:chExt cx="1426" cy="580"/>
          </a:xfrm>
        </p:grpSpPr>
        <p:grpSp>
          <p:nvGrpSpPr>
            <p:cNvPr id="46" name="组合 4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8" name="直接连接符 47"/>
              <p:cNvCxnSpPr>
                <a:stCxn id="47" idx="0"/>
                <a:endCxn id="4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文本框 4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422765" y="1527810"/>
            <a:ext cx="905510" cy="368300"/>
            <a:chOff x="1309" y="2400"/>
            <a:chExt cx="1426" cy="580"/>
          </a:xfrm>
        </p:grpSpPr>
        <p:grpSp>
          <p:nvGrpSpPr>
            <p:cNvPr id="51" name="组合 5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3" name="直接连接符 52"/>
              <p:cNvCxnSpPr>
                <a:stCxn id="52" idx="0"/>
                <a:endCxn id="5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文本框 5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cxnSp>
        <p:nvCxnSpPr>
          <p:cNvPr id="55" name="直接箭头连接符 54"/>
          <p:cNvCxnSpPr/>
          <p:nvPr/>
        </p:nvCxnSpPr>
        <p:spPr>
          <a:xfrm flipV="1">
            <a:off x="6438265" y="1711960"/>
            <a:ext cx="55054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7671435" y="171196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8903970" y="171196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10136505" y="171196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10687685" y="1512570"/>
            <a:ext cx="905510" cy="368300"/>
            <a:chOff x="1309" y="2400"/>
            <a:chExt cx="1426" cy="580"/>
          </a:xfrm>
        </p:grpSpPr>
        <p:grpSp>
          <p:nvGrpSpPr>
            <p:cNvPr id="60" name="组合 5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2" name="直接连接符 61"/>
              <p:cNvCxnSpPr>
                <a:stCxn id="61" idx="0"/>
                <a:endCxn id="6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31215" y="2755265"/>
            <a:ext cx="905510" cy="368300"/>
            <a:chOff x="1309" y="2400"/>
            <a:chExt cx="1426" cy="580"/>
          </a:xfrm>
        </p:grpSpPr>
        <p:grpSp>
          <p:nvGrpSpPr>
            <p:cNvPr id="65" name="组合 6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7" name="直接连接符 66"/>
              <p:cNvCxnSpPr>
                <a:stCxn id="66" idx="0"/>
                <a:endCxn id="6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31215" y="3046095"/>
            <a:ext cx="905510" cy="368300"/>
            <a:chOff x="1309" y="2400"/>
            <a:chExt cx="1426" cy="580"/>
          </a:xfrm>
        </p:grpSpPr>
        <p:grpSp>
          <p:nvGrpSpPr>
            <p:cNvPr id="70" name="组合 6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2" name="直接连接符 71"/>
              <p:cNvCxnSpPr>
                <a:stCxn id="71" idx="0"/>
                <a:endCxn id="7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3" name="文本框 7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26135" y="3339465"/>
            <a:ext cx="905510" cy="368300"/>
            <a:chOff x="1309" y="2400"/>
            <a:chExt cx="1426" cy="580"/>
          </a:xfrm>
        </p:grpSpPr>
        <p:grpSp>
          <p:nvGrpSpPr>
            <p:cNvPr id="75" name="组合 7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7" name="直接连接符 76"/>
              <p:cNvCxnSpPr>
                <a:stCxn id="76" idx="0"/>
                <a:endCxn id="7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26135" y="3630295"/>
            <a:ext cx="905510" cy="368300"/>
            <a:chOff x="1309" y="2400"/>
            <a:chExt cx="1426" cy="580"/>
          </a:xfrm>
        </p:grpSpPr>
        <p:grpSp>
          <p:nvGrpSpPr>
            <p:cNvPr id="80" name="组合 7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/>
              <p:cNvCxnSpPr>
                <a:stCxn id="81" idx="0"/>
                <a:endCxn id="8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3" name="文本框 8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826770" y="3921760"/>
            <a:ext cx="905510" cy="368300"/>
            <a:chOff x="1309" y="2400"/>
            <a:chExt cx="1426" cy="580"/>
          </a:xfrm>
        </p:grpSpPr>
        <p:grpSp>
          <p:nvGrpSpPr>
            <p:cNvPr id="85" name="组合 8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/>
              <p:cNvCxnSpPr>
                <a:stCxn id="86" idx="0"/>
                <a:endCxn id="8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8" name="文本框 8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26770" y="4212590"/>
            <a:ext cx="905510" cy="368300"/>
            <a:chOff x="1309" y="2400"/>
            <a:chExt cx="1426" cy="580"/>
          </a:xfrm>
        </p:grpSpPr>
        <p:grpSp>
          <p:nvGrpSpPr>
            <p:cNvPr id="90" name="组合 8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/>
              <p:cNvCxnSpPr>
                <a:stCxn id="91" idx="0"/>
                <a:endCxn id="9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93" name="文本框 9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09370" y="3348990"/>
            <a:ext cx="1476375" cy="368300"/>
            <a:chOff x="2046" y="5463"/>
            <a:chExt cx="2325" cy="580"/>
          </a:xfrm>
        </p:grpSpPr>
        <p:grpSp>
          <p:nvGrpSpPr>
            <p:cNvPr id="99" name="组合 98"/>
            <p:cNvGrpSpPr/>
            <p:nvPr/>
          </p:nvGrpSpPr>
          <p:grpSpPr>
            <a:xfrm>
              <a:off x="2945" y="5463"/>
              <a:ext cx="1426" cy="580"/>
              <a:chOff x="1309" y="2400"/>
              <a:chExt cx="1426" cy="580"/>
            </a:xfrm>
          </p:grpSpPr>
          <p:grpSp>
            <p:nvGrpSpPr>
              <p:cNvPr id="100" name="组合 99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01" name="矩形 100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02" name="直接连接符 101"/>
                <p:cNvCxnSpPr>
                  <a:stCxn id="101" idx="0"/>
                  <a:endCxn id="101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文本框 102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2</a:t>
                </a:r>
                <a:endParaRPr lang="en-US" altLang="zh-CN"/>
              </a:p>
            </p:txBody>
          </p:sp>
        </p:grpSp>
        <p:cxnSp>
          <p:nvCxnSpPr>
            <p:cNvPr id="104" name="直接箭头连接符 103"/>
            <p:cNvCxnSpPr/>
            <p:nvPr/>
          </p:nvCxnSpPr>
          <p:spPr>
            <a:xfrm flipV="1">
              <a:off x="2046" y="5746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8" name="组合 117"/>
          <p:cNvGrpSpPr/>
          <p:nvPr/>
        </p:nvGrpSpPr>
        <p:grpSpPr>
          <a:xfrm>
            <a:off x="1309370" y="3923030"/>
            <a:ext cx="1477010" cy="368300"/>
            <a:chOff x="2093" y="6211"/>
            <a:chExt cx="2326" cy="580"/>
          </a:xfrm>
        </p:grpSpPr>
        <p:grpSp>
          <p:nvGrpSpPr>
            <p:cNvPr id="105" name="组合 104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107" name="矩形 106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08" name="直接连接符 107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" name="文本框 108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110" name="直接箭头连接符 109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7" name="组合 116"/>
          <p:cNvGrpSpPr/>
          <p:nvPr/>
        </p:nvGrpSpPr>
        <p:grpSpPr>
          <a:xfrm>
            <a:off x="1329690" y="4212590"/>
            <a:ext cx="1456690" cy="368300"/>
            <a:chOff x="2094" y="6650"/>
            <a:chExt cx="2294" cy="580"/>
          </a:xfrm>
        </p:grpSpPr>
        <p:grpSp>
          <p:nvGrpSpPr>
            <p:cNvPr id="111" name="组合 110"/>
            <p:cNvGrpSpPr/>
            <p:nvPr/>
          </p:nvGrpSpPr>
          <p:grpSpPr>
            <a:xfrm>
              <a:off x="2961" y="6650"/>
              <a:ext cx="1427" cy="580"/>
              <a:chOff x="1277" y="2400"/>
              <a:chExt cx="1427" cy="580"/>
            </a:xfrm>
          </p:grpSpPr>
          <p:grpSp>
            <p:nvGrpSpPr>
              <p:cNvPr id="112" name="组合 111"/>
              <p:cNvGrpSpPr/>
              <p:nvPr/>
            </p:nvGrpSpPr>
            <p:grpSpPr>
              <a:xfrm>
                <a:off x="1277" y="2493"/>
                <a:ext cx="1427" cy="459"/>
                <a:chOff x="1277" y="2493"/>
                <a:chExt cx="1427" cy="459"/>
              </a:xfrm>
            </p:grpSpPr>
            <p:sp>
              <p:nvSpPr>
                <p:cNvPr id="113" name="矩形 112"/>
                <p:cNvSpPr/>
                <p:nvPr/>
              </p:nvSpPr>
              <p:spPr>
                <a:xfrm>
                  <a:off x="1277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2007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5" name="文本框 114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5</a:t>
                </a:r>
                <a:endParaRPr lang="en-US" altLang="zh-CN"/>
              </a:p>
            </p:txBody>
          </p:sp>
        </p:grpSp>
        <p:cxnSp>
          <p:nvCxnSpPr>
            <p:cNvPr id="116" name="直接箭头连接符 115"/>
            <p:cNvCxnSpPr/>
            <p:nvPr/>
          </p:nvCxnSpPr>
          <p:spPr>
            <a:xfrm flipV="1">
              <a:off x="2094" y="6933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/>
        </p:nvGrpSpPr>
        <p:grpSpPr>
          <a:xfrm>
            <a:off x="2475230" y="3941445"/>
            <a:ext cx="1476375" cy="368300"/>
            <a:chOff x="2093" y="6211"/>
            <a:chExt cx="2325" cy="580"/>
          </a:xfrm>
        </p:grpSpPr>
        <p:grpSp>
          <p:nvGrpSpPr>
            <p:cNvPr id="120" name="组合 119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121" name="组合 120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22" name="矩形 121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23" name="直接连接符 122"/>
                <p:cNvCxnSpPr>
                  <a:stCxn id="122" idx="0"/>
                  <a:endCxn id="122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4" name="文本框 123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125" name="直接箭头连接符 124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>
            <a:off x="768985" y="5988050"/>
            <a:ext cx="1476375" cy="368300"/>
            <a:chOff x="2093" y="6211"/>
            <a:chExt cx="2325" cy="580"/>
          </a:xfrm>
        </p:grpSpPr>
        <p:grpSp>
          <p:nvGrpSpPr>
            <p:cNvPr id="127" name="组合 126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128" name="组合 127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30" name="直接连接符 129"/>
                <p:cNvCxnSpPr>
                  <a:stCxn id="129" idx="0"/>
                  <a:endCxn id="129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1" name="文本框 130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0</a:t>
                </a:r>
                <a:endParaRPr lang="en-US" altLang="zh-CN"/>
              </a:p>
            </p:txBody>
          </p:sp>
        </p:grpSp>
        <p:cxnSp>
          <p:nvCxnSpPr>
            <p:cNvPr id="132" name="直接箭头连接符 131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1329690" y="2773045"/>
            <a:ext cx="1476375" cy="368300"/>
            <a:chOff x="2094" y="4367"/>
            <a:chExt cx="2325" cy="580"/>
          </a:xfrm>
        </p:grpSpPr>
        <p:grpSp>
          <p:nvGrpSpPr>
            <p:cNvPr id="133" name="组合 132"/>
            <p:cNvGrpSpPr/>
            <p:nvPr/>
          </p:nvGrpSpPr>
          <p:grpSpPr>
            <a:xfrm>
              <a:off x="2993" y="4367"/>
              <a:ext cx="1426" cy="580"/>
              <a:chOff x="1309" y="2400"/>
              <a:chExt cx="1426" cy="580"/>
            </a:xfrm>
          </p:grpSpPr>
          <p:grpSp>
            <p:nvGrpSpPr>
              <p:cNvPr id="134" name="组合 133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35" name="矩形 134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36" name="直接连接符 135"/>
                <p:cNvCxnSpPr>
                  <a:stCxn id="135" idx="0"/>
                  <a:endCxn id="135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7" name="文本框 136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0</a:t>
                </a:r>
                <a:endParaRPr lang="en-US" altLang="zh-CN"/>
              </a:p>
            </p:txBody>
          </p:sp>
        </p:grpSp>
        <p:cxnSp>
          <p:nvCxnSpPr>
            <p:cNvPr id="138" name="直接箭头连接符 137"/>
            <p:cNvCxnSpPr/>
            <p:nvPr/>
          </p:nvCxnSpPr>
          <p:spPr>
            <a:xfrm flipV="1">
              <a:off x="2094" y="4650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6" name="组合 145"/>
          <p:cNvGrpSpPr/>
          <p:nvPr/>
        </p:nvGrpSpPr>
        <p:grpSpPr>
          <a:xfrm>
            <a:off x="3561715" y="3922395"/>
            <a:ext cx="1477010" cy="368300"/>
            <a:chOff x="2093" y="6211"/>
            <a:chExt cx="2326" cy="580"/>
          </a:xfrm>
        </p:grpSpPr>
        <p:grpSp>
          <p:nvGrpSpPr>
            <p:cNvPr id="147" name="组合 146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148" name="组合 147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149" name="矩形 148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0" name="直接连接符 149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1" name="文本框 150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152" name="直接箭头连接符 151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3" name="组合 152"/>
          <p:cNvGrpSpPr/>
          <p:nvPr/>
        </p:nvGrpSpPr>
        <p:grpSpPr>
          <a:xfrm>
            <a:off x="4717415" y="3930015"/>
            <a:ext cx="1476375" cy="368300"/>
            <a:chOff x="2093" y="6211"/>
            <a:chExt cx="2325" cy="580"/>
          </a:xfrm>
        </p:grpSpPr>
        <p:grpSp>
          <p:nvGrpSpPr>
            <p:cNvPr id="154" name="组合 153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155" name="组合 154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56" name="矩形 155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7" name="直接连接符 156"/>
                <p:cNvCxnSpPr>
                  <a:stCxn id="156" idx="0"/>
                  <a:endCxn id="156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8" name="文本框 157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159" name="直接箭头连接符 158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3" name="组合 192"/>
          <p:cNvGrpSpPr/>
          <p:nvPr/>
        </p:nvGrpSpPr>
        <p:grpSpPr>
          <a:xfrm>
            <a:off x="10139045" y="5988050"/>
            <a:ext cx="1456690" cy="368300"/>
            <a:chOff x="2094" y="6650"/>
            <a:chExt cx="2294" cy="580"/>
          </a:xfrm>
        </p:grpSpPr>
        <p:grpSp>
          <p:nvGrpSpPr>
            <p:cNvPr id="194" name="组合 193"/>
            <p:cNvGrpSpPr/>
            <p:nvPr/>
          </p:nvGrpSpPr>
          <p:grpSpPr>
            <a:xfrm>
              <a:off x="2961" y="6650"/>
              <a:ext cx="1427" cy="580"/>
              <a:chOff x="1277" y="2400"/>
              <a:chExt cx="1427" cy="580"/>
            </a:xfrm>
          </p:grpSpPr>
          <p:grpSp>
            <p:nvGrpSpPr>
              <p:cNvPr id="195" name="组合 194"/>
              <p:cNvGrpSpPr/>
              <p:nvPr/>
            </p:nvGrpSpPr>
            <p:grpSpPr>
              <a:xfrm>
                <a:off x="1277" y="2493"/>
                <a:ext cx="1427" cy="459"/>
                <a:chOff x="1277" y="2493"/>
                <a:chExt cx="1427" cy="459"/>
              </a:xfrm>
            </p:grpSpPr>
            <p:sp>
              <p:nvSpPr>
                <p:cNvPr id="196" name="矩形 195"/>
                <p:cNvSpPr/>
                <p:nvPr/>
              </p:nvSpPr>
              <p:spPr>
                <a:xfrm>
                  <a:off x="1277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97" name="直接连接符 196"/>
                <p:cNvCxnSpPr/>
                <p:nvPr/>
              </p:nvCxnSpPr>
              <p:spPr>
                <a:xfrm>
                  <a:off x="2007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8" name="文本框 197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5</a:t>
                </a:r>
                <a:endParaRPr lang="en-US" altLang="zh-CN"/>
              </a:p>
            </p:txBody>
          </p:sp>
        </p:grpSp>
        <p:cxnSp>
          <p:nvCxnSpPr>
            <p:cNvPr id="199" name="直接箭头连接符 198"/>
            <p:cNvCxnSpPr/>
            <p:nvPr/>
          </p:nvCxnSpPr>
          <p:spPr>
            <a:xfrm flipV="1">
              <a:off x="2094" y="6933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0" name="组合 199"/>
          <p:cNvGrpSpPr/>
          <p:nvPr/>
        </p:nvGrpSpPr>
        <p:grpSpPr>
          <a:xfrm>
            <a:off x="8967470" y="5988050"/>
            <a:ext cx="1477010" cy="368300"/>
            <a:chOff x="2093" y="6211"/>
            <a:chExt cx="2326" cy="580"/>
          </a:xfrm>
        </p:grpSpPr>
        <p:grpSp>
          <p:nvGrpSpPr>
            <p:cNvPr id="201" name="组合 200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202" name="组合 201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203" name="矩形 202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04" name="直接连接符 203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5" name="文本框 204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206" name="直接箭头连接符 205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7" name="组合 206"/>
          <p:cNvGrpSpPr/>
          <p:nvPr/>
        </p:nvGrpSpPr>
        <p:grpSpPr>
          <a:xfrm>
            <a:off x="7795895" y="5988050"/>
            <a:ext cx="1477010" cy="368300"/>
            <a:chOff x="2093" y="6211"/>
            <a:chExt cx="2326" cy="580"/>
          </a:xfrm>
        </p:grpSpPr>
        <p:grpSp>
          <p:nvGrpSpPr>
            <p:cNvPr id="208" name="组合 207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209" name="组合 208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210" name="矩形 209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11" name="直接连接符 210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2" name="文本框 211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213" name="直接箭头连接符 212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4" name="组合 213"/>
          <p:cNvGrpSpPr/>
          <p:nvPr/>
        </p:nvGrpSpPr>
        <p:grpSpPr>
          <a:xfrm>
            <a:off x="6624320" y="5988050"/>
            <a:ext cx="1477010" cy="368300"/>
            <a:chOff x="2093" y="6211"/>
            <a:chExt cx="2326" cy="580"/>
          </a:xfrm>
        </p:grpSpPr>
        <p:grpSp>
          <p:nvGrpSpPr>
            <p:cNvPr id="215" name="组合 214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216" name="组合 215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217" name="矩形 216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18" name="直接连接符 217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9" name="文本框 218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220" name="直接箭头连接符 219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1" name="组合 220"/>
          <p:cNvGrpSpPr/>
          <p:nvPr/>
        </p:nvGrpSpPr>
        <p:grpSpPr>
          <a:xfrm>
            <a:off x="5452745" y="5988050"/>
            <a:ext cx="1477010" cy="368300"/>
            <a:chOff x="2093" y="6211"/>
            <a:chExt cx="2326" cy="580"/>
          </a:xfrm>
        </p:grpSpPr>
        <p:grpSp>
          <p:nvGrpSpPr>
            <p:cNvPr id="222" name="组合 221"/>
            <p:cNvGrpSpPr/>
            <p:nvPr/>
          </p:nvGrpSpPr>
          <p:grpSpPr>
            <a:xfrm>
              <a:off x="2992" y="6211"/>
              <a:ext cx="1427" cy="580"/>
              <a:chOff x="1309" y="2400"/>
              <a:chExt cx="1427" cy="580"/>
            </a:xfrm>
          </p:grpSpPr>
          <p:grpSp>
            <p:nvGrpSpPr>
              <p:cNvPr id="223" name="组合 222"/>
              <p:cNvGrpSpPr/>
              <p:nvPr/>
            </p:nvGrpSpPr>
            <p:grpSpPr>
              <a:xfrm>
                <a:off x="1309" y="2493"/>
                <a:ext cx="1427" cy="459"/>
                <a:chOff x="1309" y="2493"/>
                <a:chExt cx="1427" cy="459"/>
              </a:xfrm>
            </p:grpSpPr>
            <p:sp>
              <p:nvSpPr>
                <p:cNvPr id="224" name="矩形 223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25" name="直接连接符 224"/>
                <p:cNvCxnSpPr/>
                <p:nvPr/>
              </p:nvCxnSpPr>
              <p:spPr>
                <a:xfrm>
                  <a:off x="2039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6" name="文本框 225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</p:grpSp>
        <p:cxnSp>
          <p:nvCxnSpPr>
            <p:cNvPr id="227" name="直接箭头连接符 226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8" name="组合 227"/>
          <p:cNvGrpSpPr/>
          <p:nvPr/>
        </p:nvGrpSpPr>
        <p:grpSpPr>
          <a:xfrm>
            <a:off x="4281805" y="5988050"/>
            <a:ext cx="1476375" cy="368300"/>
            <a:chOff x="2093" y="6211"/>
            <a:chExt cx="2325" cy="580"/>
          </a:xfrm>
        </p:grpSpPr>
        <p:grpSp>
          <p:nvGrpSpPr>
            <p:cNvPr id="229" name="组合 228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230" name="组合 229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231" name="矩形 230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32" name="直接连接符 231"/>
                <p:cNvCxnSpPr>
                  <a:stCxn id="231" idx="0"/>
                  <a:endCxn id="231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3" name="文本框 232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</p:grpSp>
        <p:cxnSp>
          <p:nvCxnSpPr>
            <p:cNvPr id="234" name="直接箭头连接符 233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5" name="组合 234"/>
          <p:cNvGrpSpPr/>
          <p:nvPr/>
        </p:nvGrpSpPr>
        <p:grpSpPr>
          <a:xfrm>
            <a:off x="3110865" y="5988050"/>
            <a:ext cx="1476375" cy="368300"/>
            <a:chOff x="2093" y="6211"/>
            <a:chExt cx="2325" cy="580"/>
          </a:xfrm>
        </p:grpSpPr>
        <p:grpSp>
          <p:nvGrpSpPr>
            <p:cNvPr id="236" name="组合 235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237" name="组合 236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238" name="矩形 237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39" name="直接连接符 238"/>
                <p:cNvCxnSpPr>
                  <a:stCxn id="238" idx="0"/>
                  <a:endCxn id="238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0" name="文本框 239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</p:grpSp>
        <p:cxnSp>
          <p:nvCxnSpPr>
            <p:cNvPr id="241" name="直接箭头连接符 240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2" name="组合 241"/>
          <p:cNvGrpSpPr/>
          <p:nvPr/>
        </p:nvGrpSpPr>
        <p:grpSpPr>
          <a:xfrm>
            <a:off x="1309370" y="3648075"/>
            <a:ext cx="1476375" cy="368300"/>
            <a:chOff x="2093" y="6211"/>
            <a:chExt cx="2325" cy="580"/>
          </a:xfrm>
        </p:grpSpPr>
        <p:grpSp>
          <p:nvGrpSpPr>
            <p:cNvPr id="243" name="组合 242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244" name="组合 243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245" name="矩形 244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46" name="直接连接符 245"/>
                <p:cNvCxnSpPr>
                  <a:stCxn id="245" idx="0"/>
                  <a:endCxn id="245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7" name="文本框 246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</p:grpSp>
        <p:cxnSp>
          <p:nvCxnSpPr>
            <p:cNvPr id="248" name="直接箭头连接符 247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9" name="组合 248"/>
          <p:cNvGrpSpPr/>
          <p:nvPr/>
        </p:nvGrpSpPr>
        <p:grpSpPr>
          <a:xfrm>
            <a:off x="1939925" y="6005830"/>
            <a:ext cx="1476375" cy="368300"/>
            <a:chOff x="2093" y="6211"/>
            <a:chExt cx="2325" cy="580"/>
          </a:xfrm>
        </p:grpSpPr>
        <p:grpSp>
          <p:nvGrpSpPr>
            <p:cNvPr id="250" name="组合 249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251" name="组合 250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252" name="矩形 251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53" name="直接连接符 252"/>
                <p:cNvCxnSpPr>
                  <a:stCxn id="252" idx="0"/>
                  <a:endCxn id="252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4" name="文本框 253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2</a:t>
                </a:r>
                <a:endParaRPr lang="en-US" altLang="zh-CN"/>
              </a:p>
            </p:txBody>
          </p:sp>
        </p:grpSp>
        <p:cxnSp>
          <p:nvCxnSpPr>
            <p:cNvPr id="255" name="直接箭头连接符 254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6" name="文本框 255"/>
          <p:cNvSpPr txBox="1"/>
          <p:nvPr/>
        </p:nvSpPr>
        <p:spPr>
          <a:xfrm>
            <a:off x="831850" y="1178560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delete(1)</a:t>
            </a:r>
            <a:endParaRPr lang="en-US" altLang="zh-CN"/>
          </a:p>
        </p:txBody>
      </p:sp>
      <p:sp>
        <p:nvSpPr>
          <p:cNvPr id="257" name="文本框 256"/>
          <p:cNvSpPr txBox="1"/>
          <p:nvPr/>
        </p:nvSpPr>
        <p:spPr>
          <a:xfrm>
            <a:off x="831215" y="2404745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insert(0)</a:t>
            </a:r>
            <a:endParaRPr lang="en-US" altLang="zh-CN"/>
          </a:p>
        </p:txBody>
      </p:sp>
      <p:sp>
        <p:nvSpPr>
          <p:cNvPr id="258" name="文本框 257"/>
          <p:cNvSpPr txBox="1"/>
          <p:nvPr/>
        </p:nvSpPr>
        <p:spPr>
          <a:xfrm>
            <a:off x="3099435" y="4309745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delete(1)</a:t>
            </a:r>
            <a:endParaRPr lang="en-US" altLang="zh-CN"/>
          </a:p>
        </p:txBody>
      </p:sp>
      <p:sp>
        <p:nvSpPr>
          <p:cNvPr id="259" name="文本框 258"/>
          <p:cNvSpPr txBox="1"/>
          <p:nvPr/>
        </p:nvSpPr>
        <p:spPr>
          <a:xfrm>
            <a:off x="8863965" y="5530850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insert(0)</a:t>
            </a:r>
            <a:endParaRPr lang="en-US" altLang="zh-CN"/>
          </a:p>
        </p:txBody>
      </p:sp>
      <p:grpSp>
        <p:nvGrpSpPr>
          <p:cNvPr id="139" name="组合 138"/>
          <p:cNvGrpSpPr/>
          <p:nvPr/>
        </p:nvGrpSpPr>
        <p:grpSpPr>
          <a:xfrm>
            <a:off x="2475230" y="3639820"/>
            <a:ext cx="1476375" cy="368300"/>
            <a:chOff x="2093" y="6211"/>
            <a:chExt cx="2325" cy="580"/>
          </a:xfrm>
        </p:grpSpPr>
        <p:grpSp>
          <p:nvGrpSpPr>
            <p:cNvPr id="140" name="组合 139"/>
            <p:cNvGrpSpPr/>
            <p:nvPr/>
          </p:nvGrpSpPr>
          <p:grpSpPr>
            <a:xfrm>
              <a:off x="2992" y="6211"/>
              <a:ext cx="1426" cy="580"/>
              <a:chOff x="1309" y="2400"/>
              <a:chExt cx="1426" cy="580"/>
            </a:xfrm>
          </p:grpSpPr>
          <p:grpSp>
            <p:nvGrpSpPr>
              <p:cNvPr id="141" name="组合 140"/>
              <p:cNvGrpSpPr/>
              <p:nvPr/>
            </p:nvGrpSpPr>
            <p:grpSpPr>
              <a:xfrm>
                <a:off x="1309" y="2493"/>
                <a:ext cx="1426" cy="458"/>
                <a:chOff x="1309" y="2493"/>
                <a:chExt cx="1426" cy="458"/>
              </a:xfrm>
            </p:grpSpPr>
            <p:sp>
              <p:nvSpPr>
                <p:cNvPr id="142" name="矩形 141"/>
                <p:cNvSpPr/>
                <p:nvPr/>
              </p:nvSpPr>
              <p:spPr>
                <a:xfrm>
                  <a:off x="1309" y="2493"/>
                  <a:ext cx="1427" cy="45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43" name="直接连接符 142"/>
                <p:cNvCxnSpPr>
                  <a:stCxn id="142" idx="0"/>
                  <a:endCxn id="142" idx="2"/>
                </p:cNvCxnSpPr>
                <p:nvPr/>
              </p:nvCxnSpPr>
              <p:spPr>
                <a:xfrm>
                  <a:off x="2023" y="2493"/>
                  <a:ext cx="0" cy="45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4" name="文本框 143"/>
              <p:cNvSpPr txBox="1"/>
              <p:nvPr/>
            </p:nvSpPr>
            <p:spPr>
              <a:xfrm>
                <a:off x="1410" y="2400"/>
                <a:ext cx="50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</p:grpSp>
        <p:cxnSp>
          <p:nvCxnSpPr>
            <p:cNvPr id="145" name="直接箭头连接符 144"/>
            <p:cNvCxnSpPr/>
            <p:nvPr/>
          </p:nvCxnSpPr>
          <p:spPr>
            <a:xfrm flipV="1">
              <a:off x="2093" y="6494"/>
              <a:ext cx="867" cy="1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7658735" y="2962275"/>
            <a:ext cx="38633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每个结点分别插入删除两次n*4</a:t>
            </a:r>
            <a:endParaRPr lang="zh-CN" altLang="en-US"/>
          </a:p>
          <a:p>
            <a:r>
              <a:rPr lang="zh-CN" altLang="en-US"/>
              <a:t>+整理箱子时访问每个箱子头range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/>
      <p:bldP spid="257" grpId="0"/>
      <p:bldP spid="258" grpId="0"/>
      <p:bldP spid="259" grpId="0"/>
      <p:bldP spid="256" grpId="1"/>
      <p:bldP spid="257" grpId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优化：作为</a:t>
            </a:r>
            <a:r>
              <a:rPr lang="en-US" altLang="zh-CN" smtClean="0"/>
              <a:t>Chain</a:t>
            </a:r>
            <a:r>
              <a:rPr lang="zh-CN" altLang="en-US" smtClean="0"/>
              <a:t>类的成员函数</a:t>
            </a:r>
            <a:endParaRPr lang="zh-CN" altLang="en-US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669882" y="1194400"/>
            <a:ext cx="10852237" cy="504135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直接操纵</a:t>
            </a:r>
            <a:r>
              <a:rPr lang="en-US" altLang="zh-CN" dirty="0" smtClean="0"/>
              <a:t>Chain</a:t>
            </a:r>
            <a:r>
              <a:rPr lang="zh-CN" altLang="en-US" dirty="0" smtClean="0"/>
              <a:t>的数据成员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节点重复被多个链表使用，避免对</a:t>
            </a:r>
            <a:r>
              <a:rPr lang="en-US" altLang="zh-CN" dirty="0" smtClean="0"/>
              <a:t>new</a:t>
            </a:r>
            <a:r>
              <a:rPr lang="zh-CN" altLang="en-US" dirty="0" smtClean="0"/>
              <a:t>和</a:t>
            </a:r>
            <a:r>
              <a:rPr lang="en-US" altLang="zh-CN" dirty="0" smtClean="0"/>
              <a:t>delete</a:t>
            </a:r>
            <a:r>
              <a:rPr lang="zh-CN" altLang="en-US" dirty="0" smtClean="0"/>
              <a:t>的频繁调用</a:t>
            </a:r>
            <a:endParaRPr lang="zh-CN" altLang="en-US" dirty="0" smtClean="0"/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void Chain&lt;T&gt;::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BinSort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range)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Sort by score.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b;  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// bin index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ChainNode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 **bottom, **top;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bottom =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new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ChainNode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&lt;T&gt;* [range + 1];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top = new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</a:rPr>
              <a:t>ChainNode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&lt;T&gt;* [range + 1];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for (b = 0; b &lt;= range; b++)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      bottom[b] = 0;</a:t>
            </a:r>
            <a:endParaRPr lang="en-US" altLang="zh-CN" sz="2000" dirty="0"/>
          </a:p>
        </p:txBody>
      </p:sp>
      <p:sp>
        <p:nvSpPr>
          <p:cNvPr id="1013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57A17B-5A75-4A4E-ACC5-3B23C0B62CF6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  <p:sp>
        <p:nvSpPr>
          <p:cNvPr id="101380" name="Text Box 5"/>
          <p:cNvSpPr txBox="1">
            <a:spLocks noChangeArrowheads="1"/>
          </p:cNvSpPr>
          <p:nvPr/>
        </p:nvSpPr>
        <p:spPr bwMode="ltGray">
          <a:xfrm>
            <a:off x="7445486" y="3258343"/>
            <a:ext cx="266677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hlink"/>
                </a:solidFill>
              </a:rPr>
              <a:t>bottom[b]</a:t>
            </a:r>
            <a:r>
              <a:rPr lang="zh-CN" altLang="en-US" dirty="0">
                <a:solidFill>
                  <a:schemeClr val="hlink"/>
                </a:solidFill>
              </a:rPr>
              <a:t>：箱子</a:t>
            </a:r>
            <a:r>
              <a:rPr lang="en-US" altLang="zh-CN" dirty="0">
                <a:solidFill>
                  <a:schemeClr val="hlink"/>
                </a:solidFill>
              </a:rPr>
              <a:t>b</a:t>
            </a:r>
            <a:r>
              <a:rPr lang="zh-CN" altLang="en-US" dirty="0">
                <a:solidFill>
                  <a:schemeClr val="hlink"/>
                </a:solidFill>
              </a:rPr>
              <a:t>链表首</a:t>
            </a:r>
            <a:br>
              <a:rPr lang="zh-CN" altLang="en-US" dirty="0">
                <a:solidFill>
                  <a:schemeClr val="hlink"/>
                </a:solidFill>
              </a:rPr>
            </a:br>
            <a:r>
              <a:rPr lang="en-US" altLang="zh-CN" dirty="0">
                <a:solidFill>
                  <a:schemeClr val="hlink"/>
                </a:solidFill>
              </a:rPr>
              <a:t>top[b]</a:t>
            </a:r>
            <a:r>
              <a:rPr lang="zh-CN" altLang="en-US" dirty="0">
                <a:solidFill>
                  <a:schemeClr val="hlink"/>
                </a:solidFill>
              </a:rPr>
              <a:t>：箱子</a:t>
            </a:r>
            <a:r>
              <a:rPr lang="en-US" altLang="zh-CN" dirty="0">
                <a:solidFill>
                  <a:schemeClr val="hlink"/>
                </a:solidFill>
              </a:rPr>
              <a:t>b</a:t>
            </a:r>
            <a:r>
              <a:rPr lang="zh-CN" altLang="en-US" dirty="0">
                <a:solidFill>
                  <a:schemeClr val="hlink"/>
                </a:solidFill>
              </a:rPr>
              <a:t>链表尾</a:t>
            </a:r>
            <a:endParaRPr lang="zh-CN" altLang="en-US" b="1" u="sng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1" name="Line 6"/>
          <p:cNvSpPr>
            <a:spLocks noChangeShapeType="1"/>
          </p:cNvSpPr>
          <p:nvPr/>
        </p:nvSpPr>
        <p:spPr bwMode="ltGray">
          <a:xfrm flipH="1">
            <a:off x="5822731" y="3552497"/>
            <a:ext cx="1622755" cy="79169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优化：作为</a:t>
            </a:r>
            <a:r>
              <a:rPr lang="en-US" altLang="zh-CN" smtClean="0"/>
              <a:t>Chain</a:t>
            </a:r>
            <a:r>
              <a:rPr lang="zh-CN" altLang="en-US" smtClean="0"/>
              <a:t>类的成员函数</a:t>
            </a:r>
            <a:endParaRPr lang="zh-CN" altLang="en-US" smtClean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distribute to bins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(; first; first = first-&gt;link)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add to bin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b = first-&gt;data;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(bottom[b])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bin not empty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top[b]-&gt;link = first;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top[b] = first;}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else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bin empty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bottom[b] = top[b] = first;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024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F3D06F-8D10-42C3-AF73-8FA78C3F085A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ltGray">
          <a:xfrm>
            <a:off x="7010400" y="3124201"/>
            <a:ext cx="3426372" cy="189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Delete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Insert</a:t>
            </a:r>
            <a:r>
              <a:rPr lang="zh-CN" altLang="en-US" dirty="0">
                <a:solidFill>
                  <a:srgbClr val="FF0000"/>
                </a:solidFill>
              </a:rPr>
              <a:t>调用变为对链表内部结构的直接操纵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旧版本：</a:t>
            </a:r>
            <a:r>
              <a:rPr lang="en-US" altLang="zh-CN" dirty="0">
                <a:solidFill>
                  <a:srgbClr val="FF0000"/>
                </a:solidFill>
              </a:rPr>
              <a:t>Delete——delete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Insert——new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rgbClr val="FF0000"/>
                </a:solidFill>
              </a:rPr>
              <a:t>新版本：节点从原链表</a:t>
            </a:r>
            <a:r>
              <a:rPr lang="zh-CN" altLang="en-US" b="1" u="sng" dirty="0">
                <a:solidFill>
                  <a:srgbClr val="FF0000"/>
                </a:solidFill>
              </a:rPr>
              <a:t>摘除</a:t>
            </a:r>
            <a:r>
              <a:rPr lang="zh-CN" altLang="en-US" dirty="0">
                <a:solidFill>
                  <a:srgbClr val="FF0000"/>
                </a:solidFill>
              </a:rPr>
              <a:t>，直接放入箱子链表</a:t>
            </a:r>
            <a:endParaRPr lang="zh-CN" altLang="en-US" b="1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ltGray">
          <a:xfrm flipH="1" flipV="1">
            <a:off x="5435600" y="3229304"/>
            <a:ext cx="1574800" cy="26013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优化：作为</a:t>
            </a:r>
            <a:r>
              <a:rPr lang="en-US" altLang="zh-CN" smtClean="0"/>
              <a:t>Chain</a:t>
            </a:r>
            <a:r>
              <a:rPr lang="zh-CN" altLang="en-US" smtClean="0"/>
              <a:t>类的成员函数</a:t>
            </a:r>
            <a:endParaRPr lang="zh-CN" altLang="en-US" smtClean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// collect from bins into sorted chain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ChainNode&lt;T&gt; *y = 0;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for (b = 0; b &lt;= range; b++)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if (bottom[b]) 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bin not empty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(y)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not first nonempty bin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y-&gt;link = bottom[b];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else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first nonempty bin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    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first = bottom[b];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y = top[b];}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(y) y-&gt;link = 0;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delete [] bottom;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delete [] top;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mtClean="0"/>
          </a:p>
        </p:txBody>
      </p:sp>
      <p:sp>
        <p:nvSpPr>
          <p:cNvPr id="1034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78500D-88E5-4BFE-B5B6-D4CF53955E58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ltGray">
          <a:xfrm>
            <a:off x="7010400" y="3352802"/>
            <a:ext cx="4572000" cy="78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时间复杂性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(2n+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range)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稳定排序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箱子排序实现</a:t>
            </a:r>
            <a:r>
              <a:rPr lang="en-US" altLang="zh-CN"/>
              <a:t>2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t>）</a:t>
            </a:r>
            <a:r>
              <a:rPr lang="en-US" altLang="zh-CN"/>
              <a:t>O(2n)</a:t>
            </a:r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1137285" y="3054985"/>
            <a:ext cx="906145" cy="368300"/>
            <a:chOff x="1309" y="2400"/>
            <a:chExt cx="1427" cy="580"/>
          </a:xfrm>
        </p:grpSpPr>
        <p:grpSp>
          <p:nvGrpSpPr>
            <p:cNvPr id="7" name="组合 6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文本框 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58390" y="3065145"/>
            <a:ext cx="905510" cy="368300"/>
            <a:chOff x="1309" y="2400"/>
            <a:chExt cx="1426" cy="580"/>
          </a:xfrm>
          <a:solidFill>
            <a:srgbClr val="FF0000"/>
          </a:solidFill>
        </p:grpSpPr>
        <p:grpSp>
          <p:nvGrpSpPr>
            <p:cNvPr id="11" name="组合 1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  <a:grpFill/>
          </p:grpSpPr>
          <p:sp>
            <p:nvSpPr>
              <p:cNvPr id="12" name="矩形 1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/>
              <p:cNvCxnSpPr>
                <a:stCxn id="12" idx="0"/>
                <a:endCxn id="1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  <a:grpFill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" name="文本框 1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>
                  <a:sym typeface="+mn-ea"/>
                </a:rPr>
                <a:t>4</a:t>
              </a:r>
              <a:endParaRPr lang="en-US" altLang="zh-CN">
                <a:sym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579495" y="3065145"/>
            <a:ext cx="905510" cy="368300"/>
            <a:chOff x="1309" y="2400"/>
            <a:chExt cx="1426" cy="580"/>
          </a:xfrm>
        </p:grpSpPr>
        <p:grpSp>
          <p:nvGrpSpPr>
            <p:cNvPr id="16" name="组合 1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/>
              <p:cNvCxnSpPr>
                <a:stCxn id="17" idx="0"/>
                <a:endCxn id="1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" name="文本框 1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800600" y="3065145"/>
            <a:ext cx="905510" cy="368300"/>
            <a:chOff x="1309" y="2400"/>
            <a:chExt cx="1426" cy="580"/>
          </a:xfrm>
          <a:solidFill>
            <a:srgbClr val="FFC000"/>
          </a:solidFill>
        </p:grpSpPr>
        <p:grpSp>
          <p:nvGrpSpPr>
            <p:cNvPr id="21" name="组合 2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  <a:grpFill/>
          </p:grpSpPr>
          <p:sp>
            <p:nvSpPr>
              <p:cNvPr id="22" name="矩形 2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>
                <a:stCxn id="22" idx="0"/>
                <a:endCxn id="2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  <a:grpFill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4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直接箭头连接符 29"/>
          <p:cNvCxnSpPr/>
          <p:nvPr/>
        </p:nvCxnSpPr>
        <p:spPr>
          <a:xfrm flipV="1">
            <a:off x="1816100" y="3249295"/>
            <a:ext cx="55054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4281805" y="3249295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5514340" y="3249295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6071235" y="3051175"/>
            <a:ext cx="905510" cy="368300"/>
            <a:chOff x="1309" y="2400"/>
            <a:chExt cx="1426" cy="580"/>
          </a:xfrm>
        </p:grpSpPr>
        <p:grpSp>
          <p:nvGrpSpPr>
            <p:cNvPr id="36" name="组合 3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8" name="直接连接符 37"/>
              <p:cNvCxnSpPr>
                <a:stCxn id="37" idx="0"/>
                <a:endCxn id="3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框 3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286625" y="3044190"/>
            <a:ext cx="905510" cy="368300"/>
            <a:chOff x="1309" y="2400"/>
            <a:chExt cx="1426" cy="580"/>
          </a:xfrm>
        </p:grpSpPr>
        <p:grpSp>
          <p:nvGrpSpPr>
            <p:cNvPr id="41" name="组合 4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>
                <a:stCxn id="42" idx="0"/>
                <a:endCxn id="4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527415" y="3054985"/>
            <a:ext cx="905510" cy="368300"/>
            <a:chOff x="1309" y="2400"/>
            <a:chExt cx="1426" cy="580"/>
          </a:xfrm>
        </p:grpSpPr>
        <p:grpSp>
          <p:nvGrpSpPr>
            <p:cNvPr id="46" name="组合 45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8" name="直接连接符 47"/>
              <p:cNvCxnSpPr>
                <a:stCxn id="47" idx="0"/>
                <a:endCxn id="47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文本框 4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728835" y="3044190"/>
            <a:ext cx="905510" cy="368300"/>
            <a:chOff x="1309" y="2400"/>
            <a:chExt cx="1426" cy="580"/>
          </a:xfrm>
        </p:grpSpPr>
        <p:grpSp>
          <p:nvGrpSpPr>
            <p:cNvPr id="51" name="组合 50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3" name="直接连接符 52"/>
              <p:cNvCxnSpPr>
                <a:stCxn id="52" idx="0"/>
                <a:endCxn id="52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4" name="文本框 53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cxnSp>
        <p:nvCxnSpPr>
          <p:cNvPr id="55" name="直接箭头连接符 54"/>
          <p:cNvCxnSpPr/>
          <p:nvPr/>
        </p:nvCxnSpPr>
        <p:spPr>
          <a:xfrm flipV="1">
            <a:off x="6744335" y="3228340"/>
            <a:ext cx="550545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7977505" y="322834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9210040" y="322834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10442575" y="322834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9" name="组合 58"/>
          <p:cNvGrpSpPr/>
          <p:nvPr/>
        </p:nvGrpSpPr>
        <p:grpSpPr>
          <a:xfrm>
            <a:off x="10993755" y="3028950"/>
            <a:ext cx="905510" cy="368300"/>
            <a:chOff x="1309" y="2400"/>
            <a:chExt cx="1426" cy="580"/>
          </a:xfrm>
        </p:grpSpPr>
        <p:grpSp>
          <p:nvGrpSpPr>
            <p:cNvPr id="60" name="组合 5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2" name="直接连接符 61"/>
              <p:cNvCxnSpPr>
                <a:stCxn id="61" idx="0"/>
                <a:endCxn id="6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468880" y="4699635"/>
            <a:ext cx="905510" cy="368300"/>
            <a:chOff x="1309" y="2400"/>
            <a:chExt cx="1426" cy="580"/>
          </a:xfrm>
        </p:grpSpPr>
        <p:grpSp>
          <p:nvGrpSpPr>
            <p:cNvPr id="65" name="组合 6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7" name="直接连接符 66"/>
              <p:cNvCxnSpPr>
                <a:stCxn id="66" idx="0"/>
                <a:endCxn id="6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370580" y="4699635"/>
            <a:ext cx="905510" cy="368300"/>
            <a:chOff x="1309" y="2400"/>
            <a:chExt cx="1426" cy="580"/>
          </a:xfrm>
        </p:grpSpPr>
        <p:grpSp>
          <p:nvGrpSpPr>
            <p:cNvPr id="70" name="组合 6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2" name="直接连接符 71"/>
              <p:cNvCxnSpPr>
                <a:stCxn id="71" idx="0"/>
                <a:endCxn id="7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3" name="文本框 7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272280" y="4699635"/>
            <a:ext cx="905510" cy="368300"/>
            <a:chOff x="1309" y="2400"/>
            <a:chExt cx="1426" cy="580"/>
          </a:xfrm>
        </p:grpSpPr>
        <p:grpSp>
          <p:nvGrpSpPr>
            <p:cNvPr id="75" name="组合 7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7" name="直接连接符 76"/>
              <p:cNvCxnSpPr>
                <a:stCxn id="76" idx="0"/>
                <a:endCxn id="7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173980" y="4699635"/>
            <a:ext cx="905510" cy="368300"/>
            <a:chOff x="1309" y="2400"/>
            <a:chExt cx="1426" cy="580"/>
          </a:xfrm>
        </p:grpSpPr>
        <p:grpSp>
          <p:nvGrpSpPr>
            <p:cNvPr id="80" name="组合 7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/>
              <p:cNvCxnSpPr>
                <a:stCxn id="81" idx="0"/>
                <a:endCxn id="8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3" name="文本框 8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6075680" y="4699635"/>
            <a:ext cx="905510" cy="368300"/>
            <a:chOff x="1309" y="2400"/>
            <a:chExt cx="1426" cy="580"/>
          </a:xfrm>
        </p:grpSpPr>
        <p:grpSp>
          <p:nvGrpSpPr>
            <p:cNvPr id="85" name="组合 8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/>
              <p:cNvCxnSpPr>
                <a:stCxn id="86" idx="0"/>
                <a:endCxn id="8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8" name="文本框 8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977380" y="4699635"/>
            <a:ext cx="905510" cy="368300"/>
            <a:chOff x="1309" y="2400"/>
            <a:chExt cx="1426" cy="580"/>
          </a:xfrm>
        </p:grpSpPr>
        <p:grpSp>
          <p:nvGrpSpPr>
            <p:cNvPr id="90" name="组合 8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/>
              <p:cNvCxnSpPr>
                <a:stCxn id="91" idx="0"/>
                <a:endCxn id="9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93" name="文本框 9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sp>
        <p:nvSpPr>
          <p:cNvPr id="257" name="文本框 256"/>
          <p:cNvSpPr txBox="1"/>
          <p:nvPr/>
        </p:nvSpPr>
        <p:spPr>
          <a:xfrm>
            <a:off x="1061085" y="4758690"/>
            <a:ext cx="98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bottom</a:t>
            </a:r>
            <a:endParaRPr lang="en-US" altLang="zh-CN"/>
          </a:p>
        </p:txBody>
      </p:sp>
      <p:cxnSp>
        <p:nvCxnSpPr>
          <p:cNvPr id="118" name="肘形连接符 117"/>
          <p:cNvCxnSpPr>
            <a:stCxn id="76" idx="0"/>
            <a:endCxn id="8" idx="1"/>
          </p:cNvCxnSpPr>
          <p:nvPr/>
        </p:nvCxnSpPr>
        <p:spPr>
          <a:xfrm rot="16200000" flipV="1">
            <a:off x="2203768" y="2236788"/>
            <a:ext cx="1519555" cy="3524250"/>
          </a:xfrm>
          <a:prstGeom prst="bentConnector4">
            <a:avLst>
              <a:gd name="adj1" fmla="val 43941"/>
              <a:gd name="adj2" fmla="val 106766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2" name="组合 121"/>
          <p:cNvGrpSpPr/>
          <p:nvPr/>
        </p:nvGrpSpPr>
        <p:grpSpPr>
          <a:xfrm>
            <a:off x="2366010" y="1600200"/>
            <a:ext cx="905510" cy="368300"/>
            <a:chOff x="1309" y="2400"/>
            <a:chExt cx="1426" cy="58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5" name="直接连接符 124"/>
              <p:cNvCxnSpPr>
                <a:stCxn id="124" idx="0"/>
                <a:endCxn id="12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26" name="文本框 12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3267710" y="1600200"/>
            <a:ext cx="905510" cy="368300"/>
            <a:chOff x="1309" y="2400"/>
            <a:chExt cx="1426" cy="580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0" name="直接连接符 129"/>
              <p:cNvCxnSpPr>
                <a:stCxn id="129" idx="0"/>
                <a:endCxn id="12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31" name="文本框 13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4169410" y="1600200"/>
            <a:ext cx="905510" cy="368300"/>
            <a:chOff x="1309" y="2400"/>
            <a:chExt cx="1426" cy="580"/>
          </a:xfrm>
        </p:grpSpPr>
        <p:grpSp>
          <p:nvGrpSpPr>
            <p:cNvPr id="133" name="组合 13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5" name="直接连接符 134"/>
              <p:cNvCxnSpPr>
                <a:stCxn id="134" idx="0"/>
                <a:endCxn id="13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36" name="文本框 13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5071110" y="1600200"/>
            <a:ext cx="905510" cy="368300"/>
            <a:chOff x="1309" y="2400"/>
            <a:chExt cx="1426" cy="580"/>
          </a:xfrm>
        </p:grpSpPr>
        <p:grpSp>
          <p:nvGrpSpPr>
            <p:cNvPr id="138" name="组合 13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39" name="矩形 13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0" name="直接连接符 139"/>
              <p:cNvCxnSpPr>
                <a:stCxn id="139" idx="0"/>
                <a:endCxn id="13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41" name="文本框 14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5972810" y="1600200"/>
            <a:ext cx="905510" cy="368300"/>
            <a:chOff x="1309" y="2400"/>
            <a:chExt cx="1426" cy="580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44" name="矩形 14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连接符 144"/>
              <p:cNvCxnSpPr>
                <a:stCxn id="144" idx="0"/>
                <a:endCxn id="14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46" name="文本框 14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6874510" y="1600200"/>
            <a:ext cx="905510" cy="368300"/>
            <a:chOff x="1309" y="2400"/>
            <a:chExt cx="1426" cy="580"/>
          </a:xfrm>
        </p:grpSpPr>
        <p:grpSp>
          <p:nvGrpSpPr>
            <p:cNvPr id="148" name="组合 14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49" name="矩形 14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0" name="直接连接符 149"/>
              <p:cNvCxnSpPr>
                <a:stCxn id="149" idx="0"/>
                <a:endCxn id="14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51" name="文本框 15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sp>
        <p:nvSpPr>
          <p:cNvPr id="152" name="文本框 151"/>
          <p:cNvSpPr txBox="1"/>
          <p:nvPr/>
        </p:nvSpPr>
        <p:spPr>
          <a:xfrm>
            <a:off x="1073785" y="1724025"/>
            <a:ext cx="98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</a:t>
            </a:r>
            <a:endParaRPr lang="en-US" altLang="zh-CN"/>
          </a:p>
        </p:txBody>
      </p:sp>
      <p:cxnSp>
        <p:nvCxnSpPr>
          <p:cNvPr id="155" name="肘形连接符 154"/>
          <p:cNvCxnSpPr>
            <a:stCxn id="134" idx="2"/>
            <a:endCxn id="8" idx="1"/>
          </p:cNvCxnSpPr>
          <p:nvPr/>
        </p:nvCxnSpPr>
        <p:spPr>
          <a:xfrm rot="5400000">
            <a:off x="2268220" y="883920"/>
            <a:ext cx="1288415" cy="3421380"/>
          </a:xfrm>
          <a:prstGeom prst="bentConnector4">
            <a:avLst>
              <a:gd name="adj1" fmla="val 42854"/>
              <a:gd name="adj2" fmla="val 106969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肘形连接符 155"/>
          <p:cNvCxnSpPr>
            <a:stCxn id="144" idx="2"/>
            <a:endCxn id="14" idx="1"/>
          </p:cNvCxnSpPr>
          <p:nvPr/>
        </p:nvCxnSpPr>
        <p:spPr>
          <a:xfrm rot="5400000">
            <a:off x="3775075" y="598170"/>
            <a:ext cx="1298575" cy="4003675"/>
          </a:xfrm>
          <a:prstGeom prst="bentConnector4">
            <a:avLst>
              <a:gd name="adj1" fmla="val 42934"/>
              <a:gd name="adj2" fmla="val 105948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肘形连接符 156"/>
          <p:cNvCxnSpPr>
            <a:stCxn id="86" idx="0"/>
            <a:endCxn id="12" idx="1"/>
          </p:cNvCxnSpPr>
          <p:nvPr/>
        </p:nvCxnSpPr>
        <p:spPr>
          <a:xfrm rot="16200000" flipV="1">
            <a:off x="3699510" y="1929130"/>
            <a:ext cx="1488440" cy="4170680"/>
          </a:xfrm>
          <a:prstGeom prst="bentConnector4">
            <a:avLst>
              <a:gd name="adj1" fmla="val 54479"/>
              <a:gd name="adj2" fmla="val 103897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肘形连接符 157"/>
          <p:cNvCxnSpPr>
            <a:stCxn id="149" idx="2"/>
            <a:endCxn id="17" idx="0"/>
          </p:cNvCxnSpPr>
          <p:nvPr/>
        </p:nvCxnSpPr>
        <p:spPr>
          <a:xfrm rot="5400000">
            <a:off x="5093335" y="889635"/>
            <a:ext cx="1173480" cy="3295015"/>
          </a:xfrm>
          <a:prstGeom prst="bentConnector3">
            <a:avLst>
              <a:gd name="adj1" fmla="val 49973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肘形连接符 158"/>
          <p:cNvCxnSpPr>
            <a:stCxn id="91" idx="0"/>
            <a:endCxn id="17" idx="2"/>
          </p:cNvCxnSpPr>
          <p:nvPr/>
        </p:nvCxnSpPr>
        <p:spPr>
          <a:xfrm rot="16200000" flipV="1">
            <a:off x="5059680" y="2388235"/>
            <a:ext cx="1343025" cy="3397885"/>
          </a:xfrm>
          <a:prstGeom prst="bentConnector3">
            <a:avLst>
              <a:gd name="adj1" fmla="val 49976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肘形连接符 159"/>
          <p:cNvCxnSpPr>
            <a:stCxn id="12" idx="0"/>
            <a:endCxn id="22" idx="0"/>
          </p:cNvCxnSpPr>
          <p:nvPr/>
        </p:nvCxnSpPr>
        <p:spPr>
          <a:xfrm rot="16200000">
            <a:off x="4032885" y="1903095"/>
            <a:ext cx="3175" cy="2442210"/>
          </a:xfrm>
          <a:prstGeom prst="bentConnector3">
            <a:avLst>
              <a:gd name="adj1" fmla="val 75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肘形连接符 160"/>
          <p:cNvCxnSpPr/>
          <p:nvPr/>
        </p:nvCxnSpPr>
        <p:spPr>
          <a:xfrm rot="5400000">
            <a:off x="5270500" y="1911985"/>
            <a:ext cx="1273175" cy="1240790"/>
          </a:xfrm>
          <a:prstGeom prst="bentConnector3">
            <a:avLst>
              <a:gd name="adj1" fmla="val 72892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接箭头连接符 161"/>
          <p:cNvCxnSpPr/>
          <p:nvPr/>
        </p:nvCxnSpPr>
        <p:spPr>
          <a:xfrm flipV="1">
            <a:off x="3093720" y="3270250"/>
            <a:ext cx="549910" cy="95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肘形连接符 162"/>
          <p:cNvCxnSpPr/>
          <p:nvPr/>
        </p:nvCxnSpPr>
        <p:spPr>
          <a:xfrm rot="16200000">
            <a:off x="5389245" y="3585210"/>
            <a:ext cx="1510030" cy="916940"/>
          </a:xfrm>
          <a:prstGeom prst="bentConnector3">
            <a:avLst>
              <a:gd name="adj1" fmla="val 49958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肘形连接符 163"/>
          <p:cNvCxnSpPr>
            <a:stCxn id="139" idx="2"/>
            <a:endCxn id="37" idx="0"/>
          </p:cNvCxnSpPr>
          <p:nvPr/>
        </p:nvCxnSpPr>
        <p:spPr>
          <a:xfrm rot="5400000" flipV="1">
            <a:off x="5444490" y="2030095"/>
            <a:ext cx="1159510" cy="1000125"/>
          </a:xfrm>
          <a:prstGeom prst="bentConnector3">
            <a:avLst>
              <a:gd name="adj1" fmla="val 66785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肘形连接符 164"/>
          <p:cNvCxnSpPr>
            <a:stCxn id="124" idx="2"/>
            <a:endCxn id="42" idx="0"/>
          </p:cNvCxnSpPr>
          <p:nvPr/>
        </p:nvCxnSpPr>
        <p:spPr>
          <a:xfrm rot="5400000" flipV="1">
            <a:off x="4703445" y="66040"/>
            <a:ext cx="1152525" cy="4920615"/>
          </a:xfrm>
          <a:prstGeom prst="bentConnector3">
            <a:avLst>
              <a:gd name="adj1" fmla="val 50028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肘形连接符 165"/>
          <p:cNvCxnSpPr>
            <a:stCxn id="66" idx="0"/>
            <a:endCxn id="42" idx="2"/>
          </p:cNvCxnSpPr>
          <p:nvPr/>
        </p:nvCxnSpPr>
        <p:spPr>
          <a:xfrm rot="16200000">
            <a:off x="4648835" y="1668145"/>
            <a:ext cx="1363980" cy="4817745"/>
          </a:xfrm>
          <a:prstGeom prst="bentConnector3">
            <a:avLst>
              <a:gd name="adj1" fmla="val 33356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肘形连接符 166"/>
          <p:cNvCxnSpPr>
            <a:endCxn id="47" idx="0"/>
          </p:cNvCxnSpPr>
          <p:nvPr/>
        </p:nvCxnSpPr>
        <p:spPr>
          <a:xfrm flipV="1">
            <a:off x="5424805" y="3114040"/>
            <a:ext cx="3556000" cy="55245"/>
          </a:xfrm>
          <a:prstGeom prst="bentConnector4">
            <a:avLst>
              <a:gd name="adj1" fmla="val 553"/>
              <a:gd name="adj2" fmla="val 355172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肘形连接符 167"/>
          <p:cNvCxnSpPr>
            <a:stCxn id="146" idx="2"/>
            <a:endCxn id="49" idx="3"/>
          </p:cNvCxnSpPr>
          <p:nvPr/>
        </p:nvCxnSpPr>
        <p:spPr>
          <a:xfrm rot="5400000" flipV="1">
            <a:off x="6921500" y="1245870"/>
            <a:ext cx="1270635" cy="2715895"/>
          </a:xfrm>
          <a:prstGeom prst="bentConnector4">
            <a:avLst>
              <a:gd name="adj1" fmla="val 42779"/>
              <a:gd name="adj2" fmla="val 108768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肘形连接符 168"/>
          <p:cNvCxnSpPr/>
          <p:nvPr/>
        </p:nvCxnSpPr>
        <p:spPr>
          <a:xfrm flipV="1">
            <a:off x="6744335" y="3110230"/>
            <a:ext cx="3556000" cy="55245"/>
          </a:xfrm>
          <a:prstGeom prst="bentConnector4">
            <a:avLst>
              <a:gd name="adj1" fmla="val 553"/>
              <a:gd name="adj2" fmla="val 355172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肘形连接符 169"/>
          <p:cNvCxnSpPr>
            <a:stCxn id="141" idx="2"/>
            <a:endCxn id="54" idx="3"/>
          </p:cNvCxnSpPr>
          <p:nvPr/>
        </p:nvCxnSpPr>
        <p:spPr>
          <a:xfrm rot="5400000" flipV="1">
            <a:off x="7076440" y="188595"/>
            <a:ext cx="1259840" cy="4819015"/>
          </a:xfrm>
          <a:prstGeom prst="bentConnector4">
            <a:avLst>
              <a:gd name="adj1" fmla="val 25529"/>
              <a:gd name="adj2" fmla="val 104935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肘形连接符 170"/>
          <p:cNvCxnSpPr/>
          <p:nvPr/>
        </p:nvCxnSpPr>
        <p:spPr>
          <a:xfrm rot="16200000">
            <a:off x="10299065" y="1942465"/>
            <a:ext cx="3175" cy="2442210"/>
          </a:xfrm>
          <a:prstGeom prst="bentConnector3">
            <a:avLst>
              <a:gd name="adj1" fmla="val 75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肘形连接符 171"/>
          <p:cNvCxnSpPr>
            <a:stCxn id="146" idx="2"/>
            <a:endCxn id="63" idx="3"/>
          </p:cNvCxnSpPr>
          <p:nvPr/>
        </p:nvCxnSpPr>
        <p:spPr>
          <a:xfrm rot="5400000" flipV="1">
            <a:off x="8167370" y="-635"/>
            <a:ext cx="1244600" cy="5182235"/>
          </a:xfrm>
          <a:prstGeom prst="bentConnector4">
            <a:avLst>
              <a:gd name="adj1" fmla="val 42577"/>
              <a:gd name="adj2" fmla="val 104589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文本框 172"/>
          <p:cNvSpPr txBox="1"/>
          <p:nvPr/>
        </p:nvSpPr>
        <p:spPr>
          <a:xfrm>
            <a:off x="1099185" y="5813425"/>
            <a:ext cx="4705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整理显示如图，每一个结点，都会</a:t>
            </a:r>
            <a:r>
              <a:rPr lang="zh-CN" altLang="en-US">
                <a:solidFill>
                  <a:srgbClr val="FF0000"/>
                </a:solidFill>
              </a:rPr>
              <a:t>更新一次</a:t>
            </a:r>
            <a:r>
              <a:rPr lang="en-US" altLang="zh-CN">
                <a:solidFill>
                  <a:srgbClr val="FF0000"/>
                </a:solidFill>
              </a:rPr>
              <a:t>top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更新一次</a:t>
            </a:r>
            <a:r>
              <a:rPr lang="en-US" altLang="zh-CN">
                <a:solidFill>
                  <a:srgbClr val="FF0000"/>
                </a:solidFill>
              </a:rPr>
              <a:t>bottom</a:t>
            </a:r>
            <a:r>
              <a:rPr lang="zh-CN" altLang="en-US">
                <a:solidFill>
                  <a:srgbClr val="FF0000"/>
                </a:solidFill>
              </a:rPr>
              <a:t>或者当前结点的</a:t>
            </a:r>
            <a:r>
              <a:rPr lang="en-US" altLang="zh-CN">
                <a:solidFill>
                  <a:srgbClr val="FF0000"/>
                </a:solidFill>
              </a:rPr>
              <a:t>next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/>
      <p:bldP spid="152" grpId="0"/>
      <p:bldP spid="1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箱子排序实现</a:t>
            </a:r>
            <a:r>
              <a:rPr lang="en-US" altLang="zh-CN"/>
              <a:t>2</a:t>
            </a:r>
            <a:r>
              <a:t>（</a:t>
            </a:r>
            <a:r>
              <a:rPr lang="en-US" altLang="zh-CN"/>
              <a:t>2</a:t>
            </a:r>
            <a:r>
              <a:t>）</a:t>
            </a:r>
            <a:r>
              <a:rPr lang="en-US" altLang="zh-CN"/>
              <a:t>O(2*range)</a:t>
            </a:r>
            <a:endParaRPr lang="en-US" altLang="zh-CN"/>
          </a:p>
        </p:txBody>
      </p:sp>
      <p:grpSp>
        <p:nvGrpSpPr>
          <p:cNvPr id="122" name="组合 121"/>
          <p:cNvGrpSpPr/>
          <p:nvPr/>
        </p:nvGrpSpPr>
        <p:grpSpPr>
          <a:xfrm>
            <a:off x="2366010" y="1589405"/>
            <a:ext cx="905510" cy="368300"/>
            <a:chOff x="1309" y="2400"/>
            <a:chExt cx="1426" cy="58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5" name="直接连接符 124"/>
              <p:cNvCxnSpPr>
                <a:stCxn id="124" idx="0"/>
                <a:endCxn id="12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26" name="文本框 12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3267710" y="1589405"/>
            <a:ext cx="905510" cy="368300"/>
            <a:chOff x="1309" y="2400"/>
            <a:chExt cx="1426" cy="580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0" name="直接连接符 129"/>
              <p:cNvCxnSpPr>
                <a:stCxn id="129" idx="0"/>
                <a:endCxn id="12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31" name="文本框 13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4169410" y="1589405"/>
            <a:ext cx="905510" cy="368300"/>
            <a:chOff x="1309" y="2400"/>
            <a:chExt cx="1426" cy="580"/>
          </a:xfrm>
        </p:grpSpPr>
        <p:grpSp>
          <p:nvGrpSpPr>
            <p:cNvPr id="133" name="组合 13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5" name="直接连接符 134"/>
              <p:cNvCxnSpPr>
                <a:stCxn id="134" idx="0"/>
                <a:endCxn id="13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36" name="文本框 13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5071110" y="1589405"/>
            <a:ext cx="905510" cy="368300"/>
            <a:chOff x="1309" y="2400"/>
            <a:chExt cx="1426" cy="580"/>
          </a:xfrm>
        </p:grpSpPr>
        <p:grpSp>
          <p:nvGrpSpPr>
            <p:cNvPr id="138" name="组合 13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39" name="矩形 13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0" name="直接连接符 139"/>
              <p:cNvCxnSpPr>
                <a:stCxn id="139" idx="0"/>
                <a:endCxn id="13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41" name="文本框 14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5972810" y="1589405"/>
            <a:ext cx="905510" cy="368300"/>
            <a:chOff x="1309" y="2400"/>
            <a:chExt cx="1426" cy="580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44" name="矩形 14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5" name="直接连接符 144"/>
              <p:cNvCxnSpPr>
                <a:stCxn id="144" idx="0"/>
                <a:endCxn id="144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46" name="文本框 145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6874510" y="1589405"/>
            <a:ext cx="905510" cy="368300"/>
            <a:chOff x="1309" y="2400"/>
            <a:chExt cx="1426" cy="580"/>
          </a:xfrm>
        </p:grpSpPr>
        <p:grpSp>
          <p:nvGrpSpPr>
            <p:cNvPr id="148" name="组合 147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149" name="矩形 14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0" name="直接连接符 149"/>
              <p:cNvCxnSpPr>
                <a:stCxn id="149" idx="0"/>
                <a:endCxn id="149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151" name="文本框 150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sp>
        <p:nvSpPr>
          <p:cNvPr id="152" name="文本框 151"/>
          <p:cNvSpPr txBox="1"/>
          <p:nvPr/>
        </p:nvSpPr>
        <p:spPr>
          <a:xfrm>
            <a:off x="1073785" y="1713230"/>
            <a:ext cx="98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</a:t>
            </a:r>
            <a:endParaRPr lang="en-US" altLang="zh-CN"/>
          </a:p>
        </p:txBody>
      </p:sp>
      <p:grpSp>
        <p:nvGrpSpPr>
          <p:cNvPr id="64" name="组合 63"/>
          <p:cNvGrpSpPr/>
          <p:nvPr/>
        </p:nvGrpSpPr>
        <p:grpSpPr>
          <a:xfrm>
            <a:off x="2242185" y="5249545"/>
            <a:ext cx="905510" cy="368300"/>
            <a:chOff x="1309" y="2400"/>
            <a:chExt cx="1426" cy="580"/>
          </a:xfrm>
        </p:grpSpPr>
        <p:grpSp>
          <p:nvGrpSpPr>
            <p:cNvPr id="65" name="组合 6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7" name="直接连接符 66"/>
              <p:cNvCxnSpPr>
                <a:stCxn id="66" idx="0"/>
                <a:endCxn id="6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68" name="文本框 6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143885" y="5249545"/>
            <a:ext cx="905510" cy="368300"/>
            <a:chOff x="1309" y="2400"/>
            <a:chExt cx="1426" cy="580"/>
          </a:xfrm>
        </p:grpSpPr>
        <p:grpSp>
          <p:nvGrpSpPr>
            <p:cNvPr id="70" name="组合 6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2" name="直接连接符 71"/>
              <p:cNvCxnSpPr>
                <a:stCxn id="71" idx="0"/>
                <a:endCxn id="7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3" name="文本框 7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045585" y="5249545"/>
            <a:ext cx="905510" cy="368300"/>
            <a:chOff x="1309" y="2400"/>
            <a:chExt cx="1426" cy="580"/>
          </a:xfrm>
        </p:grpSpPr>
        <p:grpSp>
          <p:nvGrpSpPr>
            <p:cNvPr id="75" name="组合 7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7" name="直接连接符 76"/>
              <p:cNvCxnSpPr>
                <a:stCxn id="76" idx="0"/>
                <a:endCxn id="7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47285" y="5260340"/>
            <a:ext cx="905510" cy="368300"/>
            <a:chOff x="1309" y="2400"/>
            <a:chExt cx="1426" cy="580"/>
          </a:xfrm>
        </p:grpSpPr>
        <p:grpSp>
          <p:nvGrpSpPr>
            <p:cNvPr id="80" name="组合 7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/>
              <p:cNvCxnSpPr>
                <a:stCxn id="81" idx="0"/>
                <a:endCxn id="8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3" name="文本框 8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5848985" y="5249545"/>
            <a:ext cx="905510" cy="368300"/>
            <a:chOff x="1309" y="2400"/>
            <a:chExt cx="1426" cy="580"/>
          </a:xfrm>
        </p:grpSpPr>
        <p:grpSp>
          <p:nvGrpSpPr>
            <p:cNvPr id="85" name="组合 84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/>
              <p:cNvCxnSpPr>
                <a:stCxn id="86" idx="0"/>
                <a:endCxn id="86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88" name="文本框 8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750685" y="5249545"/>
            <a:ext cx="905510" cy="368300"/>
            <a:chOff x="1309" y="2400"/>
            <a:chExt cx="1426" cy="580"/>
          </a:xfrm>
        </p:grpSpPr>
        <p:grpSp>
          <p:nvGrpSpPr>
            <p:cNvPr id="90" name="组合 89"/>
            <p:cNvGrpSpPr/>
            <p:nvPr/>
          </p:nvGrpSpPr>
          <p:grpSpPr>
            <a:xfrm>
              <a:off x="1309" y="2493"/>
              <a:ext cx="1426" cy="458"/>
              <a:chOff x="1309" y="2493"/>
              <a:chExt cx="1426" cy="458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2" name="直接连接符 91"/>
              <p:cNvCxnSpPr>
                <a:stCxn id="91" idx="0"/>
                <a:endCxn id="91" idx="2"/>
              </p:cNvCxnSpPr>
              <p:nvPr/>
            </p:nvCxnSpPr>
            <p:spPr>
              <a:xfrm>
                <a:off x="2023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</p:cxnSp>
        </p:grpSp>
        <p:sp>
          <p:nvSpPr>
            <p:cNvPr id="93" name="文本框 9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sp>
        <p:nvSpPr>
          <p:cNvPr id="257" name="文本框 256"/>
          <p:cNvSpPr txBox="1"/>
          <p:nvPr/>
        </p:nvSpPr>
        <p:spPr>
          <a:xfrm>
            <a:off x="963930" y="5242560"/>
            <a:ext cx="98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bottom</a:t>
            </a:r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2205990" y="3977005"/>
            <a:ext cx="906145" cy="368300"/>
            <a:chOff x="1309" y="2400"/>
            <a:chExt cx="1427" cy="580"/>
          </a:xfrm>
        </p:grpSpPr>
        <p:grpSp>
          <p:nvGrpSpPr>
            <p:cNvPr id="7" name="组合 6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文本框 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</p:grpSp>
      <p:cxnSp>
        <p:nvCxnSpPr>
          <p:cNvPr id="30" name="直接箭头连接符 29"/>
          <p:cNvCxnSpPr/>
          <p:nvPr/>
        </p:nvCxnSpPr>
        <p:spPr>
          <a:xfrm flipV="1">
            <a:off x="2653665" y="4334510"/>
            <a:ext cx="10795" cy="9169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2804795" y="1929130"/>
            <a:ext cx="14605" cy="20497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3942080" y="3994785"/>
            <a:ext cx="906145" cy="368300"/>
            <a:chOff x="1309" y="2400"/>
            <a:chExt cx="1427" cy="580"/>
          </a:xfrm>
        </p:grpSpPr>
        <p:grpSp>
          <p:nvGrpSpPr>
            <p:cNvPr id="26" name="组合 25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</p:grpSp>
      <p:cxnSp>
        <p:nvCxnSpPr>
          <p:cNvPr id="31" name="直接箭头连接符 30"/>
          <p:cNvCxnSpPr/>
          <p:nvPr/>
        </p:nvCxnSpPr>
        <p:spPr>
          <a:xfrm flipV="1">
            <a:off x="4389755" y="4352290"/>
            <a:ext cx="10795" cy="9169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4540885" y="1957705"/>
            <a:ext cx="14605" cy="20497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4" name="组合 93"/>
          <p:cNvGrpSpPr/>
          <p:nvPr/>
        </p:nvGrpSpPr>
        <p:grpSpPr>
          <a:xfrm>
            <a:off x="4942840" y="3996690"/>
            <a:ext cx="906145" cy="368300"/>
            <a:chOff x="1309" y="2400"/>
            <a:chExt cx="1427" cy="580"/>
          </a:xfrm>
        </p:grpSpPr>
        <p:grpSp>
          <p:nvGrpSpPr>
            <p:cNvPr id="95" name="组合 94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7" name="直接连接符 96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8" name="文本框 97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</p:grpSp>
      <p:cxnSp>
        <p:nvCxnSpPr>
          <p:cNvPr id="99" name="直接箭头连接符 98"/>
          <p:cNvCxnSpPr/>
          <p:nvPr/>
        </p:nvCxnSpPr>
        <p:spPr>
          <a:xfrm flipV="1">
            <a:off x="5390515" y="4354195"/>
            <a:ext cx="10795" cy="9169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5541645" y="1959610"/>
            <a:ext cx="14605" cy="20497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1" name="组合 100"/>
          <p:cNvGrpSpPr/>
          <p:nvPr/>
        </p:nvGrpSpPr>
        <p:grpSpPr>
          <a:xfrm>
            <a:off x="5895340" y="3996690"/>
            <a:ext cx="906145" cy="368300"/>
            <a:chOff x="1309" y="2400"/>
            <a:chExt cx="1427" cy="580"/>
          </a:xfrm>
        </p:grpSpPr>
        <p:grpSp>
          <p:nvGrpSpPr>
            <p:cNvPr id="102" name="组合 101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5" name="文本框 104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cxnSp>
        <p:nvCxnSpPr>
          <p:cNvPr id="106" name="直接箭头连接符 105"/>
          <p:cNvCxnSpPr/>
          <p:nvPr/>
        </p:nvCxnSpPr>
        <p:spPr>
          <a:xfrm flipV="1">
            <a:off x="6292215" y="4364355"/>
            <a:ext cx="10795" cy="9169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6457950" y="1898650"/>
            <a:ext cx="4445" cy="73152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8" name="组合 107"/>
          <p:cNvGrpSpPr/>
          <p:nvPr/>
        </p:nvGrpSpPr>
        <p:grpSpPr>
          <a:xfrm>
            <a:off x="5885180" y="3519805"/>
            <a:ext cx="906145" cy="368300"/>
            <a:chOff x="1309" y="2400"/>
            <a:chExt cx="1427" cy="580"/>
          </a:xfrm>
        </p:grpSpPr>
        <p:grpSp>
          <p:nvGrpSpPr>
            <p:cNvPr id="109" name="组合 108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2" name="文本框 111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5885180" y="3034030"/>
            <a:ext cx="906145" cy="368300"/>
            <a:chOff x="1309" y="2400"/>
            <a:chExt cx="1427" cy="580"/>
          </a:xfrm>
        </p:grpSpPr>
        <p:grpSp>
          <p:nvGrpSpPr>
            <p:cNvPr id="114" name="组合 113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6" name="直接连接符 115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7" name="文本框 116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908675" y="2516505"/>
            <a:ext cx="906145" cy="368300"/>
            <a:chOff x="1309" y="2400"/>
            <a:chExt cx="1427" cy="580"/>
          </a:xfrm>
        </p:grpSpPr>
        <p:grpSp>
          <p:nvGrpSpPr>
            <p:cNvPr id="119" name="组合 118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120" name="矩形 119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1" name="直接连接符 120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3" name="文本框 15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</p:grpSp>
      <p:cxnSp>
        <p:nvCxnSpPr>
          <p:cNvPr id="154" name="直接箭头连接符 153"/>
          <p:cNvCxnSpPr>
            <a:endCxn id="112" idx="2"/>
          </p:cNvCxnSpPr>
          <p:nvPr/>
        </p:nvCxnSpPr>
        <p:spPr>
          <a:xfrm flipH="1" flipV="1">
            <a:off x="6111240" y="3888105"/>
            <a:ext cx="545465" cy="262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 flipH="1" flipV="1">
            <a:off x="6111240" y="3402330"/>
            <a:ext cx="545465" cy="262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flipH="1" flipV="1">
            <a:off x="6153150" y="2884805"/>
            <a:ext cx="545465" cy="262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7" name="组合 156"/>
          <p:cNvGrpSpPr/>
          <p:nvPr/>
        </p:nvGrpSpPr>
        <p:grpSpPr>
          <a:xfrm>
            <a:off x="6874510" y="3977005"/>
            <a:ext cx="906145" cy="368300"/>
            <a:chOff x="1309" y="2400"/>
            <a:chExt cx="1427" cy="580"/>
          </a:xfrm>
        </p:grpSpPr>
        <p:grpSp>
          <p:nvGrpSpPr>
            <p:cNvPr id="158" name="组合 157"/>
            <p:cNvGrpSpPr/>
            <p:nvPr/>
          </p:nvGrpSpPr>
          <p:grpSpPr>
            <a:xfrm>
              <a:off x="1309" y="2493"/>
              <a:ext cx="1427" cy="459"/>
              <a:chOff x="1309" y="2493"/>
              <a:chExt cx="1427" cy="459"/>
            </a:xfrm>
          </p:grpSpPr>
          <p:sp>
            <p:nvSpPr>
              <p:cNvPr id="159" name="矩形 158"/>
              <p:cNvSpPr/>
              <p:nvPr/>
            </p:nvSpPr>
            <p:spPr>
              <a:xfrm>
                <a:off x="1309" y="2493"/>
                <a:ext cx="1427" cy="45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连接符 160"/>
              <p:cNvCxnSpPr/>
              <p:nvPr/>
            </p:nvCxnSpPr>
            <p:spPr>
              <a:xfrm>
                <a:off x="2007" y="2493"/>
                <a:ext cx="0" cy="45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文本框 162"/>
            <p:cNvSpPr txBox="1"/>
            <p:nvPr/>
          </p:nvSpPr>
          <p:spPr>
            <a:xfrm>
              <a:off x="1410" y="2400"/>
              <a:ext cx="5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 flipV="1">
            <a:off x="7322185" y="4334510"/>
            <a:ext cx="10795" cy="9169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 flipH="1">
            <a:off x="7473315" y="1939925"/>
            <a:ext cx="14605" cy="20497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/>
          <p:nvPr/>
        </p:nvCxnSpPr>
        <p:spPr>
          <a:xfrm>
            <a:off x="2837180" y="4178935"/>
            <a:ext cx="1104900" cy="57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endCxn id="98" idx="1"/>
          </p:cNvCxnSpPr>
          <p:nvPr/>
        </p:nvCxnSpPr>
        <p:spPr>
          <a:xfrm flipV="1">
            <a:off x="4606925" y="4180840"/>
            <a:ext cx="400050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V="1">
            <a:off x="5636895" y="4199890"/>
            <a:ext cx="400050" cy="25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>
            <a:endCxn id="163" idx="0"/>
          </p:cNvCxnSpPr>
          <p:nvPr/>
        </p:nvCxnSpPr>
        <p:spPr>
          <a:xfrm>
            <a:off x="6656705" y="2662555"/>
            <a:ext cx="443865" cy="13144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3" name="文本框 172"/>
          <p:cNvSpPr txBox="1"/>
          <p:nvPr/>
        </p:nvSpPr>
        <p:spPr>
          <a:xfrm>
            <a:off x="8170545" y="1898650"/>
            <a:ext cx="32042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第一个非空</a:t>
            </a:r>
            <a:r>
              <a:rPr lang="en-US" altLang="zh-CN"/>
              <a:t>bottom</a:t>
            </a:r>
            <a:r>
              <a:rPr lang="zh-CN" altLang="en-US"/>
              <a:t>对应的</a:t>
            </a:r>
            <a:r>
              <a:rPr lang="en-US" altLang="zh-CN"/>
              <a:t>top</a:t>
            </a:r>
            <a:r>
              <a:rPr lang="zh-CN" altLang="en-US"/>
              <a:t>所指向的元素，需要链接到下一个非空</a:t>
            </a:r>
            <a:r>
              <a:rPr lang="en-US" altLang="zh-CN"/>
              <a:t>bottom</a:t>
            </a:r>
            <a:r>
              <a:rPr lang="zh-CN" altLang="en-US"/>
              <a:t>所指向的元素，达到箱子链表头尾相连的结果。</a:t>
            </a:r>
            <a:endParaRPr lang="en-US" altLang="zh-CN"/>
          </a:p>
        </p:txBody>
      </p:sp>
      <p:sp>
        <p:nvSpPr>
          <p:cNvPr id="174" name="文本框 173"/>
          <p:cNvSpPr txBox="1"/>
          <p:nvPr/>
        </p:nvSpPr>
        <p:spPr>
          <a:xfrm>
            <a:off x="8317865" y="3870325"/>
            <a:ext cx="3204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/>
              <a:t>性能由</a:t>
            </a:r>
            <a:r>
              <a:rPr lang="en-US" altLang="zh-CN"/>
              <a:t>O(4*n+range)</a:t>
            </a:r>
            <a:r>
              <a:rPr lang="zh-CN" altLang="en-US"/>
              <a:t>变为</a:t>
            </a:r>
            <a:r>
              <a:rPr lang="en-US" altLang="zh-CN"/>
              <a:t>O(2*n+2*range)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减少</a:t>
            </a:r>
            <a:r>
              <a:rPr lang="en-US" altLang="zh-CN"/>
              <a:t>insert</a:t>
            </a:r>
            <a:r>
              <a:rPr lang="zh-CN" altLang="en-US"/>
              <a:t>和</a:t>
            </a:r>
            <a:r>
              <a:rPr lang="en-US" altLang="zh-CN"/>
              <a:t>delete</a:t>
            </a:r>
            <a:r>
              <a:rPr lang="zh-CN" altLang="en-US"/>
              <a:t>操作。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257" grpId="0"/>
      <p:bldP spid="1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1524000" y="0"/>
            <a:ext cx="9144000" cy="92583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66903" y="152401"/>
            <a:ext cx="8458267" cy="609600"/>
          </a:xfrm>
          <a:prstGeom prst="rect">
            <a:avLst/>
          </a:prstGeom>
          <a:noFill/>
        </p:spPr>
        <p:txBody>
          <a:bodyPr wrap="square" lIns="47625" tIns="19050" rIns="47625" bIns="19050" rtlCol="0" anchor="ctr">
            <a:no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30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思考题</a:t>
            </a:r>
            <a:endParaRPr lang="zh-CN" altLang="en-US" sz="3200" b="1" spc="30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336165" y="1597677"/>
          <a:ext cx="7519670" cy="1191260"/>
        </p:xfrm>
        <a:graphic>
          <a:graphicData uri="http://schemas.openxmlformats.org/drawingml/2006/table">
            <a:tbl>
              <a:tblPr/>
              <a:tblGrid>
                <a:gridCol w="1293495"/>
                <a:gridCol w="1308100"/>
                <a:gridCol w="1250950"/>
                <a:gridCol w="1279525"/>
                <a:gridCol w="1193800"/>
                <a:gridCol w="1193800"/>
              </a:tblGrid>
              <a:tr h="1191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n-1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itle 6"/>
          <p:cNvSpPr txBox="1"/>
          <p:nvPr>
            <p:custDataLst>
              <p:tags r:id="rId4"/>
            </p:custDataLst>
          </p:nvPr>
        </p:nvSpPr>
        <p:spPr>
          <a:xfrm>
            <a:off x="1981204" y="4419635"/>
            <a:ext cx="8229657" cy="213361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数组逆序已知顺序存储的线性表，（a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)尝试设计算法逆置元素，即存储顺序改为(a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)。要求辅助存储空间复杂度为O(1)。试分析算法的时间复杂度。</a:t>
            </a:r>
            <a:endParaRPr lang="zh-CN" altLang="en-US" sz="2000" spc="200">
              <a:ln w="3175">
                <a:noFill/>
                <a:prstDash val="dash"/>
              </a:ln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336165" y="3010552"/>
          <a:ext cx="7519670" cy="1191260"/>
        </p:xfrm>
        <a:graphic>
          <a:graphicData uri="http://schemas.openxmlformats.org/drawingml/2006/table">
            <a:tbl>
              <a:tblPr/>
              <a:tblGrid>
                <a:gridCol w="1293495"/>
                <a:gridCol w="1308100"/>
                <a:gridCol w="1250950"/>
                <a:gridCol w="1279525"/>
                <a:gridCol w="1193800"/>
                <a:gridCol w="1193800"/>
              </a:tblGrid>
              <a:tr h="1191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n-1</a:t>
                      </a:r>
                      <a:endParaRPr lang="zh-CN" alt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...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endParaRPr 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下箭头 2"/>
          <p:cNvSpPr/>
          <p:nvPr/>
        </p:nvSpPr>
        <p:spPr>
          <a:xfrm>
            <a:off x="5950585" y="2600325"/>
            <a:ext cx="457200" cy="5429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1524000" y="0"/>
            <a:ext cx="9144000" cy="92583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66903" y="152401"/>
            <a:ext cx="8458267" cy="609600"/>
          </a:xfrm>
          <a:prstGeom prst="rect">
            <a:avLst/>
          </a:prstGeom>
          <a:noFill/>
        </p:spPr>
        <p:txBody>
          <a:bodyPr wrap="square" lIns="47625" tIns="19050" rIns="47625" bIns="19050" rtlCol="0" anchor="ctr">
            <a:no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30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思考题</a:t>
            </a:r>
            <a:endParaRPr lang="zh-CN" altLang="en-US" sz="3200" b="1" spc="30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336165" y="1695467"/>
          <a:ext cx="7519670" cy="1191260"/>
        </p:xfrm>
        <a:graphic>
          <a:graphicData uri="http://schemas.openxmlformats.org/drawingml/2006/table">
            <a:tbl>
              <a:tblPr/>
              <a:tblGrid>
                <a:gridCol w="1293495"/>
                <a:gridCol w="1308100"/>
                <a:gridCol w="1250950"/>
                <a:gridCol w="1279525"/>
                <a:gridCol w="1193800"/>
                <a:gridCol w="1193800"/>
              </a:tblGrid>
              <a:tr h="1191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zh-CN" alt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itle 6"/>
          <p:cNvSpPr txBox="1"/>
          <p:nvPr>
            <p:custDataLst>
              <p:tags r:id="rId4"/>
            </p:custDataLst>
          </p:nvPr>
        </p:nvSpPr>
        <p:spPr>
          <a:xfrm>
            <a:off x="1981204" y="4419635"/>
            <a:ext cx="8229657" cy="213361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已知顺序存储的线性表，依次存放两个顺序表，（a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)(b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....b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)，尝试设计算法更换两个顺序表的位置，即存储顺序改为（b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)(a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)。要求辅助存储空间复杂度为O(1)。试分析算法的时间复杂度。</a:t>
            </a:r>
            <a:endParaRPr lang="zh-CN" altLang="en-US" sz="2000" spc="200">
              <a:ln w="3175">
                <a:noFill/>
                <a:prstDash val="dash"/>
              </a:ln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336165" y="3108342"/>
          <a:ext cx="7519670" cy="1191260"/>
        </p:xfrm>
        <a:graphic>
          <a:graphicData uri="http://schemas.openxmlformats.org/drawingml/2006/table">
            <a:tbl>
              <a:tblPr/>
              <a:tblGrid>
                <a:gridCol w="1293495"/>
                <a:gridCol w="1308100"/>
                <a:gridCol w="1250950"/>
                <a:gridCol w="1279525"/>
                <a:gridCol w="1193800"/>
                <a:gridCol w="1193800"/>
              </a:tblGrid>
              <a:tr h="1191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zh-CN" alt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下箭头 2"/>
          <p:cNvSpPr/>
          <p:nvPr/>
        </p:nvSpPr>
        <p:spPr>
          <a:xfrm>
            <a:off x="5979160" y="2653030"/>
            <a:ext cx="457200" cy="5429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1524000" y="0"/>
            <a:ext cx="9144000" cy="92583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66903" y="152401"/>
            <a:ext cx="8458267" cy="609600"/>
          </a:xfrm>
          <a:prstGeom prst="rect">
            <a:avLst/>
          </a:prstGeom>
          <a:noFill/>
        </p:spPr>
        <p:txBody>
          <a:bodyPr wrap="square" lIns="47625" tIns="19050" rIns="47625" bIns="19050" rtlCol="0" anchor="ctr">
            <a:no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30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思考题</a:t>
            </a:r>
            <a:endParaRPr lang="zh-CN" altLang="en-US" sz="3200" b="1" spc="30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336165" y="2086627"/>
          <a:ext cx="7519670" cy="1191260"/>
        </p:xfrm>
        <a:graphic>
          <a:graphicData uri="http://schemas.openxmlformats.org/drawingml/2006/table">
            <a:tbl>
              <a:tblPr/>
              <a:tblGrid>
                <a:gridCol w="1293495"/>
                <a:gridCol w="1308100"/>
                <a:gridCol w="1250950"/>
                <a:gridCol w="1279525"/>
                <a:gridCol w="1193800"/>
                <a:gridCol w="1193800"/>
              </a:tblGrid>
              <a:tr h="1191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en-US" altLang="zh-CN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zh-CN" alt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sz="1900" b="1" spc="13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spc="13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r>
                        <a:rPr lang="en-US" sz="1900" b="1" spc="130" baseline="-25000">
                          <a:solidFill>
                            <a:srgbClr val="6464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en-US" sz="1900" b="1" spc="130" baseline="-25000">
                        <a:solidFill>
                          <a:srgbClr val="6464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itle 6"/>
          <p:cNvSpPr txBox="1"/>
          <p:nvPr>
            <p:custDataLst>
              <p:tags r:id="rId4"/>
            </p:custDataLst>
          </p:nvPr>
        </p:nvSpPr>
        <p:spPr>
          <a:xfrm>
            <a:off x="1981204" y="4419635"/>
            <a:ext cx="8229657" cy="2133613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已知顺序存储的线性表，依次存放两个分别大小有序线性表，（a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...a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)(b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....b</a:t>
            </a:r>
            <a:r>
              <a:rPr lang="zh-CN" altLang="en-US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)，即</a:t>
            </a:r>
            <a:r>
              <a:rPr alt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alt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&gt;=a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i-1,</a:t>
            </a:r>
            <a:r>
              <a:rPr alt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</a:t>
            </a:r>
            <a:r>
              <a:rPr alt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&gt;=b</a:t>
            </a:r>
            <a:r>
              <a:rPr altLang="zh-CN" sz="2000" spc="200" baseline="-250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j-1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altLang="zh-CN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1&lt;i&lt;=n,1&lt;j&lt;=m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尝试设计算法合并成为一个非降序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线性表。</a:t>
            </a:r>
            <a:r>
              <a:rPr lang="zh-CN" altLang="en-US" sz="2000" spc="200">
                <a:ln w="3175">
                  <a:noFill/>
                  <a:prstDash val="dash"/>
                </a:ln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要求辅助存储空间复杂度为O(1)。试分析算法的时间复杂度。</a:t>
            </a:r>
            <a:endParaRPr lang="zh-CN" altLang="en-US" sz="2000" spc="200">
              <a:ln w="3175">
                <a:noFill/>
                <a:prstDash val="dash"/>
              </a:ln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OJ</a:t>
            </a:r>
            <a:r>
              <a:t>作业提交分类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练习题目类</a:t>
            </a:r>
            <a:endParaRPr lang="zh-CN" altLang="en-US"/>
          </a:p>
          <a:p>
            <a:pPr lvl="1"/>
            <a:r>
              <a:rPr lang="zh-CN" altLang="en-US"/>
              <a:t>规定时间内完成</a:t>
            </a:r>
            <a:r>
              <a:rPr lang="en-US" altLang="zh-CN"/>
              <a:t>oj</a:t>
            </a:r>
            <a:r>
              <a:t>上题目提交。</a:t>
            </a:r>
            <a:endParaRPr lang="zh-CN" altLang="en-US"/>
          </a:p>
          <a:p>
            <a:r>
              <a:rPr lang="zh-CN" altLang="en-US"/>
              <a:t>作业类</a:t>
            </a:r>
            <a:endParaRPr lang="zh-CN" altLang="en-US"/>
          </a:p>
          <a:p>
            <a:pPr lvl="1"/>
            <a:r>
              <a:rPr lang="zh-CN" altLang="en-US"/>
              <a:t>提交时间报告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670" y="2327275"/>
            <a:ext cx="6448425" cy="3857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实验报告内容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算法说明</a:t>
            </a:r>
            <a:endParaRPr lang="zh-CN" altLang="en-US"/>
          </a:p>
          <a:p>
            <a:pPr lvl="1"/>
            <a:r>
              <a:rPr lang="zh-CN" altLang="en-US"/>
              <a:t>流程图、设计思路</a:t>
            </a:r>
            <a:endParaRPr lang="zh-CN" altLang="en-US"/>
          </a:p>
          <a:p>
            <a:pPr lvl="0"/>
            <a:r>
              <a:rPr lang="zh-CN" altLang="en-US"/>
              <a:t>测试</a:t>
            </a:r>
            <a:endParaRPr lang="zh-CN" altLang="en-US"/>
          </a:p>
          <a:p>
            <a:pPr lvl="1"/>
            <a:r>
              <a:rPr lang="zh-CN" altLang="en-US"/>
              <a:t>测试案例</a:t>
            </a:r>
            <a:endParaRPr lang="zh-CN" altLang="en-US"/>
          </a:p>
          <a:p>
            <a:pPr lvl="1"/>
            <a:r>
              <a:rPr lang="zh-CN" altLang="en-US"/>
              <a:t>测试目的</a:t>
            </a:r>
            <a:endParaRPr lang="zh-CN" altLang="en-US"/>
          </a:p>
          <a:p>
            <a:pPr lvl="1"/>
            <a:r>
              <a:rPr lang="zh-CN" altLang="en-US"/>
              <a:t>测试结果</a:t>
            </a:r>
            <a:endParaRPr lang="zh-CN" altLang="en-US"/>
          </a:p>
          <a:p>
            <a:pPr lvl="0"/>
            <a:r>
              <a:rPr lang="zh-CN" altLang="en-US"/>
              <a:t>总结与探讨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8743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8743"/>
  <p:tag name="KSO_WM_UNIT_VALUE" val="159"/>
  <p:tag name="KSO_WM_TEMPLATE_ASSEMBLE_XID" val="5f48a2c2f3f92eac73830e34"/>
  <p:tag name="KSO_WM_TEMPLATE_ASSEMBLE_GROUPID" val="5f48a2c2f3f92eac73830e3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43_1*a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CHIP_FILLAREA_FILL_RULE" val="{&quot;fill_align&quot;:&quot;lm&quot;,&quot;fill_mode&quot;:&quot;full&quot;}"/>
  <p:tag name="KSO_WM_UNIT_DEC_AREA_ID" val="b5e8bc4dc5314833b42b0b79a1da7e87"/>
  <p:tag name="KSO_WM_ASSEMBLE_CHIP_INDEX" val="e55cfaaa368f4909865e76d44ed0852c"/>
  <p:tag name="KSO_WM_UNIT_TEXT_FILL_FORE_SCHEMECOLOR_INDEX_BRIGHTNESS" val="0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73.xml><?xml version="1.0" encoding="utf-8"?>
<p:tagLst xmlns:p="http://schemas.openxmlformats.org/presentationml/2006/main">
  <p:tag name="KSO_WM_UNIT_TABLE_BEAUTIFY" val="smartTable{4266fd1e-5bb1-46f8-97d5-b127bfff0893}"/>
  <p:tag name="KSO_WM_BEAUTIFY_FLAG" val="#wm#"/>
  <p:tag name="KSO_WM_UNIT_TYPE" val="β"/>
  <p:tag name="TABLE_SKINIDX" val="-1"/>
  <p:tag name="TABLE_COLORIDX" val="l"/>
  <p:tag name="TABLE_RECT" val="63.95*164.301*592.1*93.8"/>
  <p:tag name="TABLE_EMPHASIZE_COLOR" val="6579300"/>
  <p:tag name="TABLE_ONEKEY_SKIN_IDX" val="0"/>
</p:tagLst>
</file>

<file path=ppt/tags/tag7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43_1*f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15"/>
  <p:tag name="KSO_WM_UNIT_SHOW_EDIT_AREA_INDICATION" val="1"/>
  <p:tag name="KSO_WM_CHIP_GROUPID" val="5e6b05596848fb12bee65ac8"/>
  <p:tag name="KSO_WM_CHIP_XID" val="5e6b05596848fb12bee65aca"/>
  <p:tag name="KSO_WM_CHIP_FILLAREA_FILL_RULE" val="{&quot;fill_align&quot;:&quot;lt&quot;,&quot;fill_mode&quot;:&quot;full&quot;}"/>
  <p:tag name="KSO_WM_UNIT_DEC_AREA_ID" val="c80f63d948ee4e369ba0d53ce19df20e"/>
  <p:tag name="KSO_WM_ASSEMBLE_CHIP_INDEX" val="7d5ae22597e34921a6b81723e9d66beb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75.xml><?xml version="1.0" encoding="utf-8"?>
<p:tagLst xmlns:p="http://schemas.openxmlformats.org/presentationml/2006/main">
  <p:tag name="KSO_WM_UNIT_TABLE_BEAUTIFY" val="smartTable{4266fd1e-5bb1-46f8-97d5-b127bfff0893}"/>
  <p:tag name="KSO_WM_BEAUTIFY_FLAG" val="#wm#"/>
  <p:tag name="KSO_WM_UNIT_TYPE" val="β"/>
  <p:tag name="TABLE_SKINIDX" val="-1"/>
  <p:tag name="TABLE_COLORIDX" val="l"/>
  <p:tag name="TABLE_RECT" val="63.95*164.301*592.1*93.8"/>
  <p:tag name="TABLE_EMPHASIZE_COLOR" val="6579300"/>
  <p:tag name="TABLE_ONEKEY_SKIN_IDX" val="0"/>
</p:tagLst>
</file>

<file path=ppt/tags/tag76.xml><?xml version="1.0" encoding="utf-8"?>
<p:tagLst xmlns:p="http://schemas.openxmlformats.org/presentationml/2006/main">
  <p:tag name="KSO_WM_BEAUTIFY_FLAG" val="#wm#"/>
  <p:tag name="KSO_WM_TEMPLATE_CATEGORY" val="diagram"/>
  <p:tag name="KSO_WM_TEMPLATE_INDEX" val="20208743"/>
  <p:tag name="KSO_WM_SLIDE_LAYOUT_INFO" val="{&quot;id&quot;:&quot;2020-08-28T14:23:09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0-08-28T14:23:09&quot;,&quot;margin&quot;:{&quot;bottom&quot;:0.42300000786781311,&quot;left&quot;:1.2699999809265137,&quot;right&quot;:1.2699999809265137,&quot;top&quot;:0.42300000786781311},&quot;type&quot;:0},{&quot;id&quot;:&quot;2020-08-28T14:23:09&quot;,&quot;maxSize&quot;:{&quot;size1&quot;:58.899999999999999},&quot;minSize&quot;:{&quot;size1&quot;:46.200000000000003},&quot;normalSize&quot;:{&quot;size1&quot;:58.899999999999999},&quot;subLayout&quot;:[{&quot;id&quot;:&quot;2020-08-28T14:23:09&quot;,&quot;margin&quot;:{&quot;bottom&quot;:0.84700000286102295,&quot;left&quot;:1.6929999589920044,&quot;right&quot;:1.6929999589920044,&quot;top&quot;:0.81999999284744263},&quot;type&quot;:0},{&quot;id&quot;:&quot;2020-08-28T14:23:09&quot;,&quot;margin&quot;:{&quot;bottom&quot;:0.84700000286102295,&quot;left&quot;:1.6929999589920044,&quot;right&quot;:1.6929999589920044,&quot;top&quot;:0},&quot;type&quot;:0}],&quot;type&quot;:0}],&quot;type&quot;:0}"/>
  <p:tag name="KSO_WM_SLIDE_BACKGROUND" val="[&quot;navigation&quot;]"/>
  <p:tag name="KSO_WM_SLIDE_RATIO" val="1.777778"/>
  <p:tag name="KSO_WM_SLIDE_ID" val="diagram2020874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16"/>
  <p:tag name="KSO_WM_SLIDE_POSITION" val="0*0"/>
  <p:tag name="KSO_WM_TAG_VERSION" val="1.0"/>
  <p:tag name="KSO_WM_SLIDE_LAYOUT" val="a_d_f"/>
  <p:tag name="KSO_WM_SLIDE_LAYOUT_CNT" val="1_1_1"/>
  <p:tag name="KSO_WM_CHIP_INFOS" val="{&quot;layout_type&quot;:&quot;navigation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cd03df5ee0584837a79d35639eea6c03&quot;,&quot;fill_align&quot;:&quot;lm&quot;,&quot;text_align&quot;:&quot;lm&quot;,&quot;text_direction&quot;:&quot;horizontal&quot;,&quot;chip_types&quot;:[&quot;header&quot;]},{&quot;fill_id&quot;:&quot;9113085b8c654bdeb5f5fecb8607365a&quot;,&quot;fill_align&quot;:&quot;lb&quot;,&quot;text_align&quot;:&quot;lb&quot;,&quot;text_direction&quot;:&quot;horizontal&quot;,&quot;chip_types&quot;:[&quot;pictext&quot;,&quot;text&quot;,&quot;picture&quot;,&quot;chart&quot;,&quot;table&quot;],&quot;support_features&quot;:[&quot;collage&quot;]},{&quot;fill_id&quot;:&quot;7a6a73ea8e8b41df8343fdbffbc453d4&quot;,&quot;fill_align&quot;:&quot;lt&quot;,&quot;text_align&quot;:&quot;lt&quot;,&quot;text_direction&quot;:&quot;horizontal&quot;,&quot;chip_types&quot;:[&quot;pictext&quot;,&quot;text&quot;,&quot;picture&quot;,&quot;chart&quot;,&quot;table&quot;],&quot;support_features&quot;:[&quot;collage&quot;]}]]"/>
  <p:tag name="KSO_WM_CHIP_XID" val="5ef0a4b5978989e612c8e8ac"/>
  <p:tag name="KSO_WM_CHIP_GROUPID" val="5ef0a4b5978989e612c8e8ab"/>
  <p:tag name="KSO_WM_SLIDE_BK_DARK_LIGHT" val="2"/>
  <p:tag name="KSO_WM_SLIDE_BACKGROUND_TYPE" val="navigation"/>
  <p:tag name="KSO_WM_SLIDE_SUPPORT_FEATURE_TYPE" val="1"/>
  <p:tag name="KSO_WM_TEMPLATE_ASSEMBLE_XID" val="5f48a2c2f3f92eac73830e34"/>
  <p:tag name="KSO_WM_TEMPLATE_ASSEMBLE_GROUPID" val="5f48a2c2f3f92eac73830e3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8743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8743"/>
  <p:tag name="KSO_WM_UNIT_VALUE" val="159"/>
  <p:tag name="KSO_WM_TEMPLATE_ASSEMBLE_XID" val="5f48a2c2f3f92eac73830e34"/>
  <p:tag name="KSO_WM_TEMPLATE_ASSEMBLE_GROUPID" val="5f48a2c2f3f92eac73830e3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43_1*a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CHIP_FILLAREA_FILL_RULE" val="{&quot;fill_align&quot;:&quot;lm&quot;,&quot;fill_mode&quot;:&quot;full&quot;}"/>
  <p:tag name="KSO_WM_UNIT_DEC_AREA_ID" val="b5e8bc4dc5314833b42b0b79a1da7e87"/>
  <p:tag name="KSO_WM_ASSEMBLE_CHIP_INDEX" val="e55cfaaa368f4909865e76d44ed0852c"/>
  <p:tag name="KSO_WM_UNIT_TEXT_FILL_FORE_SCHEMECOLOR_INDEX_BRIGHTNESS" val="0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79.xml><?xml version="1.0" encoding="utf-8"?>
<p:tagLst xmlns:p="http://schemas.openxmlformats.org/presentationml/2006/main">
  <p:tag name="KSO_WM_UNIT_TABLE_BEAUTIFY" val="smartTable{4266fd1e-5bb1-46f8-97d5-b127bfff0893}"/>
  <p:tag name="KSO_WM_BEAUTIFY_FLAG" val="#wm#"/>
  <p:tag name="KSO_WM_UNIT_TYPE" val="β"/>
  <p:tag name="TABLE_SKINIDX" val="-1"/>
  <p:tag name="TABLE_COLORIDX" val="l"/>
  <p:tag name="TABLE_RECT" val="63.95*164.301*592.1*93.8"/>
  <p:tag name="TABLE_EMPHASIZE_COLOR" val="6579300"/>
  <p:tag name="TABLE_ONEKEY_SKIN_IDX" val="0"/>
</p:tagLst>
</file>

<file path=ppt/tags/tag8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43_1*f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15"/>
  <p:tag name="KSO_WM_UNIT_SHOW_EDIT_AREA_INDICATION" val="1"/>
  <p:tag name="KSO_WM_CHIP_GROUPID" val="5e6b05596848fb12bee65ac8"/>
  <p:tag name="KSO_WM_CHIP_XID" val="5e6b05596848fb12bee65aca"/>
  <p:tag name="KSO_WM_CHIP_FILLAREA_FILL_RULE" val="{&quot;fill_align&quot;:&quot;lt&quot;,&quot;fill_mode&quot;:&quot;full&quot;}"/>
  <p:tag name="KSO_WM_UNIT_DEC_AREA_ID" val="c80f63d948ee4e369ba0d53ce19df20e"/>
  <p:tag name="KSO_WM_ASSEMBLE_CHIP_INDEX" val="7d5ae22597e34921a6b81723e9d66beb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81.xml><?xml version="1.0" encoding="utf-8"?>
<p:tagLst xmlns:p="http://schemas.openxmlformats.org/presentationml/2006/main">
  <p:tag name="KSO_WM_UNIT_TABLE_BEAUTIFY" val="smartTable{4266fd1e-5bb1-46f8-97d5-b127bfff0893}"/>
  <p:tag name="KSO_WM_BEAUTIFY_FLAG" val="#wm#"/>
  <p:tag name="KSO_WM_UNIT_TYPE" val="β"/>
  <p:tag name="TABLE_SKINIDX" val="-1"/>
  <p:tag name="TABLE_COLORIDX" val="l"/>
  <p:tag name="TABLE_RECT" val="63.95*164.301*592.1*93.8"/>
  <p:tag name="TABLE_EMPHASIZE_COLOR" val="6579300"/>
  <p:tag name="TABLE_ONEKEY_SKIN_IDX" val="0"/>
</p:tagLst>
</file>

<file path=ppt/tags/tag82.xml><?xml version="1.0" encoding="utf-8"?>
<p:tagLst xmlns:p="http://schemas.openxmlformats.org/presentationml/2006/main">
  <p:tag name="KSO_WM_BEAUTIFY_FLAG" val="#wm#"/>
  <p:tag name="KSO_WM_TEMPLATE_CATEGORY" val="diagram"/>
  <p:tag name="KSO_WM_TEMPLATE_INDEX" val="20208743"/>
  <p:tag name="KSO_WM_SLIDE_LAYOUT_INFO" val="{&quot;id&quot;:&quot;2020-08-28T14:23:09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0-08-28T14:23:09&quot;,&quot;margin&quot;:{&quot;bottom&quot;:0.42300000786781311,&quot;left&quot;:1.2699999809265137,&quot;right&quot;:1.2699999809265137,&quot;top&quot;:0.42300000786781311},&quot;type&quot;:0},{&quot;id&quot;:&quot;2020-08-28T14:23:09&quot;,&quot;maxSize&quot;:{&quot;size1&quot;:58.899999999999999},&quot;minSize&quot;:{&quot;size1&quot;:46.200000000000003},&quot;normalSize&quot;:{&quot;size1&quot;:58.899999999999999},&quot;subLayout&quot;:[{&quot;id&quot;:&quot;2020-08-28T14:23:09&quot;,&quot;margin&quot;:{&quot;bottom&quot;:0.84700000286102295,&quot;left&quot;:1.6929999589920044,&quot;right&quot;:1.6929999589920044,&quot;top&quot;:0.81999999284744263},&quot;type&quot;:0},{&quot;id&quot;:&quot;2020-08-28T14:23:09&quot;,&quot;margin&quot;:{&quot;bottom&quot;:0.84700000286102295,&quot;left&quot;:1.6929999589920044,&quot;right&quot;:1.6929999589920044,&quot;top&quot;:0},&quot;type&quot;:0}],&quot;type&quot;:0}],&quot;type&quot;:0}"/>
  <p:tag name="KSO_WM_SLIDE_BACKGROUND" val="[&quot;navigation&quot;]"/>
  <p:tag name="KSO_WM_SLIDE_RATIO" val="1.777778"/>
  <p:tag name="KSO_WM_SLIDE_ID" val="diagram2020874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16"/>
  <p:tag name="KSO_WM_SLIDE_POSITION" val="0*0"/>
  <p:tag name="KSO_WM_TAG_VERSION" val="1.0"/>
  <p:tag name="KSO_WM_SLIDE_LAYOUT" val="a_d_f"/>
  <p:tag name="KSO_WM_SLIDE_LAYOUT_CNT" val="1_1_1"/>
  <p:tag name="KSO_WM_CHIP_INFOS" val="{&quot;layout_type&quot;:&quot;navigation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cd03df5ee0584837a79d35639eea6c03&quot;,&quot;fill_align&quot;:&quot;lm&quot;,&quot;text_align&quot;:&quot;lm&quot;,&quot;text_direction&quot;:&quot;horizontal&quot;,&quot;chip_types&quot;:[&quot;header&quot;]},{&quot;fill_id&quot;:&quot;9113085b8c654bdeb5f5fecb8607365a&quot;,&quot;fill_align&quot;:&quot;lb&quot;,&quot;text_align&quot;:&quot;lb&quot;,&quot;text_direction&quot;:&quot;horizontal&quot;,&quot;chip_types&quot;:[&quot;pictext&quot;,&quot;text&quot;,&quot;picture&quot;,&quot;chart&quot;,&quot;table&quot;],&quot;support_features&quot;:[&quot;collage&quot;]},{&quot;fill_id&quot;:&quot;7a6a73ea8e8b41df8343fdbffbc453d4&quot;,&quot;fill_align&quot;:&quot;lt&quot;,&quot;text_align&quot;:&quot;lt&quot;,&quot;text_direction&quot;:&quot;horizontal&quot;,&quot;chip_types&quot;:[&quot;pictext&quot;,&quot;text&quot;,&quot;picture&quot;,&quot;chart&quot;,&quot;table&quot;],&quot;support_features&quot;:[&quot;collage&quot;]}]]"/>
  <p:tag name="KSO_WM_CHIP_XID" val="5ef0a4b5978989e612c8e8ac"/>
  <p:tag name="KSO_WM_CHIP_GROUPID" val="5ef0a4b5978989e612c8e8ab"/>
  <p:tag name="KSO_WM_SLIDE_BK_DARK_LIGHT" val="2"/>
  <p:tag name="KSO_WM_SLIDE_BACKGROUND_TYPE" val="navigation"/>
  <p:tag name="KSO_WM_SLIDE_SUPPORT_FEATURE_TYPE" val="1"/>
  <p:tag name="KSO_WM_TEMPLATE_ASSEMBLE_XID" val="5f48a2c2f3f92eac73830e34"/>
  <p:tag name="KSO_WM_TEMPLATE_ASSEMBLE_GROUPID" val="5f48a2c2f3f92eac73830e34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8743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08743"/>
  <p:tag name="KSO_WM_UNIT_VALUE" val="159"/>
  <p:tag name="KSO_WM_TEMPLATE_ASSEMBLE_XID" val="5f48a2c2f3f92eac73830e34"/>
  <p:tag name="KSO_WM_TEMPLATE_ASSEMBLE_GROUPID" val="5f48a2c2f3f92eac73830e3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43_1*a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CHIP_FILLAREA_FILL_RULE" val="{&quot;fill_align&quot;:&quot;lm&quot;,&quot;fill_mode&quot;:&quot;full&quot;}"/>
  <p:tag name="KSO_WM_UNIT_DEC_AREA_ID" val="b5e8bc4dc5314833b42b0b79a1da7e87"/>
  <p:tag name="KSO_WM_ASSEMBLE_CHIP_INDEX" val="e55cfaaa368f4909865e76d44ed0852c"/>
  <p:tag name="KSO_WM_UNIT_TEXT_FILL_FORE_SCHEMECOLOR_INDEX_BRIGHTNESS" val="0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85.xml><?xml version="1.0" encoding="utf-8"?>
<p:tagLst xmlns:p="http://schemas.openxmlformats.org/presentationml/2006/main">
  <p:tag name="KSO_WM_UNIT_TABLE_BEAUTIFY" val="smartTable{4266fd1e-5bb1-46f8-97d5-b127bfff0893}"/>
  <p:tag name="KSO_WM_BEAUTIFY_FLAG" val="#wm#"/>
  <p:tag name="KSO_WM_UNIT_TYPE" val="β"/>
  <p:tag name="TABLE_SKINIDX" val="-1"/>
  <p:tag name="TABLE_COLORIDX" val="l"/>
  <p:tag name="TABLE_RECT" val="63.95*164.301*592.1*93.8"/>
  <p:tag name="TABLE_EMPHASIZE_COLOR" val="6579300"/>
  <p:tag name="TABLE_ONEKEY_SKIN_IDX" val="0"/>
</p:tagLst>
</file>

<file path=ppt/tags/tag8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8743_1*f*1"/>
  <p:tag name="KSO_WM_TEMPLATE_CATEGORY" val="diagram"/>
  <p:tag name="KSO_WM_TEMPLATE_INDEX" val="2020874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15"/>
  <p:tag name="KSO_WM_UNIT_SHOW_EDIT_AREA_INDICATION" val="1"/>
  <p:tag name="KSO_WM_CHIP_GROUPID" val="5e6b05596848fb12bee65ac8"/>
  <p:tag name="KSO_WM_CHIP_XID" val="5e6b05596848fb12bee65aca"/>
  <p:tag name="KSO_WM_CHIP_FILLAREA_FILL_RULE" val="{&quot;fill_align&quot;:&quot;lt&quot;,&quot;fill_mode&quot;:&quot;full&quot;}"/>
  <p:tag name="KSO_WM_UNIT_DEC_AREA_ID" val="c80f63d948ee4e369ba0d53ce19df20e"/>
  <p:tag name="KSO_WM_ASSEMBLE_CHIP_INDEX" val="7d5ae22597e34921a6b81723e9d66beb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5f48a2c2f3f92eac73830e34"/>
  <p:tag name="KSO_WM_TEMPLATE_ASSEMBLE_GROUPID" val="5f48a2c2f3f92eac73830e34"/>
  <p:tag name="KSO_WM_TAG_Front_Size" val=""/>
  <p:tag name="KSO_WM_TAG_Backgroup_Id" val=""/>
  <p:tag name="KSO_WM_TAG_Backgroup_Size" val=""/>
  <p:tag name="KSO_WM_TAG_Zoder_Position" val=""/>
</p:tagLst>
</file>

<file path=ppt/tags/tag87.xml><?xml version="1.0" encoding="utf-8"?>
<p:tagLst xmlns:p="http://schemas.openxmlformats.org/presentationml/2006/main">
  <p:tag name="KSO_WM_BEAUTIFY_FLAG" val="#wm#"/>
  <p:tag name="KSO_WM_TEMPLATE_CATEGORY" val="diagram"/>
  <p:tag name="KSO_WM_TEMPLATE_INDEX" val="20208743"/>
  <p:tag name="KSO_WM_SLIDE_LAYOUT_INFO" val="{&quot;id&quot;:&quot;2020-08-28T14:23:09&quot;,&quot;maxSize&quot;:{&quot;size1&quot;:13.5},&quot;minSize&quot;:{&quot;size1&quot;:13.5},&quot;normalSize&quot;:{&quot;size1&quot;:13.5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0-08-28T14:23:09&quot;,&quot;margin&quot;:{&quot;bottom&quot;:0.42300000786781311,&quot;left&quot;:1.2699999809265137,&quot;right&quot;:1.2699999809265137,&quot;top&quot;:0.42300000786781311},&quot;type&quot;:0},{&quot;id&quot;:&quot;2020-08-28T14:23:09&quot;,&quot;maxSize&quot;:{&quot;size1&quot;:58.899999999999999},&quot;minSize&quot;:{&quot;size1&quot;:46.200000000000003},&quot;normalSize&quot;:{&quot;size1&quot;:58.899999999999999},&quot;subLayout&quot;:[{&quot;id&quot;:&quot;2020-08-28T14:23:09&quot;,&quot;margin&quot;:{&quot;bottom&quot;:0.84700000286102295,&quot;left&quot;:1.6929999589920044,&quot;right&quot;:1.6929999589920044,&quot;top&quot;:0.81999999284744263},&quot;type&quot;:0},{&quot;id&quot;:&quot;2020-08-28T14:23:09&quot;,&quot;margin&quot;:{&quot;bottom&quot;:0.84700000286102295,&quot;left&quot;:1.6929999589920044,&quot;right&quot;:1.6929999589920044,&quot;top&quot;:0},&quot;type&quot;:0}],&quot;type&quot;:0}],&quot;type&quot;:0}"/>
  <p:tag name="KSO_WM_SLIDE_BACKGROUND" val="[&quot;navigation&quot;]"/>
  <p:tag name="KSO_WM_SLIDE_RATIO" val="1.777778"/>
  <p:tag name="KSO_WM_SLIDE_ID" val="diagram2020874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516"/>
  <p:tag name="KSO_WM_SLIDE_POSITION" val="0*0"/>
  <p:tag name="KSO_WM_TAG_VERSION" val="1.0"/>
  <p:tag name="KSO_WM_SLIDE_LAYOUT" val="a_d_f"/>
  <p:tag name="KSO_WM_SLIDE_LAYOUT_CNT" val="1_1_1"/>
  <p:tag name="KSO_WM_CHIP_INFOS" val="{&quot;layout_type&quot;:&quot;navigation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cd03df5ee0584837a79d35639eea6c03&quot;,&quot;fill_align&quot;:&quot;lm&quot;,&quot;text_align&quot;:&quot;lm&quot;,&quot;text_direction&quot;:&quot;horizontal&quot;,&quot;chip_types&quot;:[&quot;header&quot;]},{&quot;fill_id&quot;:&quot;9113085b8c654bdeb5f5fecb8607365a&quot;,&quot;fill_align&quot;:&quot;lb&quot;,&quot;text_align&quot;:&quot;lb&quot;,&quot;text_direction&quot;:&quot;horizontal&quot;,&quot;chip_types&quot;:[&quot;pictext&quot;,&quot;text&quot;,&quot;picture&quot;,&quot;chart&quot;,&quot;table&quot;],&quot;support_features&quot;:[&quot;collage&quot;]},{&quot;fill_id&quot;:&quot;7a6a73ea8e8b41df8343fdbffbc453d4&quot;,&quot;fill_align&quot;:&quot;lt&quot;,&quot;text_align&quot;:&quot;lt&quot;,&quot;text_direction&quot;:&quot;horizontal&quot;,&quot;chip_types&quot;:[&quot;pictext&quot;,&quot;text&quot;,&quot;picture&quot;,&quot;chart&quot;,&quot;table&quot;],&quot;support_features&quot;:[&quot;collage&quot;]}]]"/>
  <p:tag name="KSO_WM_CHIP_XID" val="5ef0a4b5978989e612c8e8ac"/>
  <p:tag name="KSO_WM_CHIP_GROUPID" val="5ef0a4b5978989e612c8e8ab"/>
  <p:tag name="KSO_WM_SLIDE_BK_DARK_LIGHT" val="2"/>
  <p:tag name="KSO_WM_SLIDE_BACKGROUND_TYPE" val="navigation"/>
  <p:tag name="KSO_WM_SLIDE_SUPPORT_FEATURE_TYPE" val="1"/>
  <p:tag name="KSO_WM_TEMPLATE_ASSEMBLE_XID" val="5f48a2c2f3f92eac73830e34"/>
  <p:tag name="KSO_WM_TEMPLATE_ASSEMBLE_GROUPID" val="5f48a2c2f3f92eac73830e34"/>
</p:tagLst>
</file>

<file path=ppt/tags/tag88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8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"/>
  <p:tag name="KSO_WM_UNIT_NOCLEAR" val="0"/>
  <p:tag name="KSO_WM_UNIT_VALUE" val="6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187308_8*f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ID" val="custom20187308_8"/>
  <p:tag name="KSO_WM_TEMPLATE_SUBCATEGORY" val="0"/>
  <p:tag name="KSO_WM_SLIDE_TYPE" val="text"/>
  <p:tag name="KSO_WM_SLIDE_SUBTYPE" val="pureTxt"/>
  <p:tag name="KSO_WM_SLIDE_ITEM_CNT" val="0"/>
  <p:tag name="KSO_WM_SLIDE_INDEX" val="8"/>
  <p:tag name="KSO_WM_SLIDE_SIZE" val="854*464"/>
  <p:tag name="KSO_WM_SLIDE_POSITION" val="52*34"/>
  <p:tag name="KSO_WM_TAG_VERSION" val="1.0"/>
  <p:tag name="KSO_WM_BEAUTIFY_FLAG" val="#wm#"/>
  <p:tag name="KSO_WM_TEMPLATE_CATEGORY" val="custom"/>
  <p:tag name="KSO_WM_TEMPLATE_INDEX" val="20187308"/>
  <p:tag name="KSO_WM_SLIDE_LAYOUT" val="a_f"/>
  <p:tag name="KSO_WM_SLIDE_LAYOUT_CNT" val="1_1"/>
</p:tagLst>
</file>

<file path=ppt/tags/tag91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8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根据需要可酌情增减文字，以便观者准确的理解您传达的思想。&#13;单击此处添加文本具体内容，简明扼要的阐述您的观点。"/>
  <p:tag name="KSO_WM_UNIT_NOCLEAR" val="0"/>
  <p:tag name="KSO_WM_UNIT_VALUE" val="6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187308_8*f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ID" val="custom20187308_8"/>
  <p:tag name="KSO_WM_TEMPLATE_SUBCATEGORY" val="0"/>
  <p:tag name="KSO_WM_SLIDE_TYPE" val="text"/>
  <p:tag name="KSO_WM_SLIDE_SUBTYPE" val="pureTxt"/>
  <p:tag name="KSO_WM_SLIDE_ITEM_CNT" val="0"/>
  <p:tag name="KSO_WM_SLIDE_INDEX" val="8"/>
  <p:tag name="KSO_WM_SLIDE_SIZE" val="854*464"/>
  <p:tag name="KSO_WM_SLIDE_POSITION" val="52*34"/>
  <p:tag name="KSO_WM_TAG_VERSION" val="1.0"/>
  <p:tag name="KSO_WM_BEAUTIFY_FLAG" val="#wm#"/>
  <p:tag name="KSO_WM_TEMPLATE_CATEGORY" val="custom"/>
  <p:tag name="KSO_WM_TEMPLATE_INDEX" val="20187308"/>
  <p:tag name="KSO_WM_SLIDE_LAYOUT" val="a_f"/>
  <p:tag name="KSO_WM_SLIDE_LAYOUT_CNT" val="1_1"/>
</p:tagLst>
</file>

<file path=ppt/tags/tag94.xml><?xml version="1.0" encoding="utf-8"?>
<p:tagLst xmlns:p="http://schemas.openxmlformats.org/presentationml/2006/main">
  <p:tag name="COMMONDATA" val="eyJoZGlkIjoiNmJlYjU2ZmY2NWFiZjdmY2JmNTg0ZDU3N2EyYmExZj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演示</Application>
  <PresentationFormat>宽屏</PresentationFormat>
  <Paragraphs>331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Tahoma</vt:lpstr>
      <vt:lpstr>Times New Roman</vt:lpstr>
      <vt:lpstr>Segoe UI</vt:lpstr>
      <vt:lpstr>Arial Unicode MS</vt:lpstr>
      <vt:lpstr>Office 主题​​</vt:lpstr>
      <vt:lpstr>箱子排序实现</vt:lpstr>
      <vt:lpstr>箱子排序实现1    O(4*n+range)</vt:lpstr>
      <vt:lpstr>优化：作为Chain类的成员函数</vt:lpstr>
      <vt:lpstr>优化：作为Chain类的成员函数</vt:lpstr>
      <vt:lpstr>优化：作为Chain类的成员函数</vt:lpstr>
      <vt:lpstr>箱子排序实现2（1）O(2n)</vt:lpstr>
      <vt:lpstr>箱子排序实现2（2）O(2*range)</vt:lpstr>
      <vt:lpstr>PowerPoint 演示文稿</vt:lpstr>
      <vt:lpstr>PowerPoint 演示文稿</vt:lpstr>
      <vt:lpstr>PowerPoint 演示文稿</vt:lpstr>
      <vt:lpstr>OJ作业提交分类</vt:lpstr>
      <vt:lpstr>实验报告内容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刘明铭</cp:lastModifiedBy>
  <cp:revision>46</cp:revision>
  <dcterms:created xsi:type="dcterms:W3CDTF">2019-06-19T02:08:00Z</dcterms:created>
  <dcterms:modified xsi:type="dcterms:W3CDTF">2022-09-21T05:31:54Z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623F52A22A234537BC1D4F7A2ACD4D66</vt:lpwstr>
  </property>
</Properties>
</file>