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9" r:id="rId3"/>
    <p:sldId id="412" r:id="rId4"/>
    <p:sldId id="413" r:id="rId5"/>
    <p:sldId id="431" r:id="rId6"/>
    <p:sldId id="432" r:id="rId7"/>
    <p:sldId id="435" r:id="rId8"/>
    <p:sldId id="436" r:id="rId9"/>
    <p:sldId id="43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43308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8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RBTree</a:t>
            </a:r>
            <a:r>
              <a:rPr lang="zh-CN" altLang="en-US"/>
              <a:t>插入旋转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右旋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9" idx="3"/>
            <a:endCxn id="3" idx="3"/>
          </p:cNvCxnSpPr>
          <p:nvPr/>
        </p:nvCxnSpPr>
        <p:spPr>
          <a:xfrm flipH="1">
            <a:off x="3529965" y="4036060"/>
            <a:ext cx="222250" cy="1803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剪去同侧角的矩形 12"/>
          <p:cNvSpPr/>
          <p:nvPr/>
        </p:nvSpPr>
        <p:spPr>
          <a:xfrm>
            <a:off x="4207510" y="4216400"/>
            <a:ext cx="171450" cy="173355"/>
          </a:xfrm>
          <a:prstGeom prst="snip2SameRect">
            <a:avLst>
              <a:gd name="adj1" fmla="val 32592"/>
              <a:gd name="adj2" fmla="val 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9" idx="5"/>
            <a:endCxn id="13" idx="3"/>
          </p:cNvCxnSpPr>
          <p:nvPr/>
        </p:nvCxnSpPr>
        <p:spPr>
          <a:xfrm>
            <a:off x="4064000" y="4036060"/>
            <a:ext cx="229235" cy="1803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4207510" y="3020695"/>
            <a:ext cx="770890" cy="683260"/>
            <a:chOff x="6626" y="4757"/>
            <a:chExt cx="1214" cy="1076"/>
          </a:xfrm>
        </p:grpSpPr>
        <p:sp>
          <p:nvSpPr>
            <p:cNvPr id="5" name="椭圆 4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剪去同侧角的矩形 16"/>
            <p:cNvSpPr/>
            <p:nvPr/>
          </p:nvSpPr>
          <p:spPr>
            <a:xfrm>
              <a:off x="7570" y="5596"/>
              <a:ext cx="270" cy="237"/>
            </a:xfrm>
            <a:prstGeom prst="snip2SameRect">
              <a:avLst>
                <a:gd name="adj1" fmla="val 40740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8" name="直接箭头连接符 17"/>
            <p:cNvCxnSpPr>
              <a:stCxn id="5" idx="5"/>
            </p:cNvCxnSpPr>
            <p:nvPr/>
          </p:nvCxnSpPr>
          <p:spPr>
            <a:xfrm>
              <a:off x="7219" y="5389"/>
              <a:ext cx="413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剪去同侧角的矩形 2"/>
          <p:cNvSpPr/>
          <p:nvPr/>
        </p:nvSpPr>
        <p:spPr>
          <a:xfrm>
            <a:off x="3444240" y="421640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剪去同侧角的矩形 28"/>
          <p:cNvSpPr/>
          <p:nvPr/>
        </p:nvSpPr>
        <p:spPr>
          <a:xfrm>
            <a:off x="2861310" y="5165725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4219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子树，实心为左子树，空心为右子树。颜色为旋转前父节点颜色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20 0.000004 L 0.021895 0.000004 C 0.031695 0.000004 0.043770 0.024869 0.043770 0.045051 L 0.043770 0.0900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" y="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7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3 0.000043 L 0.000003 -0.044588 C 0.000003 -0.064581 0.011532 -0.089217 0.020889 -0.089217 L 0.041774 -0.089217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4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313 -0.000556 " pathEditMode="relative" rAng="0" ptsTypes="">
                                      <p:cBhvr>
                                        <p:cTn id="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00000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4792 0.000370 " pathEditMode="relative" rAng="0" ptsTypes="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21458 -0.000648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2292 -0.087685 " pathEditMode="relative" ptsTypes="">
                                      <p:cBhvr>
                                        <p:cTn id="2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46 -0.001296 L 0.043802 -0.088611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-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3" grpId="0" bldLvl="0" animBg="1"/>
      <p:bldP spid="3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左</a:t>
            </a:r>
            <a:r>
              <a:t>旋</a:t>
            </a:r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4677410" y="3622675"/>
            <a:ext cx="770890" cy="683260"/>
            <a:chOff x="6626" y="4757"/>
            <a:chExt cx="1214" cy="1076"/>
          </a:xfrm>
        </p:grpSpPr>
        <p:sp>
          <p:nvSpPr>
            <p:cNvPr id="11" name="椭圆 1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剪去同侧角的矩形 18"/>
            <p:cNvSpPr/>
            <p:nvPr/>
          </p:nvSpPr>
          <p:spPr>
            <a:xfrm>
              <a:off x="7570" y="5560"/>
              <a:ext cx="270" cy="273"/>
            </a:xfrm>
            <a:prstGeom prst="snip2SameRect">
              <a:avLst>
                <a:gd name="adj1" fmla="val 34444"/>
                <a:gd name="adj2" fmla="val 0"/>
              </a:avLst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259" y="5368"/>
              <a:ext cx="311" cy="27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/>
        </p:nvGrpSpPr>
        <p:grpSpPr>
          <a:xfrm>
            <a:off x="3907155" y="3020695"/>
            <a:ext cx="741045" cy="749300"/>
            <a:chOff x="6153" y="4757"/>
            <a:chExt cx="1167" cy="1180"/>
          </a:xfrm>
        </p:grpSpPr>
        <p:sp>
          <p:nvSpPr>
            <p:cNvPr id="21" name="椭圆 20"/>
            <p:cNvSpPr/>
            <p:nvPr/>
          </p:nvSpPr>
          <p:spPr>
            <a:xfrm>
              <a:off x="6626" y="4757"/>
              <a:ext cx="695" cy="7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2" name="直接箭头连接符 21"/>
            <p:cNvCxnSpPr>
              <a:stCxn id="21" idx="3"/>
              <a:endCxn id="24" idx="7"/>
            </p:cNvCxnSpPr>
            <p:nvPr/>
          </p:nvCxnSpPr>
          <p:spPr>
            <a:xfrm flipH="1">
              <a:off x="6383" y="5389"/>
              <a:ext cx="345" cy="316"/>
            </a:xfrm>
            <a:prstGeom prst="straightConnector1">
              <a:avLst/>
            </a:prstGeom>
            <a:ln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剪去同侧角的矩形 23"/>
            <p:cNvSpPr/>
            <p:nvPr/>
          </p:nvSpPr>
          <p:spPr>
            <a:xfrm>
              <a:off x="6153" y="5665"/>
              <a:ext cx="270" cy="273"/>
            </a:xfrm>
            <a:prstGeom prst="snip2SameRect">
              <a:avLst>
                <a:gd name="adj1" fmla="val 37777"/>
                <a:gd name="adj2" fmla="val 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9" name="直接箭头连接符 28"/>
          <p:cNvCxnSpPr>
            <a:stCxn id="21" idx="5"/>
          </p:cNvCxnSpPr>
          <p:nvPr/>
        </p:nvCxnSpPr>
        <p:spPr>
          <a:xfrm>
            <a:off x="4584065" y="3422015"/>
            <a:ext cx="191770" cy="2444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剪去同侧角的矩形 29"/>
          <p:cNvSpPr/>
          <p:nvPr/>
        </p:nvSpPr>
        <p:spPr>
          <a:xfrm>
            <a:off x="4438015" y="4185920"/>
            <a:ext cx="171450" cy="173355"/>
          </a:xfrm>
          <a:prstGeom prst="snip2SameRect">
            <a:avLst>
              <a:gd name="adj1" fmla="val 34444"/>
              <a:gd name="adj2" fmla="val 0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>
            <a:stCxn id="11" idx="3"/>
            <a:endCxn id="30" idx="3"/>
          </p:cNvCxnSpPr>
          <p:nvPr/>
        </p:nvCxnSpPr>
        <p:spPr>
          <a:xfrm flipH="1">
            <a:off x="4523740" y="4023995"/>
            <a:ext cx="218440" cy="1619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3281 0.088148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" y="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7917 -0.081667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" y="-3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00000">
                                      <p:cBhvr>
                                        <p:cTn id="1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1302 0.000000 " pathEditMode="relative" ptsTypes="">
                                      <p:cBhvr>
                                        <p:cTn id="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40990 0.000000 " pathEditMode="relative" ptsTypes="">
                                      <p:cBhvr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17865 -0.000648 " pathEditMode="relative" ptsTypes="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节点定义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N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N:</a:t>
            </a:r>
            <a:r>
              <a:rPr lang="zh-CN" altLang="en-US"/>
              <a:t>新插入节点，</a:t>
            </a:r>
            <a:r>
              <a:rPr lang="en-US" altLang="zh-CN"/>
              <a:t>S</a:t>
            </a:r>
            <a:r>
              <a:rPr lang="zh-CN" altLang="en-US"/>
              <a:t>新节点的兄弟节点，</a:t>
            </a:r>
            <a:r>
              <a:rPr lang="en-US" altLang="zh-CN"/>
              <a:t>P</a:t>
            </a:r>
            <a:r>
              <a:rPr lang="zh-CN" altLang="en-US"/>
              <a:t>为</a:t>
            </a:r>
            <a:r>
              <a:rPr lang="en-US" altLang="zh-CN"/>
              <a:t>N</a:t>
            </a:r>
            <a:r>
              <a:rPr lang="zh-CN" altLang="en-US"/>
              <a:t>的父节点，</a:t>
            </a:r>
            <a:r>
              <a:rPr lang="en-US" altLang="zh-CN"/>
              <a:t>GP</a:t>
            </a:r>
            <a:r>
              <a:rPr lang="zh-CN" altLang="en-US"/>
              <a:t>为其祖父节点，</a:t>
            </a:r>
            <a:r>
              <a:rPr lang="en-US" altLang="zh-CN"/>
              <a:t>U</a:t>
            </a:r>
            <a:r>
              <a:rPr lang="zh-CN" altLang="en-US"/>
              <a:t>为</a:t>
            </a:r>
            <a:r>
              <a:rPr lang="en-US" altLang="zh-CN"/>
              <a:t>uncle</a:t>
            </a:r>
            <a:r>
              <a:rPr lang="zh-CN" altLang="en-US"/>
              <a:t>节点。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插入情况</a:t>
            </a:r>
            <a:r>
              <a:rPr lang="en-US" altLang="zh-CN"/>
              <a:t>1-</a:t>
            </a:r>
            <a:r>
              <a:t>父节点为黑色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600">
                <a:solidFill>
                  <a:schemeClr val="tx1"/>
                </a:solidFill>
                <a:sym typeface="+mn-ea"/>
              </a:rPr>
              <a:t>GP</a:t>
            </a:r>
            <a:endParaRPr lang="en-US" altLang="zh-CN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983865" y="4659630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其他结点颜色满足红黑树要求，不需要任何操作。相当于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树一个不满的节点（</a:t>
            </a:r>
            <a:r>
              <a:rPr lang="en-US" altLang="zh-CN"/>
              <a:t>1</a:t>
            </a:r>
            <a:r>
              <a:rPr lang="zh-CN" altLang="en-US"/>
              <a:t>个或</a:t>
            </a:r>
            <a:r>
              <a:rPr lang="en-US" altLang="zh-CN"/>
              <a:t>2</a:t>
            </a:r>
            <a:r>
              <a:rPr lang="zh-CN" altLang="en-US"/>
              <a:t>个）</a:t>
            </a:r>
            <a:r>
              <a:rPr lang="zh-CN" altLang="en-US"/>
              <a:t>插入一个元素。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插入情况</a:t>
            </a:r>
            <a:r>
              <a:rPr lang="en-US" altLang="zh-CN"/>
              <a:t>2</a:t>
            </a:r>
            <a:r>
              <a:rPr lang="en-US" altLang="zh-CN"/>
              <a:t>-</a:t>
            </a:r>
            <a:r>
              <a:t>父节点为红色，</a:t>
            </a:r>
            <a:r>
              <a:rPr lang="en-US" altLang="zh-CN"/>
              <a:t>U</a:t>
            </a:r>
            <a:r>
              <a:t>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相当于在一个具有</a:t>
            </a:r>
            <a:r>
              <a:rPr lang="en-US" altLang="zh-CN"/>
              <a:t>2</a:t>
            </a:r>
            <a:r>
              <a:rPr lang="zh-CN" altLang="en-US"/>
              <a:t>个节点的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树中插入一个新节点。需要进行旋转，染色</a:t>
            </a:r>
            <a:r>
              <a:rPr lang="zh-CN" altLang="en-US"/>
              <a:t>，但是不会影响</a:t>
            </a:r>
            <a:r>
              <a:rPr lang="en-US" altLang="zh-CN"/>
              <a:t>B</a:t>
            </a:r>
            <a:r>
              <a:rPr lang="zh-CN" altLang="en-US"/>
              <a:t>树树高，也就不会影响</a:t>
            </a:r>
            <a:r>
              <a:rPr lang="en-US" altLang="zh-CN"/>
              <a:t>RB</a:t>
            </a:r>
            <a:r>
              <a:rPr lang="zh-CN" altLang="en-US"/>
              <a:t>树的黑色边个数。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7736840" y="253682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3" name="直接箭头连接符 12"/>
          <p:cNvCxnSpPr>
            <a:stCxn id="3" idx="3"/>
            <a:endCxn id="18" idx="7"/>
          </p:cNvCxnSpPr>
          <p:nvPr/>
        </p:nvCxnSpPr>
        <p:spPr>
          <a:xfrm flipH="1">
            <a:off x="7578725" y="293814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8113395" y="2938145"/>
            <a:ext cx="568325" cy="695960"/>
            <a:chOff x="12777" y="4627"/>
            <a:chExt cx="895" cy="1096"/>
          </a:xfrm>
        </p:grpSpPr>
        <p:sp>
          <p:nvSpPr>
            <p:cNvPr id="12" name="椭圆 11"/>
            <p:cNvSpPr/>
            <p:nvPr/>
          </p:nvSpPr>
          <p:spPr>
            <a:xfrm>
              <a:off x="12978" y="4983"/>
              <a:ext cx="695" cy="74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U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14" name="直接箭头连接符 13"/>
            <p:cNvCxnSpPr>
              <a:stCxn id="3" idx="5"/>
              <a:endCxn id="12" idx="1"/>
            </p:cNvCxnSpPr>
            <p:nvPr/>
          </p:nvCxnSpPr>
          <p:spPr>
            <a:xfrm>
              <a:off x="12777" y="4627"/>
              <a:ext cx="303" cy="4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椭圆 15"/>
          <p:cNvSpPr/>
          <p:nvPr/>
        </p:nvSpPr>
        <p:spPr>
          <a:xfrm>
            <a:off x="6682105" y="377825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7" name="直接箭头连接符 16"/>
          <p:cNvCxnSpPr>
            <a:stCxn id="18" idx="3"/>
            <a:endCxn id="16" idx="7"/>
          </p:cNvCxnSpPr>
          <p:nvPr/>
        </p:nvCxnSpPr>
        <p:spPr>
          <a:xfrm flipH="1">
            <a:off x="7058660" y="356552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7202170" y="316420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7736840" y="384746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0" name="直接箭头连接符 19"/>
          <p:cNvCxnSpPr>
            <a:stCxn id="18" idx="5"/>
            <a:endCxn id="19" idx="1"/>
          </p:cNvCxnSpPr>
          <p:nvPr/>
        </p:nvCxnSpPr>
        <p:spPr>
          <a:xfrm>
            <a:off x="7578725" y="3565525"/>
            <a:ext cx="222885" cy="351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229 0.011944 L 0.034323 0.099537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" y="4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302 0.093704 " pathEditMode="relative" rAng="0" ptsTypes="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4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1823 0.000000 " pathEditMode="relative" ptsTypes="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200000">
                                      <p:cBhvr>
                                        <p:cTn id="1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3 0.000648 L 0.043385 -0.092963 " pathEditMode="relative" rAng="0" ptsTypes="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2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54 0.005556 L 0.040313 -0.088703 " pathEditMode="relative" rAng="0" ptsTypes="">
                                      <p:cBhvr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7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625 0.001019 L 0.038698 -0.087778 " pathEditMode="relative" rAng="0" ptsTypes="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" y="-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5469 0.003056 " pathEditMode="relative" rAng="0" ptsTypes="">
                                      <p:cBhvr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15729 0.005370 " pathEditMode="relative" rAng="0" ptsTypes="">
                                      <p:cBhvr>
                                        <p:cTn id="3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3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0" name="直接箭头连接符 19"/>
          <p:cNvCxnSpPr>
            <a:stCxn id="18" idx="5"/>
            <a:endCxn id="19" idx="1"/>
          </p:cNvCxnSpPr>
          <p:nvPr/>
        </p:nvCxnSpPr>
        <p:spPr>
          <a:xfrm>
            <a:off x="7578725" y="3565525"/>
            <a:ext cx="222885" cy="351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插入情况</a:t>
            </a:r>
            <a:r>
              <a:rPr lang="en-US" altLang="zh-CN"/>
              <a:t>3</a:t>
            </a:r>
            <a:r>
              <a:rPr lang="en-US" altLang="zh-CN"/>
              <a:t>-</a:t>
            </a:r>
            <a:r>
              <a:t>父节点为红色，</a:t>
            </a:r>
            <a:r>
              <a:rPr lang="en-US" altLang="zh-CN"/>
              <a:t>U</a:t>
            </a:r>
            <a:r>
              <a:t>节点为黑色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相当于在一个具有</a:t>
            </a:r>
            <a:r>
              <a:rPr lang="en-US" altLang="zh-CN"/>
              <a:t>2</a:t>
            </a:r>
            <a:r>
              <a:rPr lang="zh-CN" altLang="en-US"/>
              <a:t>个节点的</a:t>
            </a:r>
            <a:r>
              <a:rPr lang="en-US" altLang="zh-CN"/>
              <a:t>4</a:t>
            </a:r>
            <a:r>
              <a:rPr lang="zh-CN" altLang="en-US"/>
              <a:t>阶</a:t>
            </a:r>
            <a:r>
              <a:rPr lang="en-US" altLang="zh-CN"/>
              <a:t>B</a:t>
            </a:r>
            <a:r>
              <a:rPr lang="zh-CN" altLang="en-US"/>
              <a:t>树中插入一个新节点。需要进行旋转，染色</a:t>
            </a:r>
            <a:r>
              <a:rPr lang="zh-CN" altLang="en-US"/>
              <a:t>，但是不会影响</a:t>
            </a:r>
            <a:r>
              <a:rPr lang="en-US" altLang="zh-CN"/>
              <a:t>B</a:t>
            </a:r>
            <a:r>
              <a:rPr lang="zh-CN" altLang="en-US"/>
              <a:t>树树高，也就不会影响</a:t>
            </a:r>
            <a:r>
              <a:rPr lang="en-US" altLang="zh-CN"/>
              <a:t>RB</a:t>
            </a:r>
            <a:r>
              <a:rPr lang="zh-CN" altLang="en-US"/>
              <a:t>树的黑色边个数。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N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7736840" y="253682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3" name="直接箭头连接符 12"/>
          <p:cNvCxnSpPr>
            <a:stCxn id="3" idx="3"/>
            <a:endCxn id="18" idx="7"/>
          </p:cNvCxnSpPr>
          <p:nvPr/>
        </p:nvCxnSpPr>
        <p:spPr>
          <a:xfrm flipH="1">
            <a:off x="7578725" y="293814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8113395" y="2938145"/>
            <a:ext cx="568325" cy="695960"/>
            <a:chOff x="12777" y="4627"/>
            <a:chExt cx="895" cy="1096"/>
          </a:xfrm>
        </p:grpSpPr>
        <p:sp>
          <p:nvSpPr>
            <p:cNvPr id="12" name="椭圆 11"/>
            <p:cNvSpPr/>
            <p:nvPr/>
          </p:nvSpPr>
          <p:spPr>
            <a:xfrm>
              <a:off x="12978" y="4983"/>
              <a:ext cx="695" cy="741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>
                  <a:solidFill>
                    <a:schemeClr val="bg1"/>
                  </a:solidFill>
                  <a:sym typeface="+mn-ea"/>
                </a:rPr>
                <a:t>U</a:t>
              </a:r>
              <a:endParaRPr lang="en-US" altLang="zh-CN">
                <a:solidFill>
                  <a:schemeClr val="bg1"/>
                </a:solidFill>
                <a:sym typeface="+mn-ea"/>
              </a:endParaRPr>
            </a:p>
          </p:txBody>
        </p:sp>
        <p:cxnSp>
          <p:nvCxnSpPr>
            <p:cNvPr id="14" name="直接箭头连接符 13"/>
            <p:cNvCxnSpPr>
              <a:stCxn id="3" idx="5"/>
              <a:endCxn id="12" idx="1"/>
            </p:cNvCxnSpPr>
            <p:nvPr/>
          </p:nvCxnSpPr>
          <p:spPr>
            <a:xfrm>
              <a:off x="12777" y="4627"/>
              <a:ext cx="303" cy="4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椭圆 15"/>
          <p:cNvSpPr/>
          <p:nvPr/>
        </p:nvSpPr>
        <p:spPr>
          <a:xfrm>
            <a:off x="6682105" y="377825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7" name="直接箭头连接符 16"/>
          <p:cNvCxnSpPr>
            <a:stCxn id="18" idx="3"/>
            <a:endCxn id="16" idx="7"/>
          </p:cNvCxnSpPr>
          <p:nvPr/>
        </p:nvCxnSpPr>
        <p:spPr>
          <a:xfrm flipH="1">
            <a:off x="7058660" y="356552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7202170" y="316420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7736840" y="384746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N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35052 0.097222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3802 0.101389 " pathEditMode="relative" rAng="0" ptsTypes="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" y="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00000 -0.188889 " pathEditMode="relative" ptsTypes="">
                                      <p:cBhvr>
                                        <p:cTn id="2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043854 -0.092685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-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插入情况</a:t>
            </a:r>
            <a:r>
              <a:rPr lang="en-US" altLang="zh-CN"/>
              <a:t>4</a:t>
            </a:r>
            <a:r>
              <a:rPr lang="en-US" altLang="zh-CN"/>
              <a:t>-</a:t>
            </a:r>
            <a:r>
              <a:t>父节点为红色，</a:t>
            </a:r>
            <a:r>
              <a:rPr lang="en-US" altLang="zh-CN"/>
              <a:t>U</a:t>
            </a:r>
            <a:r>
              <a:t>节点为红色</a:t>
            </a:r>
          </a:p>
        </p:txBody>
      </p:sp>
      <p:sp>
        <p:nvSpPr>
          <p:cNvPr id="4" name="椭圆 3"/>
          <p:cNvSpPr/>
          <p:nvPr/>
        </p:nvSpPr>
        <p:spPr>
          <a:xfrm>
            <a:off x="4742180" y="2393315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G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24637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U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7" name="直接箭头连接符 6"/>
          <p:cNvCxnSpPr>
            <a:stCxn id="4" idx="3"/>
            <a:endCxn id="5" idx="7"/>
          </p:cNvCxnSpPr>
          <p:nvPr/>
        </p:nvCxnSpPr>
        <p:spPr>
          <a:xfrm flipH="1">
            <a:off x="4584065" y="2794635"/>
            <a:ext cx="222885" cy="295275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4" idx="5"/>
            <a:endCxn id="6" idx="1"/>
          </p:cNvCxnSpPr>
          <p:nvPr/>
        </p:nvCxnSpPr>
        <p:spPr>
          <a:xfrm>
            <a:off x="5118735" y="2794635"/>
            <a:ext cx="192405" cy="2952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3687445" y="3634740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N</a:t>
            </a:r>
            <a:endParaRPr lang="en-US" altLang="zh-CN">
              <a:solidFill>
                <a:schemeClr val="bg1"/>
              </a:solidFill>
            </a:endParaRPr>
          </a:p>
        </p:txBody>
      </p:sp>
      <p:cxnSp>
        <p:nvCxnSpPr>
          <p:cNvPr id="10" name="直接箭头连接符 9"/>
          <p:cNvCxnSpPr>
            <a:stCxn id="5" idx="3"/>
            <a:endCxn id="9" idx="7"/>
          </p:cNvCxnSpPr>
          <p:nvPr/>
        </p:nvCxnSpPr>
        <p:spPr>
          <a:xfrm flipH="1">
            <a:off x="4064000" y="3422015"/>
            <a:ext cx="208280" cy="281940"/>
          </a:xfrm>
          <a:prstGeom prst="straightConnector1">
            <a:avLst/>
          </a:prstGeom>
          <a:ln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207510" y="3020695"/>
            <a:ext cx="441325" cy="47053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57245" y="5055235"/>
            <a:ext cx="6217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G</a:t>
            </a:r>
            <a:r>
              <a:rPr lang="zh-CN" altLang="en-US"/>
              <a:t>节点和</a:t>
            </a:r>
            <a:r>
              <a:rPr lang="en-US" altLang="zh-CN"/>
              <a:t>S</a:t>
            </a:r>
            <a:r>
              <a:rPr lang="zh-CN" altLang="en-US"/>
              <a:t>节点只可以为黑色。需要重新染色，然后继续以</a:t>
            </a:r>
            <a:r>
              <a:rPr lang="en-US" altLang="zh-CN"/>
              <a:t>G</a:t>
            </a:r>
            <a:r>
              <a:rPr lang="zh-CN" altLang="en-US"/>
              <a:t>为新插入节点进行修正，直到需要旋转平衡或者到根</a:t>
            </a:r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4742180" y="3634740"/>
            <a:ext cx="441325" cy="4705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</a:t>
            </a:r>
            <a:endParaRPr lang="en-US" altLang="zh-CN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11" name="直接箭头连接符 10"/>
          <p:cNvCxnSpPr>
            <a:stCxn id="5" idx="5"/>
            <a:endCxn id="2" idx="1"/>
          </p:cNvCxnSpPr>
          <p:nvPr/>
        </p:nvCxnSpPr>
        <p:spPr>
          <a:xfrm>
            <a:off x="4584065" y="3422015"/>
            <a:ext cx="222885" cy="2819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43308"/>
                                      </p:to>
                                    </p:animClr>
                                    <p:set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演示</Application>
  <PresentationFormat>宽屏</PresentationFormat>
  <Paragraphs>100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RBTree插入旋转</vt:lpstr>
      <vt:lpstr>右旋</vt:lpstr>
      <vt:lpstr>左旋</vt:lpstr>
      <vt:lpstr>节点定义</vt:lpstr>
      <vt:lpstr>插入情况1-父节点为黑色</vt:lpstr>
      <vt:lpstr>插入情况2-父节点为红色，U节点为黑色</vt:lpstr>
      <vt:lpstr>插入情况3-父节点为红色，U节点为黑色</vt:lpstr>
      <vt:lpstr>插入情况4-父节点为红色，U节点为红色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刘明铭</cp:lastModifiedBy>
  <cp:revision>172</cp:revision>
  <dcterms:created xsi:type="dcterms:W3CDTF">2019-06-19T02:08:00Z</dcterms:created>
  <dcterms:modified xsi:type="dcterms:W3CDTF">2021-04-27T03:42:06Z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