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409" r:id="rId3"/>
    <p:sldId id="410" r:id="rId4"/>
    <p:sldId id="411" r:id="rId6"/>
    <p:sldId id="412" r:id="rId7"/>
    <p:sldId id="415" r:id="rId8"/>
    <p:sldId id="413" r:id="rId9"/>
    <p:sldId id="416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3"/>
        <p:guide pos="390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0724" name="Rectangle 3"/>
          <p:cNvSpPr/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/>
              <a:t>南开大学软件学院</a:t>
            </a:r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/>
              <a:t>南开大学软件学院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南开大学软件学院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BM</a:t>
            </a:r>
            <a:r>
              <a:rPr lang="zh-CN" altLang="en-US"/>
              <a:t>算法</a:t>
            </a:r>
            <a:r>
              <a:rPr lang="zh-CN" altLang="en-US"/>
              <a:t>，</a:t>
            </a:r>
            <a:r>
              <a:rPr lang="en-US" altLang="zh-CN"/>
              <a:t>SS</a:t>
            </a:r>
            <a:r>
              <a:rPr lang="zh-CN" altLang="en-US"/>
              <a:t>推导</a:t>
            </a:r>
            <a:r>
              <a:rPr lang="en-US" altLang="zh-CN"/>
              <a:t>GS</a:t>
            </a: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 dirty="0"/>
              <a:t>南开大学软件学院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5" name="组合 44"/>
          <p:cNvGrpSpPr/>
          <p:nvPr/>
        </p:nvGrpSpPr>
        <p:grpSpPr>
          <a:xfrm>
            <a:off x="2874645" y="3277870"/>
            <a:ext cx="3383280" cy="323850"/>
            <a:chOff x="4527" y="7107"/>
            <a:chExt cx="5328" cy="510"/>
          </a:xfrm>
        </p:grpSpPr>
        <p:sp>
          <p:nvSpPr>
            <p:cNvPr id="46" name="AutoShape 3"/>
            <p:cNvSpPr/>
            <p:nvPr/>
          </p:nvSpPr>
          <p:spPr>
            <a:xfrm>
              <a:off x="5130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7" name="AutoShape 4"/>
            <p:cNvSpPr/>
            <p:nvPr/>
          </p:nvSpPr>
          <p:spPr>
            <a:xfrm>
              <a:off x="5726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2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0" name="AutoShape 5"/>
            <p:cNvSpPr/>
            <p:nvPr/>
          </p:nvSpPr>
          <p:spPr>
            <a:xfrm>
              <a:off x="6322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3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1" name="AutoShape 6"/>
            <p:cNvSpPr/>
            <p:nvPr/>
          </p:nvSpPr>
          <p:spPr>
            <a:xfrm>
              <a:off x="6917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2" name="AutoShape 7"/>
            <p:cNvSpPr/>
            <p:nvPr/>
          </p:nvSpPr>
          <p:spPr>
            <a:xfrm>
              <a:off x="7513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3" name="AutoShape 8"/>
            <p:cNvSpPr/>
            <p:nvPr/>
          </p:nvSpPr>
          <p:spPr>
            <a:xfrm>
              <a:off x="8109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4" name="AutoShape 9"/>
            <p:cNvSpPr/>
            <p:nvPr/>
          </p:nvSpPr>
          <p:spPr>
            <a:xfrm>
              <a:off x="8702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5" name="AutoShape 14"/>
            <p:cNvSpPr/>
            <p:nvPr/>
          </p:nvSpPr>
          <p:spPr>
            <a:xfrm>
              <a:off x="4527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6" name="AutoShape 9"/>
            <p:cNvSpPr/>
            <p:nvPr/>
          </p:nvSpPr>
          <p:spPr>
            <a:xfrm>
              <a:off x="9345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31" name="标题 30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GS</a:t>
            </a:r>
            <a:r>
              <a:rPr>
                <a:sym typeface="+mn-ea"/>
              </a:rPr>
              <a:t>含义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490345"/>
            <a:ext cx="9662795" cy="4759325"/>
          </a:xfrm>
        </p:spPr>
        <p:txBody>
          <a:bodyPr/>
          <a:p>
            <a:r>
              <a:rPr lang="en-US" altLang="zh-CN"/>
              <a:t>GS</a:t>
            </a:r>
            <a:r>
              <a:t>含义为</a:t>
            </a:r>
            <a:r>
              <a:rPr lang="en-US" altLang="zh-CN"/>
              <a:t>BM</a:t>
            </a:r>
            <a:r>
              <a:t>算法中失配情况下，最安全的最大</a:t>
            </a:r>
            <a:r>
              <a:t>平移距离。可以由</a:t>
            </a:r>
            <a:r>
              <a:rPr lang="en-US" altLang="zh-CN"/>
              <a:t>SS</a:t>
            </a:r>
            <a:r>
              <a:t>推导。</a:t>
            </a:r>
          </a:p>
          <a:p>
            <a:r>
              <a:t>设当失配时模式字符串的下标为</a:t>
            </a:r>
            <a:r>
              <a:rPr lang="en-US" altLang="zh-CN"/>
              <a:t>j</a:t>
            </a:r>
            <a:r>
              <a:t>，与模式串匹配的长度为</a:t>
            </a:r>
            <a:r>
              <a:rPr lang="en-US" altLang="zh-CN"/>
              <a:t>q=m-j-1</a:t>
            </a:r>
            <a:r>
              <a:t>，下一个候选为</a:t>
            </a:r>
            <a:r>
              <a:rPr>
                <a:solidFill>
                  <a:srgbClr val="FF0000"/>
                </a:solidFill>
              </a:rPr>
              <a:t>最短平移距离</a:t>
            </a:r>
            <a:r>
              <a:t>，并且符合最大后缀长度</a:t>
            </a:r>
            <a:r>
              <a:rPr>
                <a:solidFill>
                  <a:srgbClr val="FF0000"/>
                </a:solidFill>
              </a:rPr>
              <a:t>恰好为</a:t>
            </a:r>
            <a:r>
              <a:rPr lang="en-US" altLang="zh-CN">
                <a:solidFill>
                  <a:srgbClr val="FF0000"/>
                </a:solidFill>
              </a:rPr>
              <a:t>q</a:t>
            </a:r>
            <a:r>
              <a:t>的子串与已匹配的后缀对齐。</a:t>
            </a:r>
          </a:p>
          <a:p>
            <a:endParaRPr lang="en-US" altLang="zh-CN"/>
          </a:p>
        </p:txBody>
      </p:sp>
      <p:sp>
        <p:nvSpPr>
          <p:cNvPr id="1128451" name="AutoShape 3"/>
          <p:cNvSpPr/>
          <p:nvPr/>
        </p:nvSpPr>
        <p:spPr>
          <a:xfrm>
            <a:off x="3254137" y="35352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2" name="AutoShape 4"/>
          <p:cNvSpPr/>
          <p:nvPr/>
        </p:nvSpPr>
        <p:spPr>
          <a:xfrm>
            <a:off x="3632756" y="35352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3" name="AutoShape 5"/>
          <p:cNvSpPr/>
          <p:nvPr/>
        </p:nvSpPr>
        <p:spPr>
          <a:xfrm>
            <a:off x="4011375" y="35352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4" name="AutoShape 6"/>
          <p:cNvSpPr/>
          <p:nvPr/>
        </p:nvSpPr>
        <p:spPr>
          <a:xfrm>
            <a:off x="4388803" y="35352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5" name="AutoShape 7"/>
          <p:cNvSpPr/>
          <p:nvPr/>
        </p:nvSpPr>
        <p:spPr>
          <a:xfrm>
            <a:off x="4767421" y="35352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6" name="AutoShape 8"/>
          <p:cNvSpPr/>
          <p:nvPr/>
        </p:nvSpPr>
        <p:spPr>
          <a:xfrm>
            <a:off x="5146040" y="35352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7" name="AutoShape 9"/>
          <p:cNvSpPr/>
          <p:nvPr/>
        </p:nvSpPr>
        <p:spPr>
          <a:xfrm>
            <a:off x="5522278" y="35352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2" name="AutoShape 14"/>
          <p:cNvSpPr/>
          <p:nvPr/>
        </p:nvSpPr>
        <p:spPr>
          <a:xfrm>
            <a:off x="2871391" y="35352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AutoShape 3"/>
          <p:cNvSpPr/>
          <p:nvPr>
            <p:custDataLst>
              <p:tags r:id="rId1"/>
            </p:custDataLst>
          </p:nvPr>
        </p:nvSpPr>
        <p:spPr>
          <a:xfrm>
            <a:off x="3254137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AutoShape 4"/>
          <p:cNvSpPr/>
          <p:nvPr/>
        </p:nvSpPr>
        <p:spPr>
          <a:xfrm>
            <a:off x="3632756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AutoShape 5"/>
          <p:cNvSpPr/>
          <p:nvPr/>
        </p:nvSpPr>
        <p:spPr>
          <a:xfrm>
            <a:off x="4011375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AutoShape 6"/>
          <p:cNvSpPr/>
          <p:nvPr/>
        </p:nvSpPr>
        <p:spPr>
          <a:xfrm>
            <a:off x="4388803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AutoShape 7"/>
          <p:cNvSpPr/>
          <p:nvPr/>
        </p:nvSpPr>
        <p:spPr>
          <a:xfrm>
            <a:off x="4767421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AutoShape 8"/>
          <p:cNvSpPr/>
          <p:nvPr/>
        </p:nvSpPr>
        <p:spPr>
          <a:xfrm>
            <a:off x="5146040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AutoShape 9"/>
          <p:cNvSpPr/>
          <p:nvPr/>
        </p:nvSpPr>
        <p:spPr>
          <a:xfrm>
            <a:off x="5522278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AutoShape 14"/>
          <p:cNvSpPr/>
          <p:nvPr/>
        </p:nvSpPr>
        <p:spPr>
          <a:xfrm>
            <a:off x="2865676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264920" y="3959860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SS[]</a:t>
            </a:r>
            <a:endParaRPr lang="en-US" altLang="zh-CN"/>
          </a:p>
        </p:txBody>
      </p:sp>
      <p:sp>
        <p:nvSpPr>
          <p:cNvPr id="40" name="AutoShape 9"/>
          <p:cNvSpPr/>
          <p:nvPr/>
        </p:nvSpPr>
        <p:spPr>
          <a:xfrm>
            <a:off x="5930583" y="35396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AutoShape 9"/>
          <p:cNvSpPr/>
          <p:nvPr/>
        </p:nvSpPr>
        <p:spPr>
          <a:xfrm>
            <a:off x="5930583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64920" y="3539490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P[]</a:t>
            </a:r>
            <a:endParaRPr lang="en-US" altLang="zh-CN"/>
          </a:p>
        </p:txBody>
      </p:sp>
      <p:sp>
        <p:nvSpPr>
          <p:cNvPr id="57" name="AutoShape 3"/>
          <p:cNvSpPr/>
          <p:nvPr>
            <p:custDataLst>
              <p:tags r:id="rId2"/>
            </p:custDataLst>
          </p:nvPr>
        </p:nvSpPr>
        <p:spPr>
          <a:xfrm>
            <a:off x="3256042" y="439435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7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8" name="AutoShape 4"/>
          <p:cNvSpPr/>
          <p:nvPr/>
        </p:nvSpPr>
        <p:spPr>
          <a:xfrm>
            <a:off x="3634661" y="439435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7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9" name="AutoShape 5"/>
          <p:cNvSpPr/>
          <p:nvPr/>
        </p:nvSpPr>
        <p:spPr>
          <a:xfrm>
            <a:off x="4013280" y="439435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7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0" name="AutoShape 6"/>
          <p:cNvSpPr/>
          <p:nvPr/>
        </p:nvSpPr>
        <p:spPr>
          <a:xfrm>
            <a:off x="4390708" y="439435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1" name="AutoShape 7"/>
          <p:cNvSpPr/>
          <p:nvPr/>
        </p:nvSpPr>
        <p:spPr>
          <a:xfrm>
            <a:off x="4769326" y="439435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7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2" name="AutoShape 8"/>
          <p:cNvSpPr/>
          <p:nvPr/>
        </p:nvSpPr>
        <p:spPr>
          <a:xfrm>
            <a:off x="5149215" y="439435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3" name="AutoShape 9"/>
          <p:cNvSpPr/>
          <p:nvPr/>
        </p:nvSpPr>
        <p:spPr>
          <a:xfrm>
            <a:off x="5524183" y="439435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4" name="AutoShape 14"/>
          <p:cNvSpPr/>
          <p:nvPr/>
        </p:nvSpPr>
        <p:spPr>
          <a:xfrm>
            <a:off x="2867581" y="439435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7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1266825" y="4371975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GS[]</a:t>
            </a:r>
            <a:endParaRPr lang="en-US" altLang="zh-CN"/>
          </a:p>
        </p:txBody>
      </p:sp>
      <p:sp>
        <p:nvSpPr>
          <p:cNvPr id="66" name="AutoShape 9"/>
          <p:cNvSpPr/>
          <p:nvPr/>
        </p:nvSpPr>
        <p:spPr>
          <a:xfrm>
            <a:off x="5932488" y="439435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930390" y="3277870"/>
            <a:ext cx="334137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None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设</a:t>
            </a:r>
            <a:r>
              <a:rPr 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P[7]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处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失配，那么搜索串的对齐位置的值一定不为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，而模式串中不存在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0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前面不为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的情况，所以原有已比较位置一定与模式串不能有任何重叠，所以可以整体平移。即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平移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9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位。</a:t>
            </a:r>
            <a:endParaRPr lang="zh-CN" altLang="en-US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43020" y="4866640"/>
            <a:ext cx="293624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None/>
            </a:pPr>
            <a:r>
              <a:rPr 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P[6]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失配，就可以查找后缀匹配长度恰好为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8-6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的位置，就是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4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和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，而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4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距离尾部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最近，所以平移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8-4=4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位即可。</a:t>
            </a:r>
            <a:endParaRPr lang="zh-CN" altLang="en-US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8445" y="4866640"/>
            <a:ext cx="3377565" cy="159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None/>
            </a:pP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  <a:sym typeface="+mn-ea"/>
              </a:rPr>
              <a:t>对于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  <a:sym typeface="+mn-ea"/>
              </a:rPr>
              <a:t>SS[j]==j+1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  <a:sym typeface="+mn-ea"/>
              </a:rPr>
              <a:t>情况，也就是模式字符串前缀和后缀的最大匹配长度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  <a:sym typeface="+mn-ea"/>
              </a:rPr>
              <a:t>q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  <a:sym typeface="+mn-ea"/>
              </a:rPr>
              <a:t>，那么平移后前缀能对齐原有后缀位置，也是一个能够正确匹配的位置，也就是如果在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  <a:sym typeface="+mn-ea"/>
              </a:rPr>
              <a:t>P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  <a:sym typeface="+mn-ea"/>
              </a:rPr>
              <a:t>的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  <a:sym typeface="+mn-ea"/>
              </a:rPr>
              <a:t>m-q-1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  <a:sym typeface="+mn-ea"/>
              </a:rPr>
              <a:t>以及之前的位置失配，都可以通过平移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  <a:sym typeface="+mn-ea"/>
              </a:rPr>
              <a:t>m-q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  <a:sym typeface="+mn-ea"/>
              </a:rPr>
              <a:t>长度，让前缀平移到能够匹配的位置，但不一定是最安全的平移距离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  <a:sym typeface="+mn-ea"/>
              </a:rPr>
              <a:t>。</a:t>
            </a:r>
            <a:endParaRPr lang="zh-CN" altLang="en-US" sz="140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南开大学软件学院</a:t>
            </a:r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7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250" autoRev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" dur="250" autoRev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" dur="250" autoRev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50" autoRev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8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7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" dur="2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4" dur="2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" dur="2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2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9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250" autoRev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0" dur="250" autoRev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250" autoRev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250" autoRev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250" autoRev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5" dur="250" autoRev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" dur="250" autoRev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250" autoRev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250" autoRev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0" dur="250" autoRev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" dur="250" autoRev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250" autoRev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250" autoRev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5" dur="250" autoRev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" dur="250" autoRev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250" autoRev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250" autoRev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0" dur="250" autoRev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250" autoRev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250" autoRev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250" autoRev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5" dur="250" autoRev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" dur="250" autoRev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250" autoRev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" dur="2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0" dur="2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2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2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1"/>
      <p:bldP spid="1128457" grpId="0" animBg="1"/>
      <p:bldP spid="63" grpId="0" animBg="1"/>
      <p:bldP spid="1128456" grpId="0" animBg="1"/>
      <p:bldP spid="62" grpId="0" animBg="1"/>
      <p:bldP spid="19" grpId="0"/>
      <p:bldP spid="19" grpId="1"/>
      <p:bldP spid="2" grpId="0"/>
      <p:bldP spid="2" grpId="1"/>
      <p:bldP spid="8" grpId="0" animBg="1"/>
      <p:bldP spid="5" grpId="0"/>
      <p:bldP spid="5" grpId="1"/>
      <p:bldP spid="58" grpId="0" animBg="1"/>
      <p:bldP spid="57" grpId="0" animBg="1"/>
      <p:bldP spid="64" grpId="0" animBg="1"/>
      <p:bldP spid="59" grpId="0" animBg="1"/>
      <p:bldP spid="60" grpId="0" animBg="1"/>
      <p:bldP spid="61" grpId="0" animBg="1"/>
      <p:bldP spid="62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GS</a:t>
            </a:r>
            <a:r>
              <a:t>推导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490345"/>
            <a:ext cx="10968990" cy="1851660"/>
          </a:xfrm>
        </p:spPr>
        <p:txBody>
          <a:bodyPr/>
          <a:p>
            <a:r>
              <a:rPr lang="zh-CN" altLang="en-US"/>
              <a:t>由</a:t>
            </a:r>
            <a:r>
              <a:rPr lang="en-US" altLang="zh-CN"/>
              <a:t>SS</a:t>
            </a:r>
            <a:r>
              <a:t>推导</a:t>
            </a:r>
            <a:r>
              <a:rPr lang="en-US" altLang="zh-CN"/>
              <a:t>GS</a:t>
            </a:r>
            <a:r>
              <a:t>，可以从成功匹配吸取经验，还可以从</a:t>
            </a:r>
            <a:r>
              <a:rPr>
                <a:solidFill>
                  <a:srgbClr val="FF0000"/>
                </a:solidFill>
              </a:rPr>
              <a:t>失败</a:t>
            </a:r>
            <a:r>
              <a:t>匹配吸取经验</a:t>
            </a:r>
          </a:p>
          <a:p>
            <a:pPr lvl="1"/>
            <a:r>
              <a:t>成功：已经匹配成功的后缀必须能够和模式字符串中完全匹配上。同时还必须满足下面失败条件</a:t>
            </a:r>
          </a:p>
          <a:p>
            <a:pPr lvl="1"/>
            <a:r>
              <a:t>失败：当前失配的字符串中字符为</a:t>
            </a:r>
            <a:r>
              <a:rPr lang="en-US" altLang="zh-CN"/>
              <a:t>X</a:t>
            </a:r>
            <a:r>
              <a:t>【</a:t>
            </a:r>
            <a:r>
              <a:rPr lang="en-US" altLang="zh-CN"/>
              <a:t>...</a:t>
            </a:r>
            <a:r>
              <a:t>】，模式字符串中为</a:t>
            </a:r>
            <a:r>
              <a:rPr lang="en-US" altLang="zh-CN"/>
              <a:t>Y</a:t>
            </a:r>
            <a:r>
              <a:t>【</a:t>
            </a:r>
            <a:r>
              <a:rPr lang="en-US" altLang="zh-CN"/>
              <a:t>...</a:t>
            </a:r>
            <a:r>
              <a:t>】，那么下一个匹配位移的位置一定不是包含</a:t>
            </a:r>
            <a:r>
              <a:rPr lang="en-US" altLang="zh-CN">
                <a:sym typeface="+mn-ea"/>
              </a:rPr>
              <a:t>Y</a:t>
            </a:r>
            <a:r>
              <a:rPr>
                <a:sym typeface="+mn-ea"/>
              </a:rPr>
              <a:t>【</a:t>
            </a:r>
            <a:r>
              <a:rPr lang="en-US" altLang="zh-CN">
                <a:sym typeface="+mn-ea"/>
              </a:rPr>
              <a:t>...</a:t>
            </a:r>
            <a:r>
              <a:rPr>
                <a:sym typeface="+mn-ea"/>
              </a:rPr>
              <a:t>】的位置。也就是需要位移到最长重叠后缀长度与【</a:t>
            </a:r>
            <a:r>
              <a:rPr lang="en-US" altLang="zh-CN">
                <a:sym typeface="+mn-ea"/>
              </a:rPr>
              <a:t>...</a:t>
            </a:r>
            <a:r>
              <a:rPr>
                <a:sym typeface="+mn-ea"/>
              </a:rPr>
              <a:t>】长度完全一致的位置。如果可重叠长度大于</a:t>
            </a:r>
            <a:r>
              <a:rPr>
                <a:sym typeface="+mn-ea"/>
              </a:rPr>
              <a:t>【</a:t>
            </a:r>
            <a:r>
              <a:rPr lang="en-US" altLang="zh-CN">
                <a:sym typeface="+mn-ea"/>
              </a:rPr>
              <a:t>...</a:t>
            </a:r>
            <a:r>
              <a:rPr>
                <a:sym typeface="+mn-ea"/>
              </a:rPr>
              <a:t>】的长度也一定不能匹配。</a:t>
            </a:r>
            <a:endParaRPr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569085" y="4548505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SS[]</a:t>
            </a:r>
            <a:endParaRPr lang="en-US" altLang="zh-CN"/>
          </a:p>
        </p:txBody>
      </p:sp>
      <p:grpSp>
        <p:nvGrpSpPr>
          <p:cNvPr id="45" name="组合 44"/>
          <p:cNvGrpSpPr/>
          <p:nvPr/>
        </p:nvGrpSpPr>
        <p:grpSpPr>
          <a:xfrm rot="0">
            <a:off x="3178810" y="4848860"/>
            <a:ext cx="3383280" cy="323850"/>
            <a:chOff x="4527" y="7107"/>
            <a:chExt cx="5328" cy="510"/>
          </a:xfrm>
        </p:grpSpPr>
        <p:sp>
          <p:nvSpPr>
            <p:cNvPr id="46" name="AutoShape 3"/>
            <p:cNvSpPr/>
            <p:nvPr/>
          </p:nvSpPr>
          <p:spPr>
            <a:xfrm>
              <a:off x="5130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7" name="AutoShape 4"/>
            <p:cNvSpPr/>
            <p:nvPr/>
          </p:nvSpPr>
          <p:spPr>
            <a:xfrm>
              <a:off x="5726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2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0" name="AutoShape 5"/>
            <p:cNvSpPr/>
            <p:nvPr/>
          </p:nvSpPr>
          <p:spPr>
            <a:xfrm>
              <a:off x="6322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3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1" name="AutoShape 6"/>
            <p:cNvSpPr/>
            <p:nvPr/>
          </p:nvSpPr>
          <p:spPr>
            <a:xfrm>
              <a:off x="6917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2" name="AutoShape 7"/>
            <p:cNvSpPr/>
            <p:nvPr/>
          </p:nvSpPr>
          <p:spPr>
            <a:xfrm>
              <a:off x="7513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3" name="AutoShape 8"/>
            <p:cNvSpPr/>
            <p:nvPr/>
          </p:nvSpPr>
          <p:spPr>
            <a:xfrm>
              <a:off x="8109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4" name="AutoShape 9"/>
            <p:cNvSpPr/>
            <p:nvPr/>
          </p:nvSpPr>
          <p:spPr>
            <a:xfrm>
              <a:off x="8702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5" name="AutoShape 14"/>
            <p:cNvSpPr/>
            <p:nvPr/>
          </p:nvSpPr>
          <p:spPr>
            <a:xfrm>
              <a:off x="4527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6" name="AutoShape 9"/>
            <p:cNvSpPr/>
            <p:nvPr/>
          </p:nvSpPr>
          <p:spPr>
            <a:xfrm>
              <a:off x="9345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1128451" name="AutoShape 3"/>
          <p:cNvSpPr/>
          <p:nvPr/>
        </p:nvSpPr>
        <p:spPr>
          <a:xfrm>
            <a:off x="3558540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2" name="AutoShape 4"/>
          <p:cNvSpPr/>
          <p:nvPr/>
        </p:nvSpPr>
        <p:spPr>
          <a:xfrm>
            <a:off x="3937000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3" name="AutoShape 5"/>
          <p:cNvSpPr/>
          <p:nvPr/>
        </p:nvSpPr>
        <p:spPr>
          <a:xfrm>
            <a:off x="4315460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4" name="AutoShape 6"/>
          <p:cNvSpPr/>
          <p:nvPr/>
        </p:nvSpPr>
        <p:spPr>
          <a:xfrm>
            <a:off x="4693285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5" name="AutoShape 7"/>
          <p:cNvSpPr/>
          <p:nvPr/>
        </p:nvSpPr>
        <p:spPr>
          <a:xfrm>
            <a:off x="5071745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6" name="AutoShape 8"/>
          <p:cNvSpPr/>
          <p:nvPr/>
        </p:nvSpPr>
        <p:spPr>
          <a:xfrm>
            <a:off x="5450205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7" name="AutoShape 9"/>
          <p:cNvSpPr/>
          <p:nvPr/>
        </p:nvSpPr>
        <p:spPr>
          <a:xfrm>
            <a:off x="5826760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2" name="AutoShape 14"/>
          <p:cNvSpPr/>
          <p:nvPr/>
        </p:nvSpPr>
        <p:spPr>
          <a:xfrm>
            <a:off x="3175635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AutoShape 3"/>
          <p:cNvSpPr/>
          <p:nvPr>
            <p:custDataLst>
              <p:tags r:id="rId1"/>
            </p:custDataLst>
          </p:nvPr>
        </p:nvSpPr>
        <p:spPr>
          <a:xfrm>
            <a:off x="3558540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AutoShape 4"/>
          <p:cNvSpPr/>
          <p:nvPr/>
        </p:nvSpPr>
        <p:spPr>
          <a:xfrm>
            <a:off x="3937000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AutoShape 5"/>
          <p:cNvSpPr/>
          <p:nvPr/>
        </p:nvSpPr>
        <p:spPr>
          <a:xfrm>
            <a:off x="4315460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AutoShape 6"/>
          <p:cNvSpPr/>
          <p:nvPr/>
        </p:nvSpPr>
        <p:spPr>
          <a:xfrm>
            <a:off x="4693285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AutoShape 7"/>
          <p:cNvSpPr/>
          <p:nvPr/>
        </p:nvSpPr>
        <p:spPr>
          <a:xfrm>
            <a:off x="5071745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AutoShape 8"/>
          <p:cNvSpPr/>
          <p:nvPr/>
        </p:nvSpPr>
        <p:spPr>
          <a:xfrm>
            <a:off x="5450205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AutoShape 9"/>
          <p:cNvSpPr/>
          <p:nvPr/>
        </p:nvSpPr>
        <p:spPr>
          <a:xfrm>
            <a:off x="5826760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AutoShape 14"/>
          <p:cNvSpPr/>
          <p:nvPr/>
        </p:nvSpPr>
        <p:spPr>
          <a:xfrm>
            <a:off x="3169920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0" name="AutoShape 9"/>
          <p:cNvSpPr/>
          <p:nvPr/>
        </p:nvSpPr>
        <p:spPr>
          <a:xfrm>
            <a:off x="6196965" y="41281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AutoShape 9"/>
          <p:cNvSpPr/>
          <p:nvPr/>
        </p:nvSpPr>
        <p:spPr>
          <a:xfrm>
            <a:off x="6196965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69085" y="4128135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P[]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8892540" y="3604895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S[]</a:t>
            </a:r>
            <a:endParaRPr lang="en-US" altLang="zh-CN"/>
          </a:p>
        </p:txBody>
      </p:sp>
      <p:grpSp>
        <p:nvGrpSpPr>
          <p:cNvPr id="34" name="组合 33"/>
          <p:cNvGrpSpPr/>
          <p:nvPr/>
        </p:nvGrpSpPr>
        <p:grpSpPr>
          <a:xfrm>
            <a:off x="2781300" y="3644900"/>
            <a:ext cx="5665470" cy="323850"/>
            <a:chOff x="4875" y="6250"/>
            <a:chExt cx="8922" cy="510"/>
          </a:xfrm>
        </p:grpSpPr>
        <p:sp>
          <p:nvSpPr>
            <p:cNvPr id="27" name="AutoShape 3"/>
            <p:cNvSpPr/>
            <p:nvPr/>
          </p:nvSpPr>
          <p:spPr>
            <a:xfrm>
              <a:off x="10841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8" name="AutoShape 4"/>
            <p:cNvSpPr/>
            <p:nvPr/>
          </p:nvSpPr>
          <p:spPr>
            <a:xfrm>
              <a:off x="11437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9" name="AutoShape 5"/>
            <p:cNvSpPr/>
            <p:nvPr/>
          </p:nvSpPr>
          <p:spPr>
            <a:xfrm>
              <a:off x="12033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1" name="AutoShape 6"/>
            <p:cNvSpPr/>
            <p:nvPr/>
          </p:nvSpPr>
          <p:spPr>
            <a:xfrm>
              <a:off x="12628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" name="AutoShape 3"/>
            <p:cNvSpPr/>
            <p:nvPr/>
          </p:nvSpPr>
          <p:spPr>
            <a:xfrm>
              <a:off x="6104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" name="AutoShape 4"/>
            <p:cNvSpPr/>
            <p:nvPr/>
          </p:nvSpPr>
          <p:spPr>
            <a:xfrm>
              <a:off x="6700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" name="AutoShape 5"/>
            <p:cNvSpPr/>
            <p:nvPr/>
          </p:nvSpPr>
          <p:spPr>
            <a:xfrm>
              <a:off x="7296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5" name="AutoShape 6"/>
            <p:cNvSpPr/>
            <p:nvPr/>
          </p:nvSpPr>
          <p:spPr>
            <a:xfrm>
              <a:off x="7891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6" name="AutoShape 7"/>
            <p:cNvSpPr/>
            <p:nvPr/>
          </p:nvSpPr>
          <p:spPr>
            <a:xfrm>
              <a:off x="8487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7" name="AutoShape 8"/>
            <p:cNvSpPr/>
            <p:nvPr/>
          </p:nvSpPr>
          <p:spPr>
            <a:xfrm>
              <a:off x="9083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8" name="AutoShape 9"/>
            <p:cNvSpPr/>
            <p:nvPr/>
          </p:nvSpPr>
          <p:spPr>
            <a:xfrm>
              <a:off x="9676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3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9" name="AutoShape 14"/>
            <p:cNvSpPr/>
            <p:nvPr/>
          </p:nvSpPr>
          <p:spPr>
            <a:xfrm>
              <a:off x="5501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0" name="AutoShape 9"/>
            <p:cNvSpPr/>
            <p:nvPr/>
          </p:nvSpPr>
          <p:spPr>
            <a:xfrm>
              <a:off x="10263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3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2" name="AutoShape 14"/>
            <p:cNvSpPr/>
            <p:nvPr/>
          </p:nvSpPr>
          <p:spPr>
            <a:xfrm>
              <a:off x="4875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...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3" name="AutoShape 14"/>
            <p:cNvSpPr/>
            <p:nvPr/>
          </p:nvSpPr>
          <p:spPr>
            <a:xfrm>
              <a:off x="13287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...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7613650" y="3973830"/>
            <a:ext cx="310769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None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匹配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个字符以后失配，那么移到最长匹配后缀长度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&gt;2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的位置的结果必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然是失配。</a:t>
            </a:r>
            <a:endParaRPr lang="zh-CN" altLang="en-US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777230" y="5068570"/>
            <a:ext cx="29362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None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移到左侧最近的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最长匹配后缀长度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=2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的位置的才有可能匹配</a:t>
            </a:r>
            <a:endParaRPr lang="zh-CN" altLang="en-US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781300" y="5068570"/>
            <a:ext cx="29362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None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移到较远的最长匹配后缀长度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=2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的位置的有可能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错过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匹配，是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不安全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的平移距离</a:t>
            </a:r>
            <a:endParaRPr lang="zh-CN" altLang="en-US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35" name="灯片编号占位符 3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6" name="页脚占位符 3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南开大学软件学院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5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" dur="25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" dur="25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25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61667 -0.000463 " pathEditMode="relative" rAng="0" ptsTypes="">
                                      <p:cBhvr>
                                        <p:cTn id="17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250" autoRev="1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" dur="250" autoRev="1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" dur="250" autoRev="1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250" autoRev="1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250" autoRev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7" dur="250" autoRev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" dur="250" autoRev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250" autoRev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1719 -0.000556 L -0.124792 -0.000463 " pathEditMode="relative" rAng="0" ptsTypes="">
                                      <p:cBhvr>
                                        <p:cTn id="43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" dur="250" autoRev="1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8" dur="250" autoRev="1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250" autoRev="1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250" autoRev="1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3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4896 -0.000648 L -0.216406 -0.000463 " pathEditMode="relative" rAng="0" ptsTypes="">
                                      <p:cBhvr>
                                        <p:cTn id="69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1"/>
      <p:bldP spid="25" grpId="0"/>
      <p:bldP spid="25" grpId="1"/>
      <p:bldP spid="26" grpId="0"/>
      <p:bldP spid="26" grpId="1"/>
      <p:bldP spid="32" grpId="0"/>
      <p:bldP spid="32" grpId="1"/>
      <p:bldP spid="13" grpId="0" bldLvl="0" animBg="1"/>
      <p:bldP spid="1128452" grpId="0" bldLvl="0" animBg="1"/>
      <p:bldP spid="1128454" grpId="0" bldLvl="0" animBg="1"/>
      <p:bldP spid="11" grpId="0" bldLvl="0" animBg="1"/>
      <p:bldP spid="8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SS[j]==j+1时，非安全候选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490345"/>
            <a:ext cx="10968990" cy="1099820"/>
          </a:xfrm>
        </p:spPr>
        <p:txBody>
          <a:bodyPr>
            <a:normAutofit lnSpcReduction="10000"/>
          </a:bodyPr>
          <a:p>
            <a:r>
              <a:rPr lang="zh-CN" altLang="en-US"/>
              <a:t>对于SS[j]==j+1，也就是模式字符串前缀和后缀的最大匹配长度q，那么平移后前缀能对齐原有后缀位置，也是一个能够正确匹配的位置，也就是如果在P的m-q-1以及之前的位置失配，都可以通过平移m-q长度，让前缀平移到能够匹配的位置，但不一定是最安全的平移长度。</a:t>
            </a:r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1883410" y="3168650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SS[]</a:t>
            </a:r>
            <a:endParaRPr lang="en-US" altLang="zh-CN"/>
          </a:p>
        </p:txBody>
      </p:sp>
      <p:grpSp>
        <p:nvGrpSpPr>
          <p:cNvPr id="45" name="组合 44"/>
          <p:cNvGrpSpPr/>
          <p:nvPr/>
        </p:nvGrpSpPr>
        <p:grpSpPr>
          <a:xfrm rot="0">
            <a:off x="3486150" y="2921000"/>
            <a:ext cx="3383280" cy="323850"/>
            <a:chOff x="4527" y="7107"/>
            <a:chExt cx="5328" cy="510"/>
          </a:xfrm>
        </p:grpSpPr>
        <p:sp>
          <p:nvSpPr>
            <p:cNvPr id="46" name="AutoShape 3"/>
            <p:cNvSpPr/>
            <p:nvPr/>
          </p:nvSpPr>
          <p:spPr>
            <a:xfrm>
              <a:off x="5130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7" name="AutoShape 4"/>
            <p:cNvSpPr/>
            <p:nvPr/>
          </p:nvSpPr>
          <p:spPr>
            <a:xfrm>
              <a:off x="5726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2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0" name="AutoShape 5"/>
            <p:cNvSpPr/>
            <p:nvPr/>
          </p:nvSpPr>
          <p:spPr>
            <a:xfrm>
              <a:off x="6322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3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1" name="AutoShape 6"/>
            <p:cNvSpPr/>
            <p:nvPr/>
          </p:nvSpPr>
          <p:spPr>
            <a:xfrm>
              <a:off x="6917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2" name="AutoShape 7"/>
            <p:cNvSpPr/>
            <p:nvPr/>
          </p:nvSpPr>
          <p:spPr>
            <a:xfrm>
              <a:off x="7513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3" name="AutoShape 8"/>
            <p:cNvSpPr/>
            <p:nvPr/>
          </p:nvSpPr>
          <p:spPr>
            <a:xfrm>
              <a:off x="8109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4" name="AutoShape 9"/>
            <p:cNvSpPr/>
            <p:nvPr/>
          </p:nvSpPr>
          <p:spPr>
            <a:xfrm>
              <a:off x="8702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5" name="AutoShape 14"/>
            <p:cNvSpPr/>
            <p:nvPr/>
          </p:nvSpPr>
          <p:spPr>
            <a:xfrm>
              <a:off x="4527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6" name="AutoShape 9"/>
            <p:cNvSpPr/>
            <p:nvPr/>
          </p:nvSpPr>
          <p:spPr>
            <a:xfrm>
              <a:off x="9345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8" name="AutoShape 3"/>
          <p:cNvSpPr/>
          <p:nvPr>
            <p:custDataLst>
              <p:tags r:id="rId1"/>
            </p:custDataLst>
          </p:nvPr>
        </p:nvSpPr>
        <p:spPr>
          <a:xfrm>
            <a:off x="3862705" y="3190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AutoShape 4"/>
          <p:cNvSpPr/>
          <p:nvPr/>
        </p:nvSpPr>
        <p:spPr>
          <a:xfrm>
            <a:off x="4241165" y="3190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AutoShape 5"/>
          <p:cNvSpPr/>
          <p:nvPr/>
        </p:nvSpPr>
        <p:spPr>
          <a:xfrm>
            <a:off x="4619625" y="3190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AutoShape 6"/>
          <p:cNvSpPr/>
          <p:nvPr/>
        </p:nvSpPr>
        <p:spPr>
          <a:xfrm>
            <a:off x="4998085" y="3190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AutoShape 7"/>
          <p:cNvSpPr/>
          <p:nvPr/>
        </p:nvSpPr>
        <p:spPr>
          <a:xfrm>
            <a:off x="5376545" y="3190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AutoShape 8"/>
          <p:cNvSpPr/>
          <p:nvPr/>
        </p:nvSpPr>
        <p:spPr>
          <a:xfrm>
            <a:off x="5755005" y="3190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AutoShape 9"/>
          <p:cNvSpPr/>
          <p:nvPr/>
        </p:nvSpPr>
        <p:spPr>
          <a:xfrm>
            <a:off x="6133465" y="3190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AutoShape 14"/>
          <p:cNvSpPr/>
          <p:nvPr/>
        </p:nvSpPr>
        <p:spPr>
          <a:xfrm>
            <a:off x="3489881" y="3190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AutoShape 9"/>
          <p:cNvSpPr/>
          <p:nvPr/>
        </p:nvSpPr>
        <p:spPr>
          <a:xfrm>
            <a:off x="6510973" y="3190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7" name="AutoShape 3"/>
          <p:cNvSpPr/>
          <p:nvPr>
            <p:custDataLst>
              <p:tags r:id="rId2"/>
            </p:custDataLst>
          </p:nvPr>
        </p:nvSpPr>
        <p:spPr>
          <a:xfrm>
            <a:off x="3875167" y="36215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8" name="AutoShape 4"/>
          <p:cNvSpPr/>
          <p:nvPr/>
        </p:nvSpPr>
        <p:spPr>
          <a:xfrm>
            <a:off x="4253786" y="36215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9" name="AutoShape 5"/>
          <p:cNvSpPr/>
          <p:nvPr/>
        </p:nvSpPr>
        <p:spPr>
          <a:xfrm>
            <a:off x="4632405" y="36215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0" name="AutoShape 6"/>
          <p:cNvSpPr/>
          <p:nvPr/>
        </p:nvSpPr>
        <p:spPr>
          <a:xfrm>
            <a:off x="5009833" y="36215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1" name="AutoShape 7"/>
          <p:cNvSpPr/>
          <p:nvPr/>
        </p:nvSpPr>
        <p:spPr>
          <a:xfrm>
            <a:off x="5388451" y="36215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2" name="AutoShape 8"/>
          <p:cNvSpPr/>
          <p:nvPr/>
        </p:nvSpPr>
        <p:spPr>
          <a:xfrm>
            <a:off x="5768340" y="36215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3" name="AutoShape 9"/>
          <p:cNvSpPr/>
          <p:nvPr/>
        </p:nvSpPr>
        <p:spPr>
          <a:xfrm>
            <a:off x="6143308" y="36215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4" name="AutoShape 14"/>
          <p:cNvSpPr/>
          <p:nvPr/>
        </p:nvSpPr>
        <p:spPr>
          <a:xfrm>
            <a:off x="3489881" y="36215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1883410" y="3599180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GS[]</a:t>
            </a:r>
            <a:endParaRPr lang="en-US" altLang="zh-CN"/>
          </a:p>
        </p:txBody>
      </p:sp>
      <p:sp>
        <p:nvSpPr>
          <p:cNvPr id="66" name="AutoShape 9"/>
          <p:cNvSpPr/>
          <p:nvPr/>
        </p:nvSpPr>
        <p:spPr>
          <a:xfrm>
            <a:off x="6510973" y="36215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249285" y="3109595"/>
            <a:ext cx="29362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None/>
            </a:pPr>
            <a:r>
              <a:rPr 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GS[]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初始值为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m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，也是一个不安全的候选平移距离</a:t>
            </a:r>
            <a:endParaRPr lang="zh-CN" altLang="en-US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1128451" name="AutoShape 3"/>
          <p:cNvSpPr/>
          <p:nvPr/>
        </p:nvSpPr>
        <p:spPr>
          <a:xfrm>
            <a:off x="3872627" y="41016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2" name="AutoShape 4"/>
          <p:cNvSpPr/>
          <p:nvPr/>
        </p:nvSpPr>
        <p:spPr>
          <a:xfrm>
            <a:off x="4251246" y="41016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3" name="AutoShape 5"/>
          <p:cNvSpPr/>
          <p:nvPr/>
        </p:nvSpPr>
        <p:spPr>
          <a:xfrm>
            <a:off x="4629865" y="41016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4" name="AutoShape 6"/>
          <p:cNvSpPr/>
          <p:nvPr/>
        </p:nvSpPr>
        <p:spPr>
          <a:xfrm>
            <a:off x="5007293" y="41016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5" name="AutoShape 7"/>
          <p:cNvSpPr/>
          <p:nvPr/>
        </p:nvSpPr>
        <p:spPr>
          <a:xfrm>
            <a:off x="5385911" y="41016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6" name="AutoShape 8"/>
          <p:cNvSpPr/>
          <p:nvPr/>
        </p:nvSpPr>
        <p:spPr>
          <a:xfrm>
            <a:off x="5764530" y="41016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7" name="AutoShape 9"/>
          <p:cNvSpPr/>
          <p:nvPr/>
        </p:nvSpPr>
        <p:spPr>
          <a:xfrm>
            <a:off x="6140768" y="41016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2" name="AutoShape 14"/>
          <p:cNvSpPr/>
          <p:nvPr/>
        </p:nvSpPr>
        <p:spPr>
          <a:xfrm>
            <a:off x="3489881" y="41016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0" name="AutoShape 9"/>
          <p:cNvSpPr/>
          <p:nvPr/>
        </p:nvSpPr>
        <p:spPr>
          <a:xfrm>
            <a:off x="6510973" y="411559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921510" y="4105910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P[]</a:t>
            </a:r>
            <a:endParaRPr lang="en-US" altLang="zh-CN"/>
          </a:p>
        </p:txBody>
      </p:sp>
      <p:sp>
        <p:nvSpPr>
          <p:cNvPr id="22" name="文本框 21"/>
          <p:cNvSpPr txBox="1"/>
          <p:nvPr/>
        </p:nvSpPr>
        <p:spPr>
          <a:xfrm>
            <a:off x="8249285" y="4039235"/>
            <a:ext cx="29362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None/>
            </a:pPr>
            <a:r>
              <a:rPr 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4~0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位置失配时，通过平移（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9-4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）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=5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个位置，一定是可以匹配的。</a:t>
            </a:r>
            <a:endParaRPr lang="zh-CN" altLang="en-US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3486785" y="3620770"/>
            <a:ext cx="2605405" cy="323850"/>
            <a:chOff x="5491" y="5438"/>
            <a:chExt cx="4103" cy="510"/>
          </a:xfrm>
        </p:grpSpPr>
        <p:sp>
          <p:nvSpPr>
            <p:cNvPr id="24" name="AutoShape 3"/>
            <p:cNvSpPr/>
            <p:nvPr>
              <p:custDataLst>
                <p:tags r:id="rId3"/>
              </p:custDataLst>
            </p:nvPr>
          </p:nvSpPr>
          <p:spPr>
            <a:xfrm>
              <a:off x="6103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6" name="AutoShape 4"/>
            <p:cNvSpPr/>
            <p:nvPr/>
          </p:nvSpPr>
          <p:spPr>
            <a:xfrm>
              <a:off x="6699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7" name="AutoShape 5"/>
            <p:cNvSpPr/>
            <p:nvPr/>
          </p:nvSpPr>
          <p:spPr>
            <a:xfrm>
              <a:off x="7295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8" name="AutoShape 6"/>
            <p:cNvSpPr/>
            <p:nvPr/>
          </p:nvSpPr>
          <p:spPr>
            <a:xfrm>
              <a:off x="7890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9" name="AutoShape 7"/>
            <p:cNvSpPr/>
            <p:nvPr/>
          </p:nvSpPr>
          <p:spPr>
            <a:xfrm>
              <a:off x="8486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1" name="AutoShape 8"/>
            <p:cNvSpPr/>
            <p:nvPr/>
          </p:nvSpPr>
          <p:spPr>
            <a:xfrm>
              <a:off x="9084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2" name="AutoShape 14"/>
            <p:cNvSpPr/>
            <p:nvPr/>
          </p:nvSpPr>
          <p:spPr>
            <a:xfrm>
              <a:off x="5491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2204085" y="5075555"/>
            <a:ext cx="645033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None/>
            </a:pPr>
            <a:r>
              <a:rPr 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6~0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位置失配时，通过平移（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9-2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）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=7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个位置，一定是可以匹配的。对于【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0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，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4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】一定平移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5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个是更安全的。否则有可能遗漏。这里通过一个指针记录已经设置了哪些值而并不需要重新设置。</a:t>
            </a:r>
            <a:endParaRPr lang="zh-CN" altLang="en-US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3484245" y="3624580"/>
            <a:ext cx="2605405" cy="323850"/>
            <a:chOff x="5491" y="5438"/>
            <a:chExt cx="4103" cy="510"/>
          </a:xfrm>
        </p:grpSpPr>
        <p:sp>
          <p:nvSpPr>
            <p:cNvPr id="36" name="AutoShape 3"/>
            <p:cNvSpPr/>
            <p:nvPr>
              <p:custDataLst>
                <p:tags r:id="rId4"/>
              </p:custDataLst>
            </p:nvPr>
          </p:nvSpPr>
          <p:spPr>
            <a:xfrm>
              <a:off x="6103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8" name="AutoShape 4"/>
            <p:cNvSpPr/>
            <p:nvPr/>
          </p:nvSpPr>
          <p:spPr>
            <a:xfrm>
              <a:off x="6699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9" name="AutoShape 5"/>
            <p:cNvSpPr/>
            <p:nvPr/>
          </p:nvSpPr>
          <p:spPr>
            <a:xfrm>
              <a:off x="7295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1" name="AutoShape 6"/>
            <p:cNvSpPr/>
            <p:nvPr/>
          </p:nvSpPr>
          <p:spPr>
            <a:xfrm>
              <a:off x="7890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2" name="AutoShape 7"/>
            <p:cNvSpPr/>
            <p:nvPr/>
          </p:nvSpPr>
          <p:spPr>
            <a:xfrm>
              <a:off x="8486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3" name="AutoShape 8"/>
            <p:cNvSpPr/>
            <p:nvPr/>
          </p:nvSpPr>
          <p:spPr>
            <a:xfrm>
              <a:off x="9084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4" name="AutoShape 14"/>
            <p:cNvSpPr/>
            <p:nvPr/>
          </p:nvSpPr>
          <p:spPr>
            <a:xfrm>
              <a:off x="5491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49" name="灯片编号占位符 4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7" name="页脚占位符 6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南开大学软件学院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50" autoRev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" dur="250" autoRev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" dur="250" autoRev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50" autoRev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" dur="250" autoRev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0" dur="250" autoRev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" dur="250" autoRev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250" autoRev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250" autoRev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5" dur="250" autoRev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" dur="250" autoRev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250" autoRev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250" autoRev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0" dur="250" autoRev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250" autoRev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250" autoRev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250" autoRev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5" dur="250" autoRev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" dur="250" autoRev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50" autoRev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2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0" dur="2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" dur="2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2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250" autoRev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5" dur="250" autoRev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" dur="250" autoRev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250" autoRev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250" autoRev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0" dur="250" autoRev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" dur="250" autoRev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250" autoRev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250" autoRev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5" dur="250" autoRev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" dur="250" autoRev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" dur="250" autoRev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2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3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" dur="250" autoRev="1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8" dur="250" autoRev="1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250" autoRev="1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250" autoRev="1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250" autoRev="1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3" dur="250" autoRev="1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" dur="250" autoRev="1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250" autoRev="1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250" autoRev="1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8" dur="250" autoRev="1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" dur="250" autoRev="1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250" autoRev="1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250" autoRev="1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3" dur="250" autoRev="1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" dur="250" autoRev="1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" dur="250" autoRev="1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250" autoRev="1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8" dur="250" autoRev="1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" dur="250" autoRev="1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250" autoRev="1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250" autoRev="1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3" dur="250" autoRev="1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4" dur="250" autoRev="1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" dur="250" autoRev="1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2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0" dur="2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" dur="2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" dur="2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250" autoRev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5" dur="250" autoRev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" dur="250" autoRev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" dur="250" autoRev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9" dur="250" autoRev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0" dur="250" autoRev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250" autoRev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" dur="250" autoRev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250" autoRev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5" dur="250" autoRev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" dur="250" autoRev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" dur="250" autoRev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9" dur="250" autoRev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0" dur="250" autoRev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" dur="250" autoRev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" dur="250" autoRev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4" dur="250" autoRev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5" dur="250" autoRev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" dur="250" autoRev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" dur="250" autoRev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250" autoRev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0" dur="250" autoRev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" dur="250" autoRev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" dur="250" autoRev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67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8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1"/>
      <p:bldP spid="25" grpId="0"/>
      <p:bldP spid="25" grpId="1"/>
      <p:bldP spid="57" grpId="0" bldLvl="0" animBg="1"/>
      <p:bldP spid="58" grpId="0" bldLvl="0" animBg="1"/>
      <p:bldP spid="59" grpId="0" bldLvl="0" animBg="1"/>
      <p:bldP spid="60" grpId="0" bldLvl="0" animBg="1"/>
      <p:bldP spid="61" grpId="0" bldLvl="0" animBg="1"/>
      <p:bldP spid="62" grpId="0" bldLvl="0" animBg="1"/>
      <p:bldP spid="63" grpId="0" bldLvl="0" animBg="1"/>
      <p:bldP spid="64" grpId="0" bldLvl="0" animBg="1"/>
      <p:bldP spid="66" grpId="0" bldLvl="0" animBg="1"/>
      <p:bldP spid="8" grpId="0" bldLvl="0" animBg="1"/>
      <p:bldP spid="62" grpId="1" bldLvl="0" animBg="1"/>
      <p:bldP spid="61" grpId="1" bldLvl="0" animBg="1"/>
      <p:bldP spid="60" grpId="1" bldLvl="0" animBg="1"/>
      <p:bldP spid="59" grpId="1" bldLvl="0" animBg="1"/>
      <p:bldP spid="58" grpId="1" bldLvl="0" animBg="1"/>
      <p:bldP spid="57" grpId="1" bldLvl="0" animBg="1"/>
      <p:bldP spid="64" grpId="1" bldLvl="0" animBg="1"/>
      <p:bldP spid="1128456" grpId="0" bldLvl="0" animBg="1"/>
      <p:bldP spid="1128455" grpId="0" bldLvl="0" animBg="1"/>
      <p:bldP spid="1128454" grpId="0" bldLvl="0" animBg="1"/>
      <p:bldP spid="1128453" grpId="0" bldLvl="0" animBg="1"/>
      <p:bldP spid="1128452" grpId="0" bldLvl="0" animBg="1"/>
      <p:bldP spid="1128451" grpId="0" bldLvl="0" animBg="1"/>
      <p:bldP spid="1128462" grpId="0" bldLvl="0" animBg="1"/>
      <p:bldP spid="22" grpId="0"/>
      <p:bldP spid="22" grpId="1"/>
      <p:bldP spid="57" grpId="2" bldLvl="0" animBg="1"/>
      <p:bldP spid="58" grpId="2" bldLvl="0" animBg="1"/>
      <p:bldP spid="59" grpId="2" bldLvl="0" animBg="1"/>
      <p:bldP spid="60" grpId="2" bldLvl="0" animBg="1"/>
      <p:bldP spid="61" grpId="2" bldLvl="0" animBg="1"/>
      <p:bldP spid="62" grpId="2" bldLvl="0" animBg="1"/>
      <p:bldP spid="64" grpId="2" bldLvl="0" animBg="1"/>
      <p:bldP spid="10" grpId="0" bldLvl="0" animBg="1"/>
      <p:bldP spid="34" grpId="0"/>
      <p:bldP spid="3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GS</a:t>
            </a:r>
            <a:r>
              <a:t>推导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1569085" y="4548505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SS[]</a:t>
            </a:r>
            <a:endParaRPr lang="en-US" altLang="zh-CN"/>
          </a:p>
        </p:txBody>
      </p:sp>
      <p:grpSp>
        <p:nvGrpSpPr>
          <p:cNvPr id="45" name="组合 44"/>
          <p:cNvGrpSpPr/>
          <p:nvPr/>
        </p:nvGrpSpPr>
        <p:grpSpPr>
          <a:xfrm rot="0">
            <a:off x="3178810" y="4848860"/>
            <a:ext cx="3383280" cy="323850"/>
            <a:chOff x="4527" y="7107"/>
            <a:chExt cx="5328" cy="510"/>
          </a:xfrm>
        </p:grpSpPr>
        <p:sp>
          <p:nvSpPr>
            <p:cNvPr id="46" name="AutoShape 3"/>
            <p:cNvSpPr/>
            <p:nvPr/>
          </p:nvSpPr>
          <p:spPr>
            <a:xfrm>
              <a:off x="5130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7" name="AutoShape 4"/>
            <p:cNvSpPr/>
            <p:nvPr/>
          </p:nvSpPr>
          <p:spPr>
            <a:xfrm>
              <a:off x="5726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2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0" name="AutoShape 5"/>
            <p:cNvSpPr/>
            <p:nvPr/>
          </p:nvSpPr>
          <p:spPr>
            <a:xfrm>
              <a:off x="6322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3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1" name="AutoShape 6"/>
            <p:cNvSpPr/>
            <p:nvPr/>
          </p:nvSpPr>
          <p:spPr>
            <a:xfrm>
              <a:off x="6917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2" name="AutoShape 7"/>
            <p:cNvSpPr/>
            <p:nvPr/>
          </p:nvSpPr>
          <p:spPr>
            <a:xfrm>
              <a:off x="7513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3" name="AutoShape 8"/>
            <p:cNvSpPr/>
            <p:nvPr/>
          </p:nvSpPr>
          <p:spPr>
            <a:xfrm>
              <a:off x="8109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4" name="AutoShape 9"/>
            <p:cNvSpPr/>
            <p:nvPr/>
          </p:nvSpPr>
          <p:spPr>
            <a:xfrm>
              <a:off x="8702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5" name="AutoShape 14"/>
            <p:cNvSpPr/>
            <p:nvPr/>
          </p:nvSpPr>
          <p:spPr>
            <a:xfrm>
              <a:off x="4527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6" name="AutoShape 9"/>
            <p:cNvSpPr/>
            <p:nvPr/>
          </p:nvSpPr>
          <p:spPr>
            <a:xfrm>
              <a:off x="9345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1128451" name="AutoShape 3"/>
          <p:cNvSpPr/>
          <p:nvPr/>
        </p:nvSpPr>
        <p:spPr>
          <a:xfrm>
            <a:off x="3558540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2" name="AutoShape 4"/>
          <p:cNvSpPr/>
          <p:nvPr/>
        </p:nvSpPr>
        <p:spPr>
          <a:xfrm>
            <a:off x="3937000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3" name="AutoShape 5"/>
          <p:cNvSpPr/>
          <p:nvPr/>
        </p:nvSpPr>
        <p:spPr>
          <a:xfrm>
            <a:off x="4315460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4" name="AutoShape 6"/>
          <p:cNvSpPr/>
          <p:nvPr/>
        </p:nvSpPr>
        <p:spPr>
          <a:xfrm>
            <a:off x="4693285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5" name="AutoShape 7"/>
          <p:cNvSpPr/>
          <p:nvPr/>
        </p:nvSpPr>
        <p:spPr>
          <a:xfrm>
            <a:off x="5071745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6" name="AutoShape 8"/>
          <p:cNvSpPr/>
          <p:nvPr/>
        </p:nvSpPr>
        <p:spPr>
          <a:xfrm>
            <a:off x="5450205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7" name="AutoShape 9"/>
          <p:cNvSpPr/>
          <p:nvPr/>
        </p:nvSpPr>
        <p:spPr>
          <a:xfrm>
            <a:off x="5826760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2" name="AutoShape 14"/>
          <p:cNvSpPr/>
          <p:nvPr/>
        </p:nvSpPr>
        <p:spPr>
          <a:xfrm>
            <a:off x="3175635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AutoShape 3"/>
          <p:cNvSpPr/>
          <p:nvPr>
            <p:custDataLst>
              <p:tags r:id="rId1"/>
            </p:custDataLst>
          </p:nvPr>
        </p:nvSpPr>
        <p:spPr>
          <a:xfrm>
            <a:off x="3558540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AutoShape 4"/>
          <p:cNvSpPr/>
          <p:nvPr/>
        </p:nvSpPr>
        <p:spPr>
          <a:xfrm>
            <a:off x="3937000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AutoShape 5"/>
          <p:cNvSpPr/>
          <p:nvPr/>
        </p:nvSpPr>
        <p:spPr>
          <a:xfrm>
            <a:off x="4315460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AutoShape 6"/>
          <p:cNvSpPr/>
          <p:nvPr/>
        </p:nvSpPr>
        <p:spPr>
          <a:xfrm>
            <a:off x="4693285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AutoShape 7"/>
          <p:cNvSpPr/>
          <p:nvPr/>
        </p:nvSpPr>
        <p:spPr>
          <a:xfrm>
            <a:off x="5071745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AutoShape 8"/>
          <p:cNvSpPr/>
          <p:nvPr/>
        </p:nvSpPr>
        <p:spPr>
          <a:xfrm>
            <a:off x="5450205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AutoShape 9"/>
          <p:cNvSpPr/>
          <p:nvPr/>
        </p:nvSpPr>
        <p:spPr>
          <a:xfrm>
            <a:off x="5826760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AutoShape 14"/>
          <p:cNvSpPr/>
          <p:nvPr/>
        </p:nvSpPr>
        <p:spPr>
          <a:xfrm>
            <a:off x="3169920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0" name="AutoShape 9"/>
          <p:cNvSpPr/>
          <p:nvPr/>
        </p:nvSpPr>
        <p:spPr>
          <a:xfrm>
            <a:off x="6196965" y="41281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AutoShape 9"/>
          <p:cNvSpPr/>
          <p:nvPr/>
        </p:nvSpPr>
        <p:spPr>
          <a:xfrm>
            <a:off x="6196965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69085" y="4128135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P[]</a:t>
            </a:r>
            <a:endParaRPr lang="en-US" altLang="zh-CN"/>
          </a:p>
        </p:txBody>
      </p:sp>
      <p:grpSp>
        <p:nvGrpSpPr>
          <p:cNvPr id="34" name="组合 33"/>
          <p:cNvGrpSpPr/>
          <p:nvPr/>
        </p:nvGrpSpPr>
        <p:grpSpPr>
          <a:xfrm>
            <a:off x="2781300" y="3644900"/>
            <a:ext cx="5665470" cy="323850"/>
            <a:chOff x="4875" y="6250"/>
            <a:chExt cx="8922" cy="510"/>
          </a:xfrm>
        </p:grpSpPr>
        <p:sp>
          <p:nvSpPr>
            <p:cNvPr id="27" name="AutoShape 3"/>
            <p:cNvSpPr/>
            <p:nvPr/>
          </p:nvSpPr>
          <p:spPr>
            <a:xfrm>
              <a:off x="10841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8" name="AutoShape 4"/>
            <p:cNvSpPr/>
            <p:nvPr/>
          </p:nvSpPr>
          <p:spPr>
            <a:xfrm>
              <a:off x="11437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9" name="AutoShape 5"/>
            <p:cNvSpPr/>
            <p:nvPr/>
          </p:nvSpPr>
          <p:spPr>
            <a:xfrm>
              <a:off x="12033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1" name="AutoShape 6"/>
            <p:cNvSpPr/>
            <p:nvPr/>
          </p:nvSpPr>
          <p:spPr>
            <a:xfrm>
              <a:off x="12628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" name="AutoShape 3"/>
            <p:cNvSpPr/>
            <p:nvPr/>
          </p:nvSpPr>
          <p:spPr>
            <a:xfrm>
              <a:off x="6104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" name="AutoShape 4"/>
            <p:cNvSpPr/>
            <p:nvPr/>
          </p:nvSpPr>
          <p:spPr>
            <a:xfrm>
              <a:off x="6700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" name="AutoShape 5"/>
            <p:cNvSpPr/>
            <p:nvPr/>
          </p:nvSpPr>
          <p:spPr>
            <a:xfrm>
              <a:off x="7296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5" name="AutoShape 6"/>
            <p:cNvSpPr/>
            <p:nvPr/>
          </p:nvSpPr>
          <p:spPr>
            <a:xfrm>
              <a:off x="7891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6" name="AutoShape 7"/>
            <p:cNvSpPr/>
            <p:nvPr/>
          </p:nvSpPr>
          <p:spPr>
            <a:xfrm>
              <a:off x="8487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3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7" name="AutoShape 8"/>
            <p:cNvSpPr/>
            <p:nvPr/>
          </p:nvSpPr>
          <p:spPr>
            <a:xfrm>
              <a:off x="9083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3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8" name="AutoShape 9"/>
            <p:cNvSpPr/>
            <p:nvPr/>
          </p:nvSpPr>
          <p:spPr>
            <a:xfrm>
              <a:off x="9676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3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9" name="AutoShape 14"/>
            <p:cNvSpPr/>
            <p:nvPr/>
          </p:nvSpPr>
          <p:spPr>
            <a:xfrm>
              <a:off x="5501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0" name="AutoShape 9"/>
            <p:cNvSpPr/>
            <p:nvPr/>
          </p:nvSpPr>
          <p:spPr>
            <a:xfrm>
              <a:off x="10263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3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2" name="AutoShape 14"/>
            <p:cNvSpPr/>
            <p:nvPr/>
          </p:nvSpPr>
          <p:spPr>
            <a:xfrm>
              <a:off x="4875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...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3" name="AutoShape 14"/>
            <p:cNvSpPr/>
            <p:nvPr/>
          </p:nvSpPr>
          <p:spPr>
            <a:xfrm>
              <a:off x="13287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...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7613650" y="3973830"/>
            <a:ext cx="310769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None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此种情况</a:t>
            </a:r>
            <a:r>
              <a:rPr 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j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越大越安全，从后向前遍历的原因是避免重复赋值。</a:t>
            </a:r>
            <a:endParaRPr lang="zh-CN" altLang="en-US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35" name="灯片编号占位符 3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6" name="页脚占位符 3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南开大学软件学院</a:t>
            </a:r>
            <a:endParaRPr lang="zh-CN" altLang="en-US"/>
          </a:p>
        </p:txBody>
      </p:sp>
      <p:sp>
        <p:nvSpPr>
          <p:cNvPr id="24" name="内容占位符 23"/>
          <p:cNvSpPr/>
          <p:nvPr>
            <p:ph idx="1"/>
          </p:nvPr>
        </p:nvSpPr>
        <p:spPr>
          <a:xfrm>
            <a:off x="608330" y="1490345"/>
            <a:ext cx="10968990" cy="1734185"/>
          </a:xfrm>
        </p:spPr>
        <p:txBody>
          <a:bodyPr/>
          <a:p>
            <a:r>
              <a:rPr lang="en-US" altLang="zh-CN"/>
              <a:t>ss[j]=j+1</a:t>
            </a:r>
            <a:r>
              <a:t>非安全候选</a:t>
            </a:r>
            <a:endParaRPr lang="en-US" altLang="zh-CN"/>
          </a:p>
        </p:txBody>
      </p:sp>
      <p:sp>
        <p:nvSpPr>
          <p:cNvPr id="57" name="AutoShape 3"/>
          <p:cNvSpPr/>
          <p:nvPr>
            <p:custDataLst>
              <p:tags r:id="rId2"/>
            </p:custDataLst>
          </p:nvPr>
        </p:nvSpPr>
        <p:spPr>
          <a:xfrm>
            <a:off x="3557032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8" name="AutoShape 4"/>
          <p:cNvSpPr/>
          <p:nvPr/>
        </p:nvSpPr>
        <p:spPr>
          <a:xfrm>
            <a:off x="3935651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9" name="AutoShape 5"/>
          <p:cNvSpPr/>
          <p:nvPr/>
        </p:nvSpPr>
        <p:spPr>
          <a:xfrm>
            <a:off x="4314270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0" name="AutoShape 6"/>
          <p:cNvSpPr/>
          <p:nvPr/>
        </p:nvSpPr>
        <p:spPr>
          <a:xfrm>
            <a:off x="4691698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1" name="AutoShape 7"/>
          <p:cNvSpPr/>
          <p:nvPr/>
        </p:nvSpPr>
        <p:spPr>
          <a:xfrm>
            <a:off x="5070316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2" name="AutoShape 8"/>
          <p:cNvSpPr/>
          <p:nvPr/>
        </p:nvSpPr>
        <p:spPr>
          <a:xfrm>
            <a:off x="5450205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3" name="AutoShape 9"/>
          <p:cNvSpPr/>
          <p:nvPr/>
        </p:nvSpPr>
        <p:spPr>
          <a:xfrm>
            <a:off x="5825173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4" name="AutoShape 14"/>
          <p:cNvSpPr/>
          <p:nvPr/>
        </p:nvSpPr>
        <p:spPr>
          <a:xfrm>
            <a:off x="3171746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1110615" y="5072380"/>
            <a:ext cx="1993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GS[]</a:t>
            </a:r>
            <a:r>
              <a:rPr lang="zh-CN" altLang="en-US"/>
              <a:t>按</a:t>
            </a:r>
            <a:r>
              <a:rPr lang="en-US" altLang="zh-CN"/>
              <a:t>j=3</a:t>
            </a:r>
            <a:r>
              <a:rPr lang="zh-CN" altLang="en-US"/>
              <a:t>设置</a:t>
            </a:r>
            <a:endParaRPr lang="zh-CN" altLang="en-US"/>
          </a:p>
        </p:txBody>
      </p:sp>
      <p:sp>
        <p:nvSpPr>
          <p:cNvPr id="66" name="AutoShape 9"/>
          <p:cNvSpPr/>
          <p:nvPr/>
        </p:nvSpPr>
        <p:spPr>
          <a:xfrm>
            <a:off x="6192838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3168650" y="5116830"/>
            <a:ext cx="2605405" cy="323850"/>
            <a:chOff x="5491" y="5438"/>
            <a:chExt cx="4103" cy="510"/>
          </a:xfrm>
        </p:grpSpPr>
        <p:sp>
          <p:nvSpPr>
            <p:cNvPr id="38" name="AutoShape 3"/>
            <p:cNvSpPr/>
            <p:nvPr>
              <p:custDataLst>
                <p:tags r:id="rId3"/>
              </p:custDataLst>
            </p:nvPr>
          </p:nvSpPr>
          <p:spPr>
            <a:xfrm>
              <a:off x="6103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9" name="AutoShape 4"/>
            <p:cNvSpPr/>
            <p:nvPr/>
          </p:nvSpPr>
          <p:spPr>
            <a:xfrm>
              <a:off x="6699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1" name="AutoShape 5"/>
            <p:cNvSpPr/>
            <p:nvPr/>
          </p:nvSpPr>
          <p:spPr>
            <a:xfrm>
              <a:off x="7295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2" name="AutoShape 6"/>
            <p:cNvSpPr/>
            <p:nvPr/>
          </p:nvSpPr>
          <p:spPr>
            <a:xfrm>
              <a:off x="7890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3" name="AutoShape 7"/>
            <p:cNvSpPr/>
            <p:nvPr/>
          </p:nvSpPr>
          <p:spPr>
            <a:xfrm>
              <a:off x="8486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4" name="AutoShape 8"/>
            <p:cNvSpPr/>
            <p:nvPr/>
          </p:nvSpPr>
          <p:spPr>
            <a:xfrm>
              <a:off x="9084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9" name="AutoShape 14"/>
            <p:cNvSpPr/>
            <p:nvPr/>
          </p:nvSpPr>
          <p:spPr>
            <a:xfrm>
              <a:off x="5491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3168650" y="5440680"/>
            <a:ext cx="2605405" cy="323850"/>
            <a:chOff x="5491" y="5438"/>
            <a:chExt cx="4103" cy="510"/>
          </a:xfrm>
        </p:grpSpPr>
        <p:sp>
          <p:nvSpPr>
            <p:cNvPr id="68" name="AutoShape 3"/>
            <p:cNvSpPr/>
            <p:nvPr>
              <p:custDataLst>
                <p:tags r:id="rId4"/>
              </p:custDataLst>
            </p:nvPr>
          </p:nvSpPr>
          <p:spPr>
            <a:xfrm>
              <a:off x="6103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9" name="AutoShape 4"/>
            <p:cNvSpPr/>
            <p:nvPr/>
          </p:nvSpPr>
          <p:spPr>
            <a:xfrm>
              <a:off x="6699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0" name="AutoShape 5"/>
            <p:cNvSpPr/>
            <p:nvPr/>
          </p:nvSpPr>
          <p:spPr>
            <a:xfrm>
              <a:off x="7295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1" name="AutoShape 6"/>
            <p:cNvSpPr/>
            <p:nvPr/>
          </p:nvSpPr>
          <p:spPr>
            <a:xfrm>
              <a:off x="7890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2" name="AutoShape 7"/>
            <p:cNvSpPr/>
            <p:nvPr/>
          </p:nvSpPr>
          <p:spPr>
            <a:xfrm>
              <a:off x="8486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3" name="AutoShape 8"/>
            <p:cNvSpPr/>
            <p:nvPr/>
          </p:nvSpPr>
          <p:spPr>
            <a:xfrm>
              <a:off x="9084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4" name="AutoShape 14"/>
            <p:cNvSpPr/>
            <p:nvPr/>
          </p:nvSpPr>
          <p:spPr>
            <a:xfrm>
              <a:off x="5491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75" name="文本框 74"/>
          <p:cNvSpPr txBox="1"/>
          <p:nvPr/>
        </p:nvSpPr>
        <p:spPr>
          <a:xfrm>
            <a:off x="1111250" y="5440680"/>
            <a:ext cx="1993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GS[]</a:t>
            </a:r>
            <a:r>
              <a:rPr lang="zh-CN" altLang="en-US"/>
              <a:t>按</a:t>
            </a:r>
            <a:r>
              <a:rPr lang="en-US" altLang="zh-CN"/>
              <a:t>j=1</a:t>
            </a:r>
            <a:r>
              <a:rPr lang="zh-CN" altLang="en-US"/>
              <a:t>设置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219583 0.001944 " pathEditMode="relative" rAng="0" ptsTypes="">
                                      <p:cBhvr>
                                        <p:cTn id="10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7" y="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155781 0.000278 " pathEditMode="relative" rAng="0" ptsTypes="">
                                      <p:cBhvr>
                                        <p:cTn id="18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3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继续设置安全距离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490345"/>
            <a:ext cx="10968990" cy="1099820"/>
          </a:xfrm>
        </p:spPr>
        <p:txBody>
          <a:bodyPr>
            <a:normAutofit lnSpcReduction="10000"/>
          </a:bodyPr>
          <a:p>
            <a:r>
              <a:rPr lang="zh-CN" altLang="en-US"/>
              <a:t>设已经匹配了</a:t>
            </a:r>
            <a:r>
              <a:rPr lang="en-US" altLang="zh-CN"/>
              <a:t>q</a:t>
            </a:r>
            <a:r>
              <a:t>个字符。那么已匹配的后缀尾部，对齐模式串中</a:t>
            </a:r>
            <a:r>
              <a:rPr lang="en-US" altLang="zh-CN"/>
              <a:t>ss[j]=q</a:t>
            </a:r>
            <a:r>
              <a:t>的位置，都可以作为候选。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1473835" y="2978150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SS[]</a:t>
            </a:r>
            <a:endParaRPr lang="en-US" altLang="zh-CN"/>
          </a:p>
        </p:txBody>
      </p:sp>
      <p:grpSp>
        <p:nvGrpSpPr>
          <p:cNvPr id="45" name="组合 44"/>
          <p:cNvGrpSpPr/>
          <p:nvPr/>
        </p:nvGrpSpPr>
        <p:grpSpPr>
          <a:xfrm rot="0">
            <a:off x="3076575" y="2654300"/>
            <a:ext cx="3383280" cy="323850"/>
            <a:chOff x="4527" y="7107"/>
            <a:chExt cx="5328" cy="510"/>
          </a:xfrm>
        </p:grpSpPr>
        <p:sp>
          <p:nvSpPr>
            <p:cNvPr id="46" name="AutoShape 3"/>
            <p:cNvSpPr/>
            <p:nvPr/>
          </p:nvSpPr>
          <p:spPr>
            <a:xfrm>
              <a:off x="5130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7" name="AutoShape 4"/>
            <p:cNvSpPr/>
            <p:nvPr/>
          </p:nvSpPr>
          <p:spPr>
            <a:xfrm>
              <a:off x="5726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2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0" name="AutoShape 5"/>
            <p:cNvSpPr/>
            <p:nvPr/>
          </p:nvSpPr>
          <p:spPr>
            <a:xfrm>
              <a:off x="6322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3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1" name="AutoShape 6"/>
            <p:cNvSpPr/>
            <p:nvPr/>
          </p:nvSpPr>
          <p:spPr>
            <a:xfrm>
              <a:off x="6917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2" name="AutoShape 7"/>
            <p:cNvSpPr/>
            <p:nvPr/>
          </p:nvSpPr>
          <p:spPr>
            <a:xfrm>
              <a:off x="7513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3" name="AutoShape 8"/>
            <p:cNvSpPr/>
            <p:nvPr/>
          </p:nvSpPr>
          <p:spPr>
            <a:xfrm>
              <a:off x="8109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4" name="AutoShape 9"/>
            <p:cNvSpPr/>
            <p:nvPr/>
          </p:nvSpPr>
          <p:spPr>
            <a:xfrm>
              <a:off x="8702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5" name="AutoShape 14"/>
            <p:cNvSpPr/>
            <p:nvPr/>
          </p:nvSpPr>
          <p:spPr>
            <a:xfrm>
              <a:off x="4527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6" name="AutoShape 9"/>
            <p:cNvSpPr/>
            <p:nvPr/>
          </p:nvSpPr>
          <p:spPr>
            <a:xfrm>
              <a:off x="9345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8" name="AutoShape 3"/>
          <p:cNvSpPr/>
          <p:nvPr>
            <p:custDataLst>
              <p:tags r:id="rId1"/>
            </p:custDataLst>
          </p:nvPr>
        </p:nvSpPr>
        <p:spPr>
          <a:xfrm>
            <a:off x="3463290" y="30003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AutoShape 4"/>
          <p:cNvSpPr/>
          <p:nvPr/>
        </p:nvSpPr>
        <p:spPr>
          <a:xfrm>
            <a:off x="3841750" y="30003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AutoShape 5"/>
          <p:cNvSpPr/>
          <p:nvPr/>
        </p:nvSpPr>
        <p:spPr>
          <a:xfrm>
            <a:off x="4220210" y="30003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AutoShape 6"/>
          <p:cNvSpPr/>
          <p:nvPr/>
        </p:nvSpPr>
        <p:spPr>
          <a:xfrm>
            <a:off x="4598035" y="30003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AutoShape 7"/>
          <p:cNvSpPr/>
          <p:nvPr/>
        </p:nvSpPr>
        <p:spPr>
          <a:xfrm>
            <a:off x="4976495" y="30003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AutoShape 8"/>
          <p:cNvSpPr/>
          <p:nvPr/>
        </p:nvSpPr>
        <p:spPr>
          <a:xfrm>
            <a:off x="5354955" y="30003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AutoShape 9"/>
          <p:cNvSpPr/>
          <p:nvPr/>
        </p:nvSpPr>
        <p:spPr>
          <a:xfrm>
            <a:off x="5731510" y="30003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AutoShape 14"/>
          <p:cNvSpPr/>
          <p:nvPr/>
        </p:nvSpPr>
        <p:spPr>
          <a:xfrm>
            <a:off x="3074670" y="30003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AutoShape 9"/>
          <p:cNvSpPr/>
          <p:nvPr/>
        </p:nvSpPr>
        <p:spPr>
          <a:xfrm>
            <a:off x="6101715" y="30003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3" name="AutoShape 9"/>
          <p:cNvSpPr/>
          <p:nvPr/>
        </p:nvSpPr>
        <p:spPr>
          <a:xfrm>
            <a:off x="5733733" y="34310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1473835" y="3408680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GS[]</a:t>
            </a:r>
            <a:endParaRPr lang="en-US" altLang="zh-CN"/>
          </a:p>
        </p:txBody>
      </p:sp>
      <p:sp>
        <p:nvSpPr>
          <p:cNvPr id="66" name="AutoShape 9"/>
          <p:cNvSpPr/>
          <p:nvPr/>
        </p:nvSpPr>
        <p:spPr>
          <a:xfrm>
            <a:off x="6111558" y="34310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139305" y="2816860"/>
            <a:ext cx="386397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None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设</a:t>
            </a:r>
            <a:r>
              <a:rPr 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P[6]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处失配，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q=2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，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ss[6]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和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ss[1]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均为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，串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对齐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P[6]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需要平移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8-6=2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，对齐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P[1]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需要平移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8-1=7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个位置。显然平移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个位置一定比平移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7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个位置安全。平移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7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个有可能产生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遗漏。</a:t>
            </a:r>
            <a:endParaRPr lang="zh-CN" altLang="en-US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1128451" name="AutoShape 3"/>
          <p:cNvSpPr/>
          <p:nvPr/>
        </p:nvSpPr>
        <p:spPr>
          <a:xfrm>
            <a:off x="3453527" y="39206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2" name="AutoShape 4"/>
          <p:cNvSpPr/>
          <p:nvPr/>
        </p:nvSpPr>
        <p:spPr>
          <a:xfrm>
            <a:off x="3832146" y="39206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3" name="AutoShape 5"/>
          <p:cNvSpPr/>
          <p:nvPr/>
        </p:nvSpPr>
        <p:spPr>
          <a:xfrm>
            <a:off x="4210765" y="39206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4" name="AutoShape 6"/>
          <p:cNvSpPr/>
          <p:nvPr/>
        </p:nvSpPr>
        <p:spPr>
          <a:xfrm>
            <a:off x="4588193" y="39206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5" name="AutoShape 7"/>
          <p:cNvSpPr/>
          <p:nvPr/>
        </p:nvSpPr>
        <p:spPr>
          <a:xfrm>
            <a:off x="4966811" y="39206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6" name="AutoShape 8"/>
          <p:cNvSpPr/>
          <p:nvPr/>
        </p:nvSpPr>
        <p:spPr>
          <a:xfrm>
            <a:off x="5345430" y="39206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7" name="AutoShape 9"/>
          <p:cNvSpPr/>
          <p:nvPr/>
        </p:nvSpPr>
        <p:spPr>
          <a:xfrm>
            <a:off x="5721668" y="39206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2" name="AutoShape 14"/>
          <p:cNvSpPr/>
          <p:nvPr/>
        </p:nvSpPr>
        <p:spPr>
          <a:xfrm>
            <a:off x="3070781" y="39206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0" name="AutoShape 9"/>
          <p:cNvSpPr/>
          <p:nvPr/>
        </p:nvSpPr>
        <p:spPr>
          <a:xfrm>
            <a:off x="6101398" y="392509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502410" y="3924935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P[]</a:t>
            </a:r>
            <a:endParaRPr lang="en-US" altLang="zh-CN"/>
          </a:p>
        </p:txBody>
      </p:sp>
      <p:sp>
        <p:nvSpPr>
          <p:cNvPr id="36" name="AutoShape 3"/>
          <p:cNvSpPr/>
          <p:nvPr>
            <p:custDataLst>
              <p:tags r:id="rId2"/>
            </p:custDataLst>
          </p:nvPr>
        </p:nvSpPr>
        <p:spPr>
          <a:xfrm>
            <a:off x="3460750" y="343090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38" name="AutoShape 4"/>
          <p:cNvSpPr/>
          <p:nvPr/>
        </p:nvSpPr>
        <p:spPr>
          <a:xfrm>
            <a:off x="3839210" y="343090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39" name="AutoShape 5"/>
          <p:cNvSpPr/>
          <p:nvPr/>
        </p:nvSpPr>
        <p:spPr>
          <a:xfrm>
            <a:off x="4217670" y="343090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1" name="AutoShape 6"/>
          <p:cNvSpPr/>
          <p:nvPr/>
        </p:nvSpPr>
        <p:spPr>
          <a:xfrm>
            <a:off x="4595495" y="343090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2" name="AutoShape 7"/>
          <p:cNvSpPr/>
          <p:nvPr/>
        </p:nvSpPr>
        <p:spPr>
          <a:xfrm>
            <a:off x="4973955" y="343090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7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3" name="AutoShape 8"/>
          <p:cNvSpPr/>
          <p:nvPr/>
        </p:nvSpPr>
        <p:spPr>
          <a:xfrm>
            <a:off x="5353685" y="343090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7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4" name="AutoShape 14"/>
          <p:cNvSpPr/>
          <p:nvPr/>
        </p:nvSpPr>
        <p:spPr>
          <a:xfrm>
            <a:off x="3072130" y="343090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92145" y="2009140"/>
            <a:ext cx="74218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None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为了保证平移距离更安全，从前向后遍历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SS[]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。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SS[]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中相同的值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，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j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越大平移距离越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安全，可以覆盖掉前面不安全的平移距离。</a:t>
            </a:r>
            <a:endParaRPr lang="zh-CN" altLang="en-US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81020" y="4556125"/>
            <a:ext cx="293624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None/>
            </a:pPr>
            <a:r>
              <a:rPr 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ss[j]==0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，没有匹配后缀，也就是对于第一个即失配字符，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可以越过已比较的串长度即为（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m-j-1)</a:t>
            </a:r>
            <a:endParaRPr lang="en-US" altLang="zh-CN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6" name="AutoShape 9"/>
          <p:cNvSpPr/>
          <p:nvPr/>
        </p:nvSpPr>
        <p:spPr>
          <a:xfrm>
            <a:off x="6100763" y="342471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8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17260" y="4556125"/>
            <a:ext cx="29362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None/>
            </a:pPr>
            <a:r>
              <a:rPr 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ss[j]==2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，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P[m-2-1]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，即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P[6]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处失配时，可以平移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6-j+1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，即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m-ss[j]-j+1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个位置。</a:t>
            </a:r>
            <a:endParaRPr lang="en-US" altLang="zh-CN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15" name="AutoShape 9"/>
          <p:cNvSpPr/>
          <p:nvPr/>
        </p:nvSpPr>
        <p:spPr>
          <a:xfrm>
            <a:off x="6111558" y="34532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6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AutoShape 9"/>
          <p:cNvSpPr/>
          <p:nvPr/>
        </p:nvSpPr>
        <p:spPr>
          <a:xfrm>
            <a:off x="6135688" y="34310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AutoShape 9"/>
          <p:cNvSpPr/>
          <p:nvPr/>
        </p:nvSpPr>
        <p:spPr>
          <a:xfrm>
            <a:off x="6110605" y="3434080"/>
            <a:ext cx="323850" cy="33337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AutoShape 8"/>
          <p:cNvSpPr/>
          <p:nvPr/>
        </p:nvSpPr>
        <p:spPr>
          <a:xfrm>
            <a:off x="5350510" y="343408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111875" y="5478145"/>
            <a:ext cx="10274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indent="0">
              <a:buNone/>
            </a:pP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GS[6]=7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139305" y="5478145"/>
            <a:ext cx="12242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indent="0">
              <a:buNone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被覆盖为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2</a:t>
            </a:r>
            <a:endParaRPr lang="zh-CN" altLang="en-US"/>
          </a:p>
        </p:txBody>
      </p:sp>
      <p:sp>
        <p:nvSpPr>
          <p:cNvPr id="23" name="AutoShape 9"/>
          <p:cNvSpPr/>
          <p:nvPr/>
        </p:nvSpPr>
        <p:spPr>
          <a:xfrm>
            <a:off x="6132830" y="3437255"/>
            <a:ext cx="323850" cy="33337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9" name="灯片编号占位符 4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7" name="页脚占位符 6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南开大学软件学院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50" autoRev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" dur="250" autoRev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250" autoRev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autoRev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3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250" autoRev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8" dur="250" autoRev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" dur="250" autoRev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50" autoRev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250" autoRev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5" dur="250" autoRev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" dur="250" autoRev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250" autoRev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6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250" autoRev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1" dur="250" autoRev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" dur="250" autoRev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250" autoRev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" dur="2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8" dur="2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2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2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250" autoRev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7" dur="250" autoRev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" dur="250" autoRev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250" autoRev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4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250" autoRev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1" dur="250" autoRev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" dur="250" autoRev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250" autoRev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" dur="250" autoRev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8" dur="250" autoRev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250" autoRev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" dur="250" autoRev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" dur="250" autoRev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7" dur="250" autoRev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" dur="250" autoRev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" dur="250" autoRev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250" autoRev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4" dur="250" autoRev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" dur="250" autoRev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" dur="250" autoRev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2" dur="250" autoRev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3" dur="250" autoRev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" dur="250" autoRev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250" autoRev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25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0" dur="25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" dur="25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" dur="25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250" autoRev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9" dur="250" autoRev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0" dur="250" autoRev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" dur="250" autoRev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1" dur="250" autoRev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62" dur="250" autoRev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250" autoRev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250" autoRev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0" dur="250" autoRev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71" dur="250" autoRev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2" dur="250" autoRev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" dur="250" autoRev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1"/>
      <p:bldP spid="1128456" grpId="0" bldLvl="0" animBg="1"/>
      <p:bldP spid="25" grpId="0"/>
      <p:bldP spid="25" grpId="1"/>
      <p:bldP spid="30" grpId="0" bldLvl="0" animBg="1"/>
      <p:bldP spid="4" grpId="0"/>
      <p:bldP spid="4" grpId="1"/>
      <p:bldP spid="5" grpId="1"/>
      <p:bldP spid="6" grpId="0" bldLvl="0" animBg="1"/>
      <p:bldP spid="6" grpId="1" bldLvl="0" animBg="1"/>
      <p:bldP spid="8" grpId="0" bldLvl="0" animBg="1"/>
      <p:bldP spid="5" grpId="2"/>
      <p:bldP spid="7" grpId="1"/>
      <p:bldP spid="7" grpId="2"/>
      <p:bldP spid="43" grpId="0" bldLvl="0" animBg="1"/>
      <p:bldP spid="9" grpId="0" bldLvl="0" animBg="1"/>
      <p:bldP spid="15" grpId="0" bldLvl="0" animBg="1"/>
      <p:bldP spid="15" grpId="1" bldLvl="0" animBg="1"/>
      <p:bldP spid="10" grpId="0" bldLvl="0" animBg="1"/>
      <p:bldP spid="41" grpId="0" bldLvl="0" animBg="1"/>
      <p:bldP spid="11" grpId="0" bldLvl="0" animBg="1"/>
      <p:bldP spid="16" grpId="0" bldLvl="0" animBg="1"/>
      <p:bldP spid="16" grpId="1" bldLvl="0" animBg="1"/>
      <p:bldP spid="12" grpId="0" bldLvl="0" animBg="1"/>
      <p:bldP spid="17" grpId="0" bldLvl="0" animBg="1"/>
      <p:bldP spid="17" grpId="1" bldLvl="0" animBg="1"/>
      <p:bldP spid="13" grpId="0" bldLvl="0" animBg="1"/>
      <p:bldP spid="18" grpId="0" bldLvl="0" animBg="1"/>
      <p:bldP spid="18" grpId="1" bldLvl="0" animBg="1"/>
      <p:bldP spid="19" grpId="0"/>
      <p:bldP spid="20" grpId="0"/>
      <p:bldP spid="14" grpId="0" bldLvl="0" animBg="1"/>
      <p:bldP spid="23" grpId="0" bldLvl="0" animBg="1"/>
      <p:bldP spid="23" grpId="1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GS</a:t>
            </a:r>
            <a:r>
              <a:t>推导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1569085" y="4548505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SS[]</a:t>
            </a:r>
            <a:endParaRPr lang="en-US" altLang="zh-CN"/>
          </a:p>
        </p:txBody>
      </p:sp>
      <p:grpSp>
        <p:nvGrpSpPr>
          <p:cNvPr id="45" name="组合 44"/>
          <p:cNvGrpSpPr/>
          <p:nvPr/>
        </p:nvGrpSpPr>
        <p:grpSpPr>
          <a:xfrm rot="0">
            <a:off x="3178810" y="4848860"/>
            <a:ext cx="3383280" cy="323850"/>
            <a:chOff x="4527" y="7107"/>
            <a:chExt cx="5328" cy="510"/>
          </a:xfrm>
        </p:grpSpPr>
        <p:sp>
          <p:nvSpPr>
            <p:cNvPr id="46" name="AutoShape 3"/>
            <p:cNvSpPr/>
            <p:nvPr/>
          </p:nvSpPr>
          <p:spPr>
            <a:xfrm>
              <a:off x="5130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7" name="AutoShape 4"/>
            <p:cNvSpPr/>
            <p:nvPr/>
          </p:nvSpPr>
          <p:spPr>
            <a:xfrm>
              <a:off x="5726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2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0" name="AutoShape 5"/>
            <p:cNvSpPr/>
            <p:nvPr/>
          </p:nvSpPr>
          <p:spPr>
            <a:xfrm>
              <a:off x="6322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3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1" name="AutoShape 6"/>
            <p:cNvSpPr/>
            <p:nvPr/>
          </p:nvSpPr>
          <p:spPr>
            <a:xfrm>
              <a:off x="6917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2" name="AutoShape 7"/>
            <p:cNvSpPr/>
            <p:nvPr/>
          </p:nvSpPr>
          <p:spPr>
            <a:xfrm>
              <a:off x="7513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3" name="AutoShape 8"/>
            <p:cNvSpPr/>
            <p:nvPr/>
          </p:nvSpPr>
          <p:spPr>
            <a:xfrm>
              <a:off x="8109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4" name="AutoShape 9"/>
            <p:cNvSpPr/>
            <p:nvPr/>
          </p:nvSpPr>
          <p:spPr>
            <a:xfrm>
              <a:off x="8702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5" name="AutoShape 14"/>
            <p:cNvSpPr/>
            <p:nvPr/>
          </p:nvSpPr>
          <p:spPr>
            <a:xfrm>
              <a:off x="4527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6" name="AutoShape 9"/>
            <p:cNvSpPr/>
            <p:nvPr/>
          </p:nvSpPr>
          <p:spPr>
            <a:xfrm>
              <a:off x="9345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1128451" name="AutoShape 3"/>
          <p:cNvSpPr/>
          <p:nvPr/>
        </p:nvSpPr>
        <p:spPr>
          <a:xfrm>
            <a:off x="3558540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2" name="AutoShape 4"/>
          <p:cNvSpPr/>
          <p:nvPr/>
        </p:nvSpPr>
        <p:spPr>
          <a:xfrm>
            <a:off x="3937000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3" name="AutoShape 5"/>
          <p:cNvSpPr/>
          <p:nvPr/>
        </p:nvSpPr>
        <p:spPr>
          <a:xfrm>
            <a:off x="4315460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4" name="AutoShape 6"/>
          <p:cNvSpPr/>
          <p:nvPr/>
        </p:nvSpPr>
        <p:spPr>
          <a:xfrm>
            <a:off x="4693285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5" name="AutoShape 7"/>
          <p:cNvSpPr/>
          <p:nvPr/>
        </p:nvSpPr>
        <p:spPr>
          <a:xfrm>
            <a:off x="5071745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6" name="AutoShape 8"/>
          <p:cNvSpPr/>
          <p:nvPr/>
        </p:nvSpPr>
        <p:spPr>
          <a:xfrm>
            <a:off x="5450205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7" name="AutoShape 9"/>
          <p:cNvSpPr/>
          <p:nvPr/>
        </p:nvSpPr>
        <p:spPr>
          <a:xfrm>
            <a:off x="5826760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2" name="AutoShape 14"/>
          <p:cNvSpPr/>
          <p:nvPr/>
        </p:nvSpPr>
        <p:spPr>
          <a:xfrm>
            <a:off x="3175635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AutoShape 3"/>
          <p:cNvSpPr/>
          <p:nvPr>
            <p:custDataLst>
              <p:tags r:id="rId1"/>
            </p:custDataLst>
          </p:nvPr>
        </p:nvSpPr>
        <p:spPr>
          <a:xfrm>
            <a:off x="3558540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chemeClr val="accent4">
              <a:lumMod val="75000"/>
            </a:schemeClr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9" name="AutoShape 4"/>
          <p:cNvSpPr/>
          <p:nvPr/>
        </p:nvSpPr>
        <p:spPr>
          <a:xfrm>
            <a:off x="3937000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AutoShape 5"/>
          <p:cNvSpPr/>
          <p:nvPr/>
        </p:nvSpPr>
        <p:spPr>
          <a:xfrm>
            <a:off x="4315460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AutoShape 6"/>
          <p:cNvSpPr/>
          <p:nvPr/>
        </p:nvSpPr>
        <p:spPr>
          <a:xfrm>
            <a:off x="4693285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AutoShape 7"/>
          <p:cNvSpPr/>
          <p:nvPr/>
        </p:nvSpPr>
        <p:spPr>
          <a:xfrm>
            <a:off x="5071745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AutoShape 8"/>
          <p:cNvSpPr/>
          <p:nvPr/>
        </p:nvSpPr>
        <p:spPr>
          <a:xfrm>
            <a:off x="5450205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chemeClr val="accent4">
              <a:lumMod val="75000"/>
            </a:schemeClr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AutoShape 9"/>
          <p:cNvSpPr/>
          <p:nvPr/>
        </p:nvSpPr>
        <p:spPr>
          <a:xfrm>
            <a:off x="5826760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AutoShape 14"/>
          <p:cNvSpPr/>
          <p:nvPr/>
        </p:nvSpPr>
        <p:spPr>
          <a:xfrm>
            <a:off x="3169920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0" name="AutoShape 9"/>
          <p:cNvSpPr/>
          <p:nvPr/>
        </p:nvSpPr>
        <p:spPr>
          <a:xfrm>
            <a:off x="6196965" y="41281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AutoShape 9"/>
          <p:cNvSpPr/>
          <p:nvPr/>
        </p:nvSpPr>
        <p:spPr>
          <a:xfrm>
            <a:off x="6196965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69085" y="4128135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P[]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8892540" y="3604895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S[]</a:t>
            </a:r>
            <a:endParaRPr lang="en-US" altLang="zh-CN"/>
          </a:p>
        </p:txBody>
      </p:sp>
      <p:grpSp>
        <p:nvGrpSpPr>
          <p:cNvPr id="34" name="组合 33"/>
          <p:cNvGrpSpPr/>
          <p:nvPr/>
        </p:nvGrpSpPr>
        <p:grpSpPr>
          <a:xfrm>
            <a:off x="2781300" y="3644900"/>
            <a:ext cx="5665470" cy="323850"/>
            <a:chOff x="4875" y="6250"/>
            <a:chExt cx="8922" cy="510"/>
          </a:xfrm>
        </p:grpSpPr>
        <p:sp>
          <p:nvSpPr>
            <p:cNvPr id="27" name="AutoShape 3"/>
            <p:cNvSpPr/>
            <p:nvPr/>
          </p:nvSpPr>
          <p:spPr>
            <a:xfrm>
              <a:off x="10841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8" name="AutoShape 4"/>
            <p:cNvSpPr/>
            <p:nvPr/>
          </p:nvSpPr>
          <p:spPr>
            <a:xfrm>
              <a:off x="11437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9" name="AutoShape 5"/>
            <p:cNvSpPr/>
            <p:nvPr/>
          </p:nvSpPr>
          <p:spPr>
            <a:xfrm>
              <a:off x="12033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1" name="AutoShape 6"/>
            <p:cNvSpPr/>
            <p:nvPr/>
          </p:nvSpPr>
          <p:spPr>
            <a:xfrm>
              <a:off x="12628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" name="AutoShape 3"/>
            <p:cNvSpPr/>
            <p:nvPr/>
          </p:nvSpPr>
          <p:spPr>
            <a:xfrm>
              <a:off x="6104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" name="AutoShape 4"/>
            <p:cNvSpPr/>
            <p:nvPr/>
          </p:nvSpPr>
          <p:spPr>
            <a:xfrm>
              <a:off x="6700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" name="AutoShape 5"/>
            <p:cNvSpPr/>
            <p:nvPr/>
          </p:nvSpPr>
          <p:spPr>
            <a:xfrm>
              <a:off x="7296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5" name="AutoShape 6"/>
            <p:cNvSpPr/>
            <p:nvPr/>
          </p:nvSpPr>
          <p:spPr>
            <a:xfrm>
              <a:off x="7891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6" name="AutoShape 7"/>
            <p:cNvSpPr/>
            <p:nvPr/>
          </p:nvSpPr>
          <p:spPr>
            <a:xfrm>
              <a:off x="8487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7" name="AutoShape 8"/>
            <p:cNvSpPr/>
            <p:nvPr/>
          </p:nvSpPr>
          <p:spPr>
            <a:xfrm>
              <a:off x="9078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8" name="AutoShape 9"/>
            <p:cNvSpPr/>
            <p:nvPr/>
          </p:nvSpPr>
          <p:spPr>
            <a:xfrm>
              <a:off x="9676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3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9" name="AutoShape 14"/>
            <p:cNvSpPr/>
            <p:nvPr/>
          </p:nvSpPr>
          <p:spPr>
            <a:xfrm>
              <a:off x="5501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0" name="AutoShape 9"/>
            <p:cNvSpPr/>
            <p:nvPr/>
          </p:nvSpPr>
          <p:spPr>
            <a:xfrm>
              <a:off x="10263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3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2" name="AutoShape 14"/>
            <p:cNvSpPr/>
            <p:nvPr/>
          </p:nvSpPr>
          <p:spPr>
            <a:xfrm>
              <a:off x="4875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...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3" name="AutoShape 14"/>
            <p:cNvSpPr/>
            <p:nvPr/>
          </p:nvSpPr>
          <p:spPr>
            <a:xfrm>
              <a:off x="13287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...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35" name="灯片编号占位符 3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6" name="页脚占位符 3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南开大学软件学院</a:t>
            </a:r>
            <a:endParaRPr lang="zh-CN" altLang="en-US"/>
          </a:p>
        </p:txBody>
      </p:sp>
      <p:sp>
        <p:nvSpPr>
          <p:cNvPr id="24" name="内容占位符 23"/>
          <p:cNvSpPr/>
          <p:nvPr>
            <p:ph idx="1"/>
          </p:nvPr>
        </p:nvSpPr>
        <p:spPr>
          <a:xfrm>
            <a:off x="608330" y="1490345"/>
            <a:ext cx="10968990" cy="1734185"/>
          </a:xfrm>
        </p:spPr>
        <p:txBody>
          <a:bodyPr/>
          <a:p>
            <a:r>
              <a:rPr lang="en-US" altLang="zh-CN"/>
              <a:t>ss[j]=j+1</a:t>
            </a:r>
            <a:r>
              <a:t>非安全候选</a:t>
            </a:r>
            <a:endParaRPr lang="en-US" altLang="zh-CN"/>
          </a:p>
        </p:txBody>
      </p:sp>
      <p:sp>
        <p:nvSpPr>
          <p:cNvPr id="57" name="AutoShape 3"/>
          <p:cNvSpPr/>
          <p:nvPr>
            <p:custDataLst>
              <p:tags r:id="rId2"/>
            </p:custDataLst>
          </p:nvPr>
        </p:nvSpPr>
        <p:spPr>
          <a:xfrm>
            <a:off x="3557032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8" name="AutoShape 4"/>
          <p:cNvSpPr/>
          <p:nvPr/>
        </p:nvSpPr>
        <p:spPr>
          <a:xfrm>
            <a:off x="3935651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9" name="AutoShape 5"/>
          <p:cNvSpPr/>
          <p:nvPr/>
        </p:nvSpPr>
        <p:spPr>
          <a:xfrm>
            <a:off x="4314270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0" name="AutoShape 6"/>
          <p:cNvSpPr/>
          <p:nvPr/>
        </p:nvSpPr>
        <p:spPr>
          <a:xfrm>
            <a:off x="4691698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1" name="AutoShape 7"/>
          <p:cNvSpPr/>
          <p:nvPr/>
        </p:nvSpPr>
        <p:spPr>
          <a:xfrm>
            <a:off x="5070316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2" name="AutoShape 8"/>
          <p:cNvSpPr/>
          <p:nvPr/>
        </p:nvSpPr>
        <p:spPr>
          <a:xfrm>
            <a:off x="5450205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3" name="AutoShape 9"/>
          <p:cNvSpPr/>
          <p:nvPr/>
        </p:nvSpPr>
        <p:spPr>
          <a:xfrm>
            <a:off x="5825173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4" name="AutoShape 14"/>
          <p:cNvSpPr/>
          <p:nvPr/>
        </p:nvSpPr>
        <p:spPr>
          <a:xfrm>
            <a:off x="3171746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1110615" y="5072380"/>
            <a:ext cx="1993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GS[]</a:t>
            </a:r>
            <a:r>
              <a:rPr lang="zh-CN" altLang="en-US"/>
              <a:t>按</a:t>
            </a:r>
            <a:r>
              <a:rPr lang="en-US" altLang="zh-CN"/>
              <a:t>j=3</a:t>
            </a:r>
            <a:r>
              <a:rPr lang="zh-CN" altLang="en-US"/>
              <a:t>设置</a:t>
            </a:r>
            <a:endParaRPr lang="zh-CN" altLang="en-US"/>
          </a:p>
        </p:txBody>
      </p:sp>
      <p:sp>
        <p:nvSpPr>
          <p:cNvPr id="66" name="AutoShape 9"/>
          <p:cNvSpPr/>
          <p:nvPr/>
        </p:nvSpPr>
        <p:spPr>
          <a:xfrm>
            <a:off x="6192838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3168650" y="5116830"/>
            <a:ext cx="2605405" cy="323850"/>
            <a:chOff x="5491" y="5438"/>
            <a:chExt cx="4103" cy="510"/>
          </a:xfrm>
        </p:grpSpPr>
        <p:sp>
          <p:nvSpPr>
            <p:cNvPr id="38" name="AutoShape 3"/>
            <p:cNvSpPr/>
            <p:nvPr>
              <p:custDataLst>
                <p:tags r:id="rId3"/>
              </p:custDataLst>
            </p:nvPr>
          </p:nvSpPr>
          <p:spPr>
            <a:xfrm>
              <a:off x="6103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9" name="AutoShape 4"/>
            <p:cNvSpPr/>
            <p:nvPr/>
          </p:nvSpPr>
          <p:spPr>
            <a:xfrm>
              <a:off x="6699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1" name="AutoShape 5"/>
            <p:cNvSpPr/>
            <p:nvPr/>
          </p:nvSpPr>
          <p:spPr>
            <a:xfrm>
              <a:off x="7295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2" name="AutoShape 6"/>
            <p:cNvSpPr/>
            <p:nvPr/>
          </p:nvSpPr>
          <p:spPr>
            <a:xfrm>
              <a:off x="7890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3" name="AutoShape 7"/>
            <p:cNvSpPr/>
            <p:nvPr/>
          </p:nvSpPr>
          <p:spPr>
            <a:xfrm>
              <a:off x="8486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4" name="AutoShape 8"/>
            <p:cNvSpPr/>
            <p:nvPr/>
          </p:nvSpPr>
          <p:spPr>
            <a:xfrm>
              <a:off x="9084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9" name="AutoShape 14"/>
            <p:cNvSpPr/>
            <p:nvPr/>
          </p:nvSpPr>
          <p:spPr>
            <a:xfrm>
              <a:off x="5491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3168650" y="5440680"/>
            <a:ext cx="2605405" cy="323850"/>
            <a:chOff x="5491" y="5438"/>
            <a:chExt cx="4103" cy="510"/>
          </a:xfrm>
        </p:grpSpPr>
        <p:sp>
          <p:nvSpPr>
            <p:cNvPr id="68" name="AutoShape 3"/>
            <p:cNvSpPr/>
            <p:nvPr>
              <p:custDataLst>
                <p:tags r:id="rId4"/>
              </p:custDataLst>
            </p:nvPr>
          </p:nvSpPr>
          <p:spPr>
            <a:xfrm>
              <a:off x="6103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9" name="AutoShape 4"/>
            <p:cNvSpPr/>
            <p:nvPr/>
          </p:nvSpPr>
          <p:spPr>
            <a:xfrm>
              <a:off x="6699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0" name="AutoShape 5"/>
            <p:cNvSpPr/>
            <p:nvPr/>
          </p:nvSpPr>
          <p:spPr>
            <a:xfrm>
              <a:off x="7295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1" name="AutoShape 6"/>
            <p:cNvSpPr/>
            <p:nvPr/>
          </p:nvSpPr>
          <p:spPr>
            <a:xfrm>
              <a:off x="7890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2" name="AutoShape 7"/>
            <p:cNvSpPr/>
            <p:nvPr/>
          </p:nvSpPr>
          <p:spPr>
            <a:xfrm>
              <a:off x="8486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3" name="AutoShape 8"/>
            <p:cNvSpPr/>
            <p:nvPr/>
          </p:nvSpPr>
          <p:spPr>
            <a:xfrm>
              <a:off x="9084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50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4" name="AutoShape 14"/>
            <p:cNvSpPr/>
            <p:nvPr/>
          </p:nvSpPr>
          <p:spPr>
            <a:xfrm>
              <a:off x="5491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75" name="文本框 74"/>
          <p:cNvSpPr txBox="1"/>
          <p:nvPr/>
        </p:nvSpPr>
        <p:spPr>
          <a:xfrm>
            <a:off x="1111250" y="5440680"/>
            <a:ext cx="1993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GS[]</a:t>
            </a:r>
            <a:r>
              <a:rPr lang="zh-CN" altLang="en-US"/>
              <a:t>按</a:t>
            </a:r>
            <a:r>
              <a:rPr lang="en-US" altLang="zh-CN"/>
              <a:t>j=2</a:t>
            </a:r>
            <a:r>
              <a:rPr lang="zh-CN" altLang="en-US"/>
              <a:t>设置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650480" y="4180205"/>
            <a:ext cx="31076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None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此种情况</a:t>
            </a:r>
            <a:r>
              <a:rPr 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j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越大越安全，所以从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0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开始遍历赋值。</a:t>
            </a:r>
            <a:endParaRPr lang="zh-CN" altLang="en-US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219583 0.001944 " pathEditMode="relative" rAng="0" ptsTypes="">
                                      <p:cBhvr>
                                        <p:cTn id="10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7" y="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61979 0.000741 " pathEditMode="relative" rAng="0" ptsTypes="">
                                      <p:cBhvr>
                                        <p:cTn id="18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37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65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66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67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68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69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70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71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72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73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74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75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76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77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78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79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80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1874</Words>
  <Application>WPS 演示</Application>
  <PresentationFormat>宽屏</PresentationFormat>
  <Paragraphs>734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Wingdings</vt:lpstr>
      <vt:lpstr>Times New Roman</vt:lpstr>
      <vt:lpstr>Consolas</vt:lpstr>
      <vt:lpstr>Arial Unicode MS</vt:lpstr>
      <vt:lpstr>Calibri</vt:lpstr>
      <vt:lpstr>Office 主题​​</vt:lpstr>
      <vt:lpstr>BM算法，SS推导GS</vt:lpstr>
      <vt:lpstr>GS含义</vt:lpstr>
      <vt:lpstr>GS推导</vt:lpstr>
      <vt:lpstr>SS[j]==j+1时，非安全候选</vt:lpstr>
      <vt:lpstr>GS推导</vt:lpstr>
      <vt:lpstr>继续设置安全距离</vt:lpstr>
      <vt:lpstr>GS推导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maggie</dc:creator>
  <cp:lastModifiedBy>刘明铭</cp:lastModifiedBy>
  <cp:revision>185</cp:revision>
  <dcterms:created xsi:type="dcterms:W3CDTF">2019-06-19T02:08:00Z</dcterms:created>
  <dcterms:modified xsi:type="dcterms:W3CDTF">2020-10-20T00:42:53Z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2052-11.1.0.9513</vt:lpwstr>
  </property>
</Properties>
</file>